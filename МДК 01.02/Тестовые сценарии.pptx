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Layouts/slideLayout7.xml" ContentType="application/vnd.openxmlformats-officedocument.presentationml.slideLayout+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2.xml" ContentType="application/vnd.openxmlformats-officedocument.presentationml.notesSlide+xml"/>
  <Override PartName="/ppt/slideLayouts/slideLayout8.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customXml/itemProps3.xml" ContentType="application/vnd.openxmlformats-officedocument.customXml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69"/>
  </p:notesMasterIdLst>
  <p:handoutMasterIdLst>
    <p:handoutMasterId r:id="rId70"/>
  </p:handoutMasterIdLst>
  <p:sldIdLst>
    <p:sldId id="448" r:id="rId5"/>
    <p:sldId id="465" r:id="rId6"/>
    <p:sldId id="466" r:id="rId7"/>
    <p:sldId id="475" r:id="rId8"/>
    <p:sldId id="467" r:id="rId9"/>
    <p:sldId id="476" r:id="rId10"/>
    <p:sldId id="477" r:id="rId11"/>
    <p:sldId id="478" r:id="rId12"/>
    <p:sldId id="479" r:id="rId13"/>
    <p:sldId id="481" r:id="rId14"/>
    <p:sldId id="482" r:id="rId15"/>
    <p:sldId id="483" r:id="rId16"/>
    <p:sldId id="484" r:id="rId17"/>
    <p:sldId id="485" r:id="rId18"/>
    <p:sldId id="486" r:id="rId19"/>
    <p:sldId id="487" r:id="rId20"/>
    <p:sldId id="488" r:id="rId21"/>
    <p:sldId id="491" r:id="rId22"/>
    <p:sldId id="468" r:id="rId23"/>
    <p:sldId id="539" r:id="rId24"/>
    <p:sldId id="540" r:id="rId25"/>
    <p:sldId id="492" r:id="rId26"/>
    <p:sldId id="493" r:id="rId27"/>
    <p:sldId id="494" r:id="rId28"/>
    <p:sldId id="495" r:id="rId29"/>
    <p:sldId id="496" r:id="rId30"/>
    <p:sldId id="497" r:id="rId31"/>
    <p:sldId id="498" r:id="rId32"/>
    <p:sldId id="499" r:id="rId33"/>
    <p:sldId id="469" r:id="rId34"/>
    <p:sldId id="500" r:id="rId35"/>
    <p:sldId id="470" r:id="rId36"/>
    <p:sldId id="502" r:id="rId37"/>
    <p:sldId id="503" r:id="rId38"/>
    <p:sldId id="471" r:id="rId39"/>
    <p:sldId id="506" r:id="rId40"/>
    <p:sldId id="508" r:id="rId41"/>
    <p:sldId id="509" r:id="rId42"/>
    <p:sldId id="507" r:id="rId43"/>
    <p:sldId id="510" r:id="rId44"/>
    <p:sldId id="511" r:id="rId45"/>
    <p:sldId id="512" r:id="rId46"/>
    <p:sldId id="526" r:id="rId47"/>
    <p:sldId id="513" r:id="rId48"/>
    <p:sldId id="519" r:id="rId49"/>
    <p:sldId id="520" r:id="rId50"/>
    <p:sldId id="521" r:id="rId51"/>
    <p:sldId id="472" r:id="rId52"/>
    <p:sldId id="522" r:id="rId53"/>
    <p:sldId id="473" r:id="rId54"/>
    <p:sldId id="527" r:id="rId55"/>
    <p:sldId id="528" r:id="rId56"/>
    <p:sldId id="529" r:id="rId57"/>
    <p:sldId id="541" r:id="rId58"/>
    <p:sldId id="542" r:id="rId59"/>
    <p:sldId id="474" r:id="rId60"/>
    <p:sldId id="531" r:id="rId61"/>
    <p:sldId id="532" r:id="rId62"/>
    <p:sldId id="533" r:id="rId63"/>
    <p:sldId id="534" r:id="rId64"/>
    <p:sldId id="535" r:id="rId65"/>
    <p:sldId id="536" r:id="rId66"/>
    <p:sldId id="537" r:id="rId67"/>
    <p:sldId id="501" r:id="rId68"/>
  </p:sldIdLst>
  <p:sldSz cx="9144000" cy="5143500" type="screen16x9"/>
  <p:notesSz cx="6858000" cy="9144000"/>
  <p:defaultTextStyle>
    <a:defPPr>
      <a:defRPr lang="en-US"/>
    </a:defPPr>
    <a:lvl1pPr marL="0" algn="l" defTabSz="342900" rtl="0" eaLnBrk="1" latinLnBrk="0" hangingPunct="1">
      <a:defRPr sz="1400" kern="1200">
        <a:solidFill>
          <a:schemeClr val="tx1"/>
        </a:solidFill>
        <a:latin typeface="+mn-lt"/>
        <a:ea typeface="+mn-ea"/>
        <a:cs typeface="+mn-cs"/>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3" userDrawn="1">
          <p15:clr>
            <a:srgbClr val="A4A3A4"/>
          </p15:clr>
        </p15:guide>
        <p15:guide id="2" orient="horz" pos="764" userDrawn="1">
          <p15:clr>
            <a:srgbClr val="A4A3A4"/>
          </p15:clr>
        </p15:guide>
        <p15:guide id="3" orient="horz" pos="3544" userDrawn="1">
          <p15:clr>
            <a:srgbClr val="A4A3A4"/>
          </p15:clr>
        </p15:guide>
        <p15:guide id="4" orient="horz" pos="2159" userDrawn="1">
          <p15:clr>
            <a:srgbClr val="A4A3A4"/>
          </p15:clr>
        </p15:guide>
        <p15:guide id="5" orient="horz" pos="1374" userDrawn="1">
          <p15:clr>
            <a:srgbClr val="A4A3A4"/>
          </p15:clr>
        </p15:guide>
        <p15:guide id="6" orient="horz" pos="3699" userDrawn="1">
          <p15:clr>
            <a:srgbClr val="A4A3A4"/>
          </p15:clr>
        </p15:guide>
        <p15:guide id="7" orient="horz" pos="1151" userDrawn="1">
          <p15:clr>
            <a:srgbClr val="A4A3A4"/>
          </p15:clr>
        </p15:guide>
        <p15:guide id="8" pos="3896" userDrawn="1">
          <p15:clr>
            <a:srgbClr val="A4A3A4"/>
          </p15:clr>
        </p15:guide>
        <p15:guide id="9" pos="521" userDrawn="1">
          <p15:clr>
            <a:srgbClr val="A4A3A4"/>
          </p15:clr>
        </p15:guide>
        <p15:guide id="10" pos="4211" userDrawn="1">
          <p15:clr>
            <a:srgbClr val="A4A3A4"/>
          </p15:clr>
        </p15:guide>
        <p15:guide id="11" pos="7299" userDrawn="1">
          <p15:clr>
            <a:srgbClr val="A4A3A4"/>
          </p15:clr>
        </p15:guide>
        <p15:guide id="12" pos="5316" userDrawn="1">
          <p15:clr>
            <a:srgbClr val="A4A3A4"/>
          </p15:clr>
        </p15:guide>
        <p15:guide id="13" pos="291" userDrawn="1">
          <p15:clr>
            <a:srgbClr val="A4A3A4"/>
          </p15:clr>
        </p15:guide>
        <p15:guide id="14" pos="343" userDrawn="1">
          <p15:clr>
            <a:srgbClr val="A4A3A4"/>
          </p15:clr>
        </p15:guide>
        <p15:guide id="15" pos="6809" userDrawn="1">
          <p15:clr>
            <a:srgbClr val="A4A3A4"/>
          </p15:clr>
        </p15:guide>
        <p15:guide id="16" pos="6888" userDrawn="1">
          <p15:clr>
            <a:srgbClr val="A4A3A4"/>
          </p15:clr>
        </p15:guide>
        <p15:guide id="17" pos="647" userDrawn="1">
          <p15:clr>
            <a:srgbClr val="A4A3A4"/>
          </p15:clr>
        </p15:guide>
        <p15:guide id="18" orient="horz" pos="280">
          <p15:clr>
            <a:srgbClr val="A4A3A4"/>
          </p15:clr>
        </p15:guide>
        <p15:guide id="19" orient="horz" pos="573">
          <p15:clr>
            <a:srgbClr val="A4A3A4"/>
          </p15:clr>
        </p15:guide>
        <p15:guide id="20" orient="horz" pos="2658">
          <p15:clr>
            <a:srgbClr val="A4A3A4"/>
          </p15:clr>
        </p15:guide>
        <p15:guide id="21" orient="horz" pos="1619">
          <p15:clr>
            <a:srgbClr val="A4A3A4"/>
          </p15:clr>
        </p15:guide>
        <p15:guide id="22" orient="horz" pos="1031">
          <p15:clr>
            <a:srgbClr val="A4A3A4"/>
          </p15:clr>
        </p15:guide>
        <p15:guide id="23" orient="horz" pos="2774">
          <p15:clr>
            <a:srgbClr val="A4A3A4"/>
          </p15:clr>
        </p15:guide>
        <p15:guide id="24" orient="horz" pos="863">
          <p15:clr>
            <a:srgbClr val="A4A3A4"/>
          </p15:clr>
        </p15:guide>
        <p15:guide id="25" pos="2922">
          <p15:clr>
            <a:srgbClr val="A4A3A4"/>
          </p15:clr>
        </p15:guide>
        <p15:guide id="26" pos="391">
          <p15:clr>
            <a:srgbClr val="A4A3A4"/>
          </p15:clr>
        </p15:guide>
        <p15:guide id="27" pos="3158">
          <p15:clr>
            <a:srgbClr val="A4A3A4"/>
          </p15:clr>
        </p15:guide>
        <p15:guide id="28" pos="5474">
          <p15:clr>
            <a:srgbClr val="A4A3A4"/>
          </p15:clr>
        </p15:guide>
        <p15:guide id="29" pos="3987">
          <p15:clr>
            <a:srgbClr val="A4A3A4"/>
          </p15:clr>
        </p15:guide>
        <p15:guide id="30" pos="218">
          <p15:clr>
            <a:srgbClr val="A4A3A4"/>
          </p15:clr>
        </p15:guide>
        <p15:guide id="31" pos="257">
          <p15:clr>
            <a:srgbClr val="A4A3A4"/>
          </p15:clr>
        </p15:guide>
        <p15:guide id="32" pos="5107">
          <p15:clr>
            <a:srgbClr val="A4A3A4"/>
          </p15:clr>
        </p15:guide>
        <p15:guide id="33" pos="5166">
          <p15:clr>
            <a:srgbClr val="A4A3A4"/>
          </p15:clr>
        </p15:guide>
        <p15:guide id="34" pos="48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 initials="A" lastIdx="64" clrIdx="0"/>
  <p:cmAuthor id="2" name="Jillian Baum"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00CC00"/>
    <a:srgbClr val="33CC33"/>
    <a:srgbClr val="666666"/>
    <a:srgbClr val="464547"/>
    <a:srgbClr val="B22746"/>
    <a:srgbClr val="A3C644"/>
    <a:srgbClr val="E6E6E6"/>
    <a:srgbClr val="CCCCCC"/>
    <a:srgbClr val="999999"/>
    <a:srgbClr val="2FC2D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928" autoAdjust="0"/>
  </p:normalViewPr>
  <p:slideViewPr>
    <p:cSldViewPr snapToGrid="0">
      <p:cViewPr varScale="1">
        <p:scale>
          <a:sx n="73" d="100"/>
          <a:sy n="73" d="100"/>
        </p:scale>
        <p:origin x="1064" y="44"/>
      </p:cViewPr>
      <p:guideLst>
        <p:guide orient="horz" pos="373"/>
        <p:guide orient="horz" pos="764"/>
        <p:guide orient="horz" pos="3544"/>
        <p:guide orient="horz" pos="2159"/>
        <p:guide orient="horz" pos="1374"/>
        <p:guide orient="horz" pos="3699"/>
        <p:guide orient="horz" pos="1151"/>
        <p:guide pos="3896"/>
        <p:guide pos="521"/>
        <p:guide pos="4211"/>
        <p:guide pos="7299"/>
        <p:guide pos="5316"/>
        <p:guide pos="291"/>
        <p:guide pos="343"/>
        <p:guide pos="6809"/>
        <p:guide pos="6888"/>
        <p:guide pos="647"/>
        <p:guide orient="horz" pos="280"/>
        <p:guide orient="horz" pos="573"/>
        <p:guide orient="horz" pos="2658"/>
        <p:guide orient="horz" pos="1619"/>
        <p:guide orient="horz" pos="1031"/>
        <p:guide orient="horz" pos="2774"/>
        <p:guide orient="horz" pos="863"/>
        <p:guide pos="2922"/>
        <p:guide pos="391"/>
        <p:guide pos="3158"/>
        <p:guide pos="5474"/>
        <p:guide pos="3987"/>
        <p:guide pos="218"/>
        <p:guide pos="257"/>
        <p:guide pos="5107"/>
        <p:guide pos="5166"/>
        <p:guide pos="48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4" d="100"/>
        <a:sy n="124"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customXml" Target="../customXml/item4.xml"/><Relationship Id="rId7" Type="http://schemas.openxmlformats.org/officeDocument/2006/relationships/slide" Target="slides/slide3.xml"/><Relationship Id="rId7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837E0D-2BF9-444B-B6E4-77B25288C5AF}"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CC2BF818-C149-463E-946B-71DE0633C26B}">
      <dgm:prSet phldrT="[Text]"/>
      <dgm:spPr/>
      <dgm:t>
        <a:bodyPr/>
        <a:lstStyle/>
        <a:p>
          <a:r>
            <a:rPr lang="ru-RU" dirty="0"/>
            <a:t>Тесты на основе требований</a:t>
          </a:r>
          <a:endParaRPr lang="en-US" dirty="0"/>
        </a:p>
      </dgm:t>
    </dgm:pt>
    <dgm:pt modelId="{F13C3F29-912B-403E-9569-F799E4B4B0F6}" type="parTrans" cxnId="{560485D2-7D9E-4B02-8C6F-6ECA0CF2F914}">
      <dgm:prSet/>
      <dgm:spPr/>
      <dgm:t>
        <a:bodyPr/>
        <a:lstStyle/>
        <a:p>
          <a:endParaRPr lang="en-US"/>
        </a:p>
      </dgm:t>
    </dgm:pt>
    <dgm:pt modelId="{6C7A5C1E-3584-4439-9D7E-9F7884B0E46E}" type="sibTrans" cxnId="{560485D2-7D9E-4B02-8C6F-6ECA0CF2F914}">
      <dgm:prSet/>
      <dgm:spPr/>
      <dgm:t>
        <a:bodyPr/>
        <a:lstStyle/>
        <a:p>
          <a:endParaRPr lang="en-US"/>
        </a:p>
      </dgm:t>
    </dgm:pt>
    <dgm:pt modelId="{A3BD4C90-9194-46F6-ACA4-2CA567AC41B3}">
      <dgm:prSet phldrT="[Text]"/>
      <dgm:spPr/>
      <dgm:t>
        <a:bodyPr/>
        <a:lstStyle/>
        <a:p>
          <a:r>
            <a:rPr lang="ru-RU" dirty="0"/>
            <a:t>Функциональные тесты</a:t>
          </a:r>
          <a:endParaRPr lang="en-US" dirty="0"/>
        </a:p>
      </dgm:t>
    </dgm:pt>
    <dgm:pt modelId="{AF25307D-3A25-49B3-815E-5F1114ECF390}" type="parTrans" cxnId="{EC274611-A4D2-4A23-B39F-AE8DAA7FCAE9}">
      <dgm:prSet/>
      <dgm:spPr/>
      <dgm:t>
        <a:bodyPr/>
        <a:lstStyle/>
        <a:p>
          <a:endParaRPr lang="en-US"/>
        </a:p>
      </dgm:t>
    </dgm:pt>
    <dgm:pt modelId="{3C0841C7-C546-4AD3-9CFB-9C81DB6D753A}" type="sibTrans" cxnId="{EC274611-A4D2-4A23-B39F-AE8DAA7FCAE9}">
      <dgm:prSet/>
      <dgm:spPr/>
      <dgm:t>
        <a:bodyPr/>
        <a:lstStyle/>
        <a:p>
          <a:endParaRPr lang="en-US"/>
        </a:p>
      </dgm:t>
    </dgm:pt>
    <dgm:pt modelId="{501F870A-9BCB-4EC7-8A84-0CDC3A908C60}">
      <dgm:prSet phldrT="[Text]"/>
      <dgm:spPr/>
      <dgm:t>
        <a:bodyPr/>
        <a:lstStyle/>
        <a:p>
          <a:r>
            <a:rPr lang="ru-RU" dirty="0"/>
            <a:t>Сравнительные тесты</a:t>
          </a:r>
          <a:endParaRPr lang="en-US" dirty="0"/>
        </a:p>
      </dgm:t>
    </dgm:pt>
    <dgm:pt modelId="{C91FCD31-C94F-4B00-B4BA-0BDE88BA03FD}" type="parTrans" cxnId="{ABD2312C-4A09-4C05-A6CF-319D3F096A3A}">
      <dgm:prSet/>
      <dgm:spPr/>
      <dgm:t>
        <a:bodyPr/>
        <a:lstStyle/>
        <a:p>
          <a:endParaRPr lang="en-US"/>
        </a:p>
      </dgm:t>
    </dgm:pt>
    <dgm:pt modelId="{679F0B43-4742-4FEE-81C4-EFFB4177F8D9}" type="sibTrans" cxnId="{ABD2312C-4A09-4C05-A6CF-319D3F096A3A}">
      <dgm:prSet/>
      <dgm:spPr/>
      <dgm:t>
        <a:bodyPr/>
        <a:lstStyle/>
        <a:p>
          <a:endParaRPr lang="en-US"/>
        </a:p>
      </dgm:t>
    </dgm:pt>
    <dgm:pt modelId="{C5066117-8059-4CF8-8636-E66810A8D016}">
      <dgm:prSet phldrT="[Text]"/>
      <dgm:spPr/>
      <dgm:t>
        <a:bodyPr/>
        <a:lstStyle/>
        <a:p>
          <a:r>
            <a:rPr lang="ru-RU" dirty="0"/>
            <a:t>Сценарные тесты</a:t>
          </a:r>
          <a:endParaRPr lang="en-US" dirty="0"/>
        </a:p>
      </dgm:t>
    </dgm:pt>
    <dgm:pt modelId="{A9C2302F-D7D0-4317-BF14-950D367CC5C7}" type="parTrans" cxnId="{AE17DBF3-EED3-47AE-A975-697172F7EF7B}">
      <dgm:prSet/>
      <dgm:spPr/>
      <dgm:t>
        <a:bodyPr/>
        <a:lstStyle/>
        <a:p>
          <a:endParaRPr lang="en-US"/>
        </a:p>
      </dgm:t>
    </dgm:pt>
    <dgm:pt modelId="{0FB47148-E417-4591-AE53-76AE40D1CE9A}" type="sibTrans" cxnId="{AE17DBF3-EED3-47AE-A975-697172F7EF7B}">
      <dgm:prSet/>
      <dgm:spPr/>
      <dgm:t>
        <a:bodyPr/>
        <a:lstStyle/>
        <a:p>
          <a:endParaRPr lang="en-US"/>
        </a:p>
      </dgm:t>
    </dgm:pt>
    <dgm:pt modelId="{D3DEB2E9-7202-4B88-A1D8-F95D15D48C07}">
      <dgm:prSet phldrT="[Text]"/>
      <dgm:spPr/>
      <dgm:t>
        <a:bodyPr/>
        <a:lstStyle/>
        <a:p>
          <a:r>
            <a:rPr lang="ru-RU" dirty="0"/>
            <a:t>Тесты ошибочных ситуаций</a:t>
          </a:r>
          <a:endParaRPr lang="en-US" dirty="0"/>
        </a:p>
      </dgm:t>
    </dgm:pt>
    <dgm:pt modelId="{0E66F302-CF0B-4090-8416-4D5C4D7123BA}" type="parTrans" cxnId="{D31BF6A1-169F-4E97-8888-6CF9FEE65658}">
      <dgm:prSet/>
      <dgm:spPr/>
      <dgm:t>
        <a:bodyPr/>
        <a:lstStyle/>
        <a:p>
          <a:endParaRPr lang="en-US"/>
        </a:p>
      </dgm:t>
    </dgm:pt>
    <dgm:pt modelId="{170781CA-B1EE-4EB1-B4CD-034731A9C338}" type="sibTrans" cxnId="{D31BF6A1-169F-4E97-8888-6CF9FEE65658}">
      <dgm:prSet/>
      <dgm:spPr/>
      <dgm:t>
        <a:bodyPr/>
        <a:lstStyle/>
        <a:p>
          <a:endParaRPr lang="en-US"/>
        </a:p>
      </dgm:t>
    </dgm:pt>
    <dgm:pt modelId="{03B7A335-E2E1-4EF6-A6CE-F0C4B99A05A9}">
      <dgm:prSet phldrT="[Text]"/>
      <dgm:spPr/>
      <dgm:t>
        <a:bodyPr/>
        <a:lstStyle/>
        <a:p>
          <a:r>
            <a:rPr lang="ru-RU" dirty="0"/>
            <a:t>Тесты интерфейса</a:t>
          </a:r>
          <a:endParaRPr lang="en-US" dirty="0"/>
        </a:p>
      </dgm:t>
    </dgm:pt>
    <dgm:pt modelId="{7ACA8A39-5F11-45D2-8DCD-924C8AA2A623}" type="parTrans" cxnId="{DDFDD97F-5DF0-4AE2-9FA4-B4B5D9D0DA32}">
      <dgm:prSet/>
      <dgm:spPr/>
      <dgm:t>
        <a:bodyPr/>
        <a:lstStyle/>
        <a:p>
          <a:endParaRPr lang="en-US"/>
        </a:p>
      </dgm:t>
    </dgm:pt>
    <dgm:pt modelId="{038F725B-6FCB-48AA-80F0-E798714C27EF}" type="sibTrans" cxnId="{DDFDD97F-5DF0-4AE2-9FA4-B4B5D9D0DA32}">
      <dgm:prSet/>
      <dgm:spPr/>
      <dgm:t>
        <a:bodyPr/>
        <a:lstStyle/>
        <a:p>
          <a:endParaRPr lang="en-US"/>
        </a:p>
      </dgm:t>
    </dgm:pt>
    <dgm:pt modelId="{8A84E928-00DA-44CC-8F46-68BB2781AAA9}">
      <dgm:prSet phldrT="[Text]"/>
      <dgm:spPr/>
      <dgm:t>
        <a:bodyPr/>
        <a:lstStyle/>
        <a:p>
          <a:r>
            <a:rPr lang="ru-RU" dirty="0"/>
            <a:t>Тесты удобства использования</a:t>
          </a:r>
          <a:endParaRPr lang="en-US" dirty="0"/>
        </a:p>
      </dgm:t>
    </dgm:pt>
    <dgm:pt modelId="{5BE09AAA-388A-4C5E-A0BF-47A422AD0C75}" type="parTrans" cxnId="{54B56661-A8AC-45CE-9EF7-BABECCD4438C}">
      <dgm:prSet/>
      <dgm:spPr/>
      <dgm:t>
        <a:bodyPr/>
        <a:lstStyle/>
        <a:p>
          <a:endParaRPr lang="en-US"/>
        </a:p>
      </dgm:t>
    </dgm:pt>
    <dgm:pt modelId="{1526385E-A6B8-4AE4-9767-579E9D6E07B6}" type="sibTrans" cxnId="{54B56661-A8AC-45CE-9EF7-BABECCD4438C}">
      <dgm:prSet/>
      <dgm:spPr/>
      <dgm:t>
        <a:bodyPr/>
        <a:lstStyle/>
        <a:p>
          <a:endParaRPr lang="en-US"/>
        </a:p>
      </dgm:t>
    </dgm:pt>
    <dgm:pt modelId="{E1AC6ABF-3B4B-4667-B712-6FC310B3DE26}" type="pres">
      <dgm:prSet presAssocID="{43837E0D-2BF9-444B-B6E4-77B25288C5AF}" presName="Name0" presStyleCnt="0">
        <dgm:presLayoutVars>
          <dgm:chMax val="7"/>
          <dgm:chPref val="7"/>
          <dgm:dir/>
        </dgm:presLayoutVars>
      </dgm:prSet>
      <dgm:spPr/>
    </dgm:pt>
    <dgm:pt modelId="{61F6B972-5614-4447-90F3-7F3856A0EFE5}" type="pres">
      <dgm:prSet presAssocID="{43837E0D-2BF9-444B-B6E4-77B25288C5AF}" presName="Name1" presStyleCnt="0"/>
      <dgm:spPr/>
    </dgm:pt>
    <dgm:pt modelId="{41838CDC-94C6-4F46-B8D7-D6C5F4F4D041}" type="pres">
      <dgm:prSet presAssocID="{43837E0D-2BF9-444B-B6E4-77B25288C5AF}" presName="cycle" presStyleCnt="0"/>
      <dgm:spPr/>
    </dgm:pt>
    <dgm:pt modelId="{FA5C169D-8417-45FA-A4E6-8D30BE0C7544}" type="pres">
      <dgm:prSet presAssocID="{43837E0D-2BF9-444B-B6E4-77B25288C5AF}" presName="srcNode" presStyleLbl="node1" presStyleIdx="0" presStyleCnt="7"/>
      <dgm:spPr/>
    </dgm:pt>
    <dgm:pt modelId="{540AA2D1-35F8-4729-97F1-50B11EC5731C}" type="pres">
      <dgm:prSet presAssocID="{43837E0D-2BF9-444B-B6E4-77B25288C5AF}" presName="conn" presStyleLbl="parChTrans1D2" presStyleIdx="0" presStyleCnt="1"/>
      <dgm:spPr/>
    </dgm:pt>
    <dgm:pt modelId="{3F96F981-19C0-4FAC-89BE-A74B841E54AA}" type="pres">
      <dgm:prSet presAssocID="{43837E0D-2BF9-444B-B6E4-77B25288C5AF}" presName="extraNode" presStyleLbl="node1" presStyleIdx="0" presStyleCnt="7"/>
      <dgm:spPr/>
    </dgm:pt>
    <dgm:pt modelId="{CF0D324F-9253-4153-B0A7-2BB529A57A84}" type="pres">
      <dgm:prSet presAssocID="{43837E0D-2BF9-444B-B6E4-77B25288C5AF}" presName="dstNode" presStyleLbl="node1" presStyleIdx="0" presStyleCnt="7"/>
      <dgm:spPr/>
    </dgm:pt>
    <dgm:pt modelId="{1A093EFB-C414-4CB1-A3C9-290D7D3CE47E}" type="pres">
      <dgm:prSet presAssocID="{CC2BF818-C149-463E-946B-71DE0633C26B}" presName="text_1" presStyleLbl="node1" presStyleIdx="0" presStyleCnt="7">
        <dgm:presLayoutVars>
          <dgm:bulletEnabled val="1"/>
        </dgm:presLayoutVars>
      </dgm:prSet>
      <dgm:spPr/>
    </dgm:pt>
    <dgm:pt modelId="{D2631B54-DC0C-4CE4-B10F-07E051E878E3}" type="pres">
      <dgm:prSet presAssocID="{CC2BF818-C149-463E-946B-71DE0633C26B}" presName="accent_1" presStyleCnt="0"/>
      <dgm:spPr/>
    </dgm:pt>
    <dgm:pt modelId="{2DC370AB-D284-4BF9-B254-79E03A37458F}" type="pres">
      <dgm:prSet presAssocID="{CC2BF818-C149-463E-946B-71DE0633C26B}" presName="accentRepeatNode" presStyleLbl="solidFgAcc1" presStyleIdx="0" presStyleCnt="7"/>
      <dgm:spPr/>
    </dgm:pt>
    <dgm:pt modelId="{4B057AA4-6B99-4765-B65C-F2A49D61E9A4}" type="pres">
      <dgm:prSet presAssocID="{A3BD4C90-9194-46F6-ACA4-2CA567AC41B3}" presName="text_2" presStyleLbl="node1" presStyleIdx="1" presStyleCnt="7">
        <dgm:presLayoutVars>
          <dgm:bulletEnabled val="1"/>
        </dgm:presLayoutVars>
      </dgm:prSet>
      <dgm:spPr/>
    </dgm:pt>
    <dgm:pt modelId="{C6EBED29-70FA-43C8-810E-17F213D5A948}" type="pres">
      <dgm:prSet presAssocID="{A3BD4C90-9194-46F6-ACA4-2CA567AC41B3}" presName="accent_2" presStyleCnt="0"/>
      <dgm:spPr/>
    </dgm:pt>
    <dgm:pt modelId="{CFC92559-296B-428E-BF86-2A182D5CC65F}" type="pres">
      <dgm:prSet presAssocID="{A3BD4C90-9194-46F6-ACA4-2CA567AC41B3}" presName="accentRepeatNode" presStyleLbl="solidFgAcc1" presStyleIdx="1" presStyleCnt="7"/>
      <dgm:spPr/>
    </dgm:pt>
    <dgm:pt modelId="{C89A1466-CE09-4E89-BD40-73FD2268E238}" type="pres">
      <dgm:prSet presAssocID="{501F870A-9BCB-4EC7-8A84-0CDC3A908C60}" presName="text_3" presStyleLbl="node1" presStyleIdx="2" presStyleCnt="7">
        <dgm:presLayoutVars>
          <dgm:bulletEnabled val="1"/>
        </dgm:presLayoutVars>
      </dgm:prSet>
      <dgm:spPr/>
    </dgm:pt>
    <dgm:pt modelId="{612CD939-CC51-4786-A557-520E7F896F37}" type="pres">
      <dgm:prSet presAssocID="{501F870A-9BCB-4EC7-8A84-0CDC3A908C60}" presName="accent_3" presStyleCnt="0"/>
      <dgm:spPr/>
    </dgm:pt>
    <dgm:pt modelId="{167CD798-80F4-455E-8FFE-C2E7054439D6}" type="pres">
      <dgm:prSet presAssocID="{501F870A-9BCB-4EC7-8A84-0CDC3A908C60}" presName="accentRepeatNode" presStyleLbl="solidFgAcc1" presStyleIdx="2" presStyleCnt="7"/>
      <dgm:spPr/>
    </dgm:pt>
    <dgm:pt modelId="{A6557092-2807-4063-A30E-9AE4C6971109}" type="pres">
      <dgm:prSet presAssocID="{C5066117-8059-4CF8-8636-E66810A8D016}" presName="text_4" presStyleLbl="node1" presStyleIdx="3" presStyleCnt="7">
        <dgm:presLayoutVars>
          <dgm:bulletEnabled val="1"/>
        </dgm:presLayoutVars>
      </dgm:prSet>
      <dgm:spPr/>
    </dgm:pt>
    <dgm:pt modelId="{875F89A5-0947-4E0A-8C85-B7D1BD45955E}" type="pres">
      <dgm:prSet presAssocID="{C5066117-8059-4CF8-8636-E66810A8D016}" presName="accent_4" presStyleCnt="0"/>
      <dgm:spPr/>
    </dgm:pt>
    <dgm:pt modelId="{095C1B4F-267D-4CA4-B7FA-D3685DCB57B0}" type="pres">
      <dgm:prSet presAssocID="{C5066117-8059-4CF8-8636-E66810A8D016}" presName="accentRepeatNode" presStyleLbl="solidFgAcc1" presStyleIdx="3" presStyleCnt="7"/>
      <dgm:spPr/>
    </dgm:pt>
    <dgm:pt modelId="{060C13D6-5A8D-4496-81D8-8D5BAF83926B}" type="pres">
      <dgm:prSet presAssocID="{D3DEB2E9-7202-4B88-A1D8-F95D15D48C07}" presName="text_5" presStyleLbl="node1" presStyleIdx="4" presStyleCnt="7">
        <dgm:presLayoutVars>
          <dgm:bulletEnabled val="1"/>
        </dgm:presLayoutVars>
      </dgm:prSet>
      <dgm:spPr/>
    </dgm:pt>
    <dgm:pt modelId="{072DDED2-2D0B-4791-BA40-AA7EDCFB0C0C}" type="pres">
      <dgm:prSet presAssocID="{D3DEB2E9-7202-4B88-A1D8-F95D15D48C07}" presName="accent_5" presStyleCnt="0"/>
      <dgm:spPr/>
    </dgm:pt>
    <dgm:pt modelId="{0BECB481-F3BC-4C30-B0F7-969F385C6901}" type="pres">
      <dgm:prSet presAssocID="{D3DEB2E9-7202-4B88-A1D8-F95D15D48C07}" presName="accentRepeatNode" presStyleLbl="solidFgAcc1" presStyleIdx="4" presStyleCnt="7"/>
      <dgm:spPr/>
    </dgm:pt>
    <dgm:pt modelId="{B5B702D4-A50D-40FC-B7AF-C7DB6F713EA5}" type="pres">
      <dgm:prSet presAssocID="{03B7A335-E2E1-4EF6-A6CE-F0C4B99A05A9}" presName="text_6" presStyleLbl="node1" presStyleIdx="5" presStyleCnt="7">
        <dgm:presLayoutVars>
          <dgm:bulletEnabled val="1"/>
        </dgm:presLayoutVars>
      </dgm:prSet>
      <dgm:spPr/>
    </dgm:pt>
    <dgm:pt modelId="{0EFF204A-2D7B-4EF5-88CD-C43E3E9E3025}" type="pres">
      <dgm:prSet presAssocID="{03B7A335-E2E1-4EF6-A6CE-F0C4B99A05A9}" presName="accent_6" presStyleCnt="0"/>
      <dgm:spPr/>
    </dgm:pt>
    <dgm:pt modelId="{5DBF99AC-315F-4D49-B318-CB57AE6EC46B}" type="pres">
      <dgm:prSet presAssocID="{03B7A335-E2E1-4EF6-A6CE-F0C4B99A05A9}" presName="accentRepeatNode" presStyleLbl="solidFgAcc1" presStyleIdx="5" presStyleCnt="7"/>
      <dgm:spPr/>
    </dgm:pt>
    <dgm:pt modelId="{B737B773-D0CB-4FD1-90A2-AA8311876F1E}" type="pres">
      <dgm:prSet presAssocID="{8A84E928-00DA-44CC-8F46-68BB2781AAA9}" presName="text_7" presStyleLbl="node1" presStyleIdx="6" presStyleCnt="7">
        <dgm:presLayoutVars>
          <dgm:bulletEnabled val="1"/>
        </dgm:presLayoutVars>
      </dgm:prSet>
      <dgm:spPr/>
    </dgm:pt>
    <dgm:pt modelId="{F61626D4-2B4D-4142-89A3-61A070C9F2C5}" type="pres">
      <dgm:prSet presAssocID="{8A84E928-00DA-44CC-8F46-68BB2781AAA9}" presName="accent_7" presStyleCnt="0"/>
      <dgm:spPr/>
    </dgm:pt>
    <dgm:pt modelId="{590A6888-407C-44BE-B6C6-E3E681FFB9A5}" type="pres">
      <dgm:prSet presAssocID="{8A84E928-00DA-44CC-8F46-68BB2781AAA9}" presName="accentRepeatNode" presStyleLbl="solidFgAcc1" presStyleIdx="6" presStyleCnt="7"/>
      <dgm:spPr/>
    </dgm:pt>
  </dgm:ptLst>
  <dgm:cxnLst>
    <dgm:cxn modelId="{EC274611-A4D2-4A23-B39F-AE8DAA7FCAE9}" srcId="{43837E0D-2BF9-444B-B6E4-77B25288C5AF}" destId="{A3BD4C90-9194-46F6-ACA4-2CA567AC41B3}" srcOrd="1" destOrd="0" parTransId="{AF25307D-3A25-49B3-815E-5F1114ECF390}" sibTransId="{3C0841C7-C546-4AD3-9CFB-9C81DB6D753A}"/>
    <dgm:cxn modelId="{ABD2312C-4A09-4C05-A6CF-319D3F096A3A}" srcId="{43837E0D-2BF9-444B-B6E4-77B25288C5AF}" destId="{501F870A-9BCB-4EC7-8A84-0CDC3A908C60}" srcOrd="2" destOrd="0" parTransId="{C91FCD31-C94F-4B00-B4BA-0BDE88BA03FD}" sibTransId="{679F0B43-4742-4FEE-81C4-EFFB4177F8D9}"/>
    <dgm:cxn modelId="{17E47238-764E-4C29-AE95-C19CBB89FC87}" type="presOf" srcId="{D3DEB2E9-7202-4B88-A1D8-F95D15D48C07}" destId="{060C13D6-5A8D-4496-81D8-8D5BAF83926B}" srcOrd="0" destOrd="0" presId="urn:microsoft.com/office/officeart/2008/layout/VerticalCurvedList"/>
    <dgm:cxn modelId="{54B56661-A8AC-45CE-9EF7-BABECCD4438C}" srcId="{43837E0D-2BF9-444B-B6E4-77B25288C5AF}" destId="{8A84E928-00DA-44CC-8F46-68BB2781AAA9}" srcOrd="6" destOrd="0" parTransId="{5BE09AAA-388A-4C5E-A0BF-47A422AD0C75}" sibTransId="{1526385E-A6B8-4AE4-9767-579E9D6E07B6}"/>
    <dgm:cxn modelId="{D06B027F-76D8-4997-8D74-04B71222A226}" type="presOf" srcId="{501F870A-9BCB-4EC7-8A84-0CDC3A908C60}" destId="{C89A1466-CE09-4E89-BD40-73FD2268E238}" srcOrd="0" destOrd="0" presId="urn:microsoft.com/office/officeart/2008/layout/VerticalCurvedList"/>
    <dgm:cxn modelId="{DDFDD97F-5DF0-4AE2-9FA4-B4B5D9D0DA32}" srcId="{43837E0D-2BF9-444B-B6E4-77B25288C5AF}" destId="{03B7A335-E2E1-4EF6-A6CE-F0C4B99A05A9}" srcOrd="5" destOrd="0" parTransId="{7ACA8A39-5F11-45D2-8DCD-924C8AA2A623}" sibTransId="{038F725B-6FCB-48AA-80F0-E798714C27EF}"/>
    <dgm:cxn modelId="{D31BF6A1-169F-4E97-8888-6CF9FEE65658}" srcId="{43837E0D-2BF9-444B-B6E4-77B25288C5AF}" destId="{D3DEB2E9-7202-4B88-A1D8-F95D15D48C07}" srcOrd="4" destOrd="0" parTransId="{0E66F302-CF0B-4090-8416-4D5C4D7123BA}" sibTransId="{170781CA-B1EE-4EB1-B4CD-034731A9C338}"/>
    <dgm:cxn modelId="{655DFBA9-6BA4-4869-A1D4-ACF86C4B963F}" type="presOf" srcId="{8A84E928-00DA-44CC-8F46-68BB2781AAA9}" destId="{B737B773-D0CB-4FD1-90A2-AA8311876F1E}" srcOrd="0" destOrd="0" presId="urn:microsoft.com/office/officeart/2008/layout/VerticalCurvedList"/>
    <dgm:cxn modelId="{2BEAE6AB-A8DD-4482-8EA8-129546A1C0EC}" type="presOf" srcId="{C5066117-8059-4CF8-8636-E66810A8D016}" destId="{A6557092-2807-4063-A30E-9AE4C6971109}" srcOrd="0" destOrd="0" presId="urn:microsoft.com/office/officeart/2008/layout/VerticalCurvedList"/>
    <dgm:cxn modelId="{05EEB5AD-0CB2-4352-8F1D-63BB7092BE5B}" type="presOf" srcId="{6C7A5C1E-3584-4439-9D7E-9F7884B0E46E}" destId="{540AA2D1-35F8-4729-97F1-50B11EC5731C}" srcOrd="0" destOrd="0" presId="urn:microsoft.com/office/officeart/2008/layout/VerticalCurvedList"/>
    <dgm:cxn modelId="{CE00A8CE-6070-4BD3-A4AB-4F5E079FBABD}" type="presOf" srcId="{03B7A335-E2E1-4EF6-A6CE-F0C4B99A05A9}" destId="{B5B702D4-A50D-40FC-B7AF-C7DB6F713EA5}" srcOrd="0" destOrd="0" presId="urn:microsoft.com/office/officeart/2008/layout/VerticalCurvedList"/>
    <dgm:cxn modelId="{560485D2-7D9E-4B02-8C6F-6ECA0CF2F914}" srcId="{43837E0D-2BF9-444B-B6E4-77B25288C5AF}" destId="{CC2BF818-C149-463E-946B-71DE0633C26B}" srcOrd="0" destOrd="0" parTransId="{F13C3F29-912B-403E-9569-F799E4B4B0F6}" sibTransId="{6C7A5C1E-3584-4439-9D7E-9F7884B0E46E}"/>
    <dgm:cxn modelId="{B9D169DD-55A5-4B09-9874-4F5E2D159CD9}" type="presOf" srcId="{CC2BF818-C149-463E-946B-71DE0633C26B}" destId="{1A093EFB-C414-4CB1-A3C9-290D7D3CE47E}" srcOrd="0" destOrd="0" presId="urn:microsoft.com/office/officeart/2008/layout/VerticalCurvedList"/>
    <dgm:cxn modelId="{3DA497DE-7E9D-4350-8661-9C6AA2CDE111}" type="presOf" srcId="{43837E0D-2BF9-444B-B6E4-77B25288C5AF}" destId="{E1AC6ABF-3B4B-4667-B712-6FC310B3DE26}" srcOrd="0" destOrd="0" presId="urn:microsoft.com/office/officeart/2008/layout/VerticalCurvedList"/>
    <dgm:cxn modelId="{7FA27FEF-BE7E-4A8F-AFB1-0F2292B47DF8}" type="presOf" srcId="{A3BD4C90-9194-46F6-ACA4-2CA567AC41B3}" destId="{4B057AA4-6B99-4765-B65C-F2A49D61E9A4}" srcOrd="0" destOrd="0" presId="urn:microsoft.com/office/officeart/2008/layout/VerticalCurvedList"/>
    <dgm:cxn modelId="{AE17DBF3-EED3-47AE-A975-697172F7EF7B}" srcId="{43837E0D-2BF9-444B-B6E4-77B25288C5AF}" destId="{C5066117-8059-4CF8-8636-E66810A8D016}" srcOrd="3" destOrd="0" parTransId="{A9C2302F-D7D0-4317-BF14-950D367CC5C7}" sibTransId="{0FB47148-E417-4591-AE53-76AE40D1CE9A}"/>
    <dgm:cxn modelId="{89CD3634-1782-4A5C-B815-6DDD14F2E493}" type="presParOf" srcId="{E1AC6ABF-3B4B-4667-B712-6FC310B3DE26}" destId="{61F6B972-5614-4447-90F3-7F3856A0EFE5}" srcOrd="0" destOrd="0" presId="urn:microsoft.com/office/officeart/2008/layout/VerticalCurvedList"/>
    <dgm:cxn modelId="{0FFEDA19-7B90-4734-9DF2-12F9ED269D75}" type="presParOf" srcId="{61F6B972-5614-4447-90F3-7F3856A0EFE5}" destId="{41838CDC-94C6-4F46-B8D7-D6C5F4F4D041}" srcOrd="0" destOrd="0" presId="urn:microsoft.com/office/officeart/2008/layout/VerticalCurvedList"/>
    <dgm:cxn modelId="{1B6AC9F9-C076-4AE6-9FF5-B45A2F280858}" type="presParOf" srcId="{41838CDC-94C6-4F46-B8D7-D6C5F4F4D041}" destId="{FA5C169D-8417-45FA-A4E6-8D30BE0C7544}" srcOrd="0" destOrd="0" presId="urn:microsoft.com/office/officeart/2008/layout/VerticalCurvedList"/>
    <dgm:cxn modelId="{208AFAFA-11FD-4F72-897D-044158A17863}" type="presParOf" srcId="{41838CDC-94C6-4F46-B8D7-D6C5F4F4D041}" destId="{540AA2D1-35F8-4729-97F1-50B11EC5731C}" srcOrd="1" destOrd="0" presId="urn:microsoft.com/office/officeart/2008/layout/VerticalCurvedList"/>
    <dgm:cxn modelId="{72145185-B7F8-44EE-B143-2B4410BAA571}" type="presParOf" srcId="{41838CDC-94C6-4F46-B8D7-D6C5F4F4D041}" destId="{3F96F981-19C0-4FAC-89BE-A74B841E54AA}" srcOrd="2" destOrd="0" presId="urn:microsoft.com/office/officeart/2008/layout/VerticalCurvedList"/>
    <dgm:cxn modelId="{B727580D-8790-4256-B398-659E5F149A9A}" type="presParOf" srcId="{41838CDC-94C6-4F46-B8D7-D6C5F4F4D041}" destId="{CF0D324F-9253-4153-B0A7-2BB529A57A84}" srcOrd="3" destOrd="0" presId="urn:microsoft.com/office/officeart/2008/layout/VerticalCurvedList"/>
    <dgm:cxn modelId="{AA1005E5-C3E8-486C-94E0-4E567AA72FF9}" type="presParOf" srcId="{61F6B972-5614-4447-90F3-7F3856A0EFE5}" destId="{1A093EFB-C414-4CB1-A3C9-290D7D3CE47E}" srcOrd="1" destOrd="0" presId="urn:microsoft.com/office/officeart/2008/layout/VerticalCurvedList"/>
    <dgm:cxn modelId="{483D6F25-F0B5-4236-8933-939BDAA9D0EB}" type="presParOf" srcId="{61F6B972-5614-4447-90F3-7F3856A0EFE5}" destId="{D2631B54-DC0C-4CE4-B10F-07E051E878E3}" srcOrd="2" destOrd="0" presId="urn:microsoft.com/office/officeart/2008/layout/VerticalCurvedList"/>
    <dgm:cxn modelId="{66F7D496-F906-4094-B43F-A250DA9E0A4C}" type="presParOf" srcId="{D2631B54-DC0C-4CE4-B10F-07E051E878E3}" destId="{2DC370AB-D284-4BF9-B254-79E03A37458F}" srcOrd="0" destOrd="0" presId="urn:microsoft.com/office/officeart/2008/layout/VerticalCurvedList"/>
    <dgm:cxn modelId="{AF49A916-B2B6-41E0-BE39-88135BCBA048}" type="presParOf" srcId="{61F6B972-5614-4447-90F3-7F3856A0EFE5}" destId="{4B057AA4-6B99-4765-B65C-F2A49D61E9A4}" srcOrd="3" destOrd="0" presId="urn:microsoft.com/office/officeart/2008/layout/VerticalCurvedList"/>
    <dgm:cxn modelId="{4FD8A2E0-5314-46B6-B989-6ABC724F19B6}" type="presParOf" srcId="{61F6B972-5614-4447-90F3-7F3856A0EFE5}" destId="{C6EBED29-70FA-43C8-810E-17F213D5A948}" srcOrd="4" destOrd="0" presId="urn:microsoft.com/office/officeart/2008/layout/VerticalCurvedList"/>
    <dgm:cxn modelId="{6350D6A2-8FB2-4425-A1D7-7C0C5133B570}" type="presParOf" srcId="{C6EBED29-70FA-43C8-810E-17F213D5A948}" destId="{CFC92559-296B-428E-BF86-2A182D5CC65F}" srcOrd="0" destOrd="0" presId="urn:microsoft.com/office/officeart/2008/layout/VerticalCurvedList"/>
    <dgm:cxn modelId="{F29BC5A0-A389-4B20-9F9F-6ADE62AA9A4E}" type="presParOf" srcId="{61F6B972-5614-4447-90F3-7F3856A0EFE5}" destId="{C89A1466-CE09-4E89-BD40-73FD2268E238}" srcOrd="5" destOrd="0" presId="urn:microsoft.com/office/officeart/2008/layout/VerticalCurvedList"/>
    <dgm:cxn modelId="{31CBCD8B-7524-4B9F-9299-D5EB9ECDDA7D}" type="presParOf" srcId="{61F6B972-5614-4447-90F3-7F3856A0EFE5}" destId="{612CD939-CC51-4786-A557-520E7F896F37}" srcOrd="6" destOrd="0" presId="urn:microsoft.com/office/officeart/2008/layout/VerticalCurvedList"/>
    <dgm:cxn modelId="{561E8003-8A90-4CEE-8277-53F4CA23ADAD}" type="presParOf" srcId="{612CD939-CC51-4786-A557-520E7F896F37}" destId="{167CD798-80F4-455E-8FFE-C2E7054439D6}" srcOrd="0" destOrd="0" presId="urn:microsoft.com/office/officeart/2008/layout/VerticalCurvedList"/>
    <dgm:cxn modelId="{33DB7B8A-9E20-459F-B900-8DBBFA159A09}" type="presParOf" srcId="{61F6B972-5614-4447-90F3-7F3856A0EFE5}" destId="{A6557092-2807-4063-A30E-9AE4C6971109}" srcOrd="7" destOrd="0" presId="urn:microsoft.com/office/officeart/2008/layout/VerticalCurvedList"/>
    <dgm:cxn modelId="{024CB4F8-9B39-4C0B-A2C5-07052824EA54}" type="presParOf" srcId="{61F6B972-5614-4447-90F3-7F3856A0EFE5}" destId="{875F89A5-0947-4E0A-8C85-B7D1BD45955E}" srcOrd="8" destOrd="0" presId="urn:microsoft.com/office/officeart/2008/layout/VerticalCurvedList"/>
    <dgm:cxn modelId="{6B888EC7-0CE9-4C14-93EB-9D1313C74355}" type="presParOf" srcId="{875F89A5-0947-4E0A-8C85-B7D1BD45955E}" destId="{095C1B4F-267D-4CA4-B7FA-D3685DCB57B0}" srcOrd="0" destOrd="0" presId="urn:microsoft.com/office/officeart/2008/layout/VerticalCurvedList"/>
    <dgm:cxn modelId="{EC2D4F74-BED8-41D9-9974-8802DA2B6F1B}" type="presParOf" srcId="{61F6B972-5614-4447-90F3-7F3856A0EFE5}" destId="{060C13D6-5A8D-4496-81D8-8D5BAF83926B}" srcOrd="9" destOrd="0" presId="urn:microsoft.com/office/officeart/2008/layout/VerticalCurvedList"/>
    <dgm:cxn modelId="{76E4A272-84BA-4C60-9B50-AED9F4011517}" type="presParOf" srcId="{61F6B972-5614-4447-90F3-7F3856A0EFE5}" destId="{072DDED2-2D0B-4791-BA40-AA7EDCFB0C0C}" srcOrd="10" destOrd="0" presId="urn:microsoft.com/office/officeart/2008/layout/VerticalCurvedList"/>
    <dgm:cxn modelId="{6849A646-3D11-4530-BD5E-3C7AFF758258}" type="presParOf" srcId="{072DDED2-2D0B-4791-BA40-AA7EDCFB0C0C}" destId="{0BECB481-F3BC-4C30-B0F7-969F385C6901}" srcOrd="0" destOrd="0" presId="urn:microsoft.com/office/officeart/2008/layout/VerticalCurvedList"/>
    <dgm:cxn modelId="{EDD58DF9-8744-4E86-9223-694A01D94102}" type="presParOf" srcId="{61F6B972-5614-4447-90F3-7F3856A0EFE5}" destId="{B5B702D4-A50D-40FC-B7AF-C7DB6F713EA5}" srcOrd="11" destOrd="0" presId="urn:microsoft.com/office/officeart/2008/layout/VerticalCurvedList"/>
    <dgm:cxn modelId="{62AFCFAB-0807-4B06-BACF-799165821A47}" type="presParOf" srcId="{61F6B972-5614-4447-90F3-7F3856A0EFE5}" destId="{0EFF204A-2D7B-4EF5-88CD-C43E3E9E3025}" srcOrd="12" destOrd="0" presId="urn:microsoft.com/office/officeart/2008/layout/VerticalCurvedList"/>
    <dgm:cxn modelId="{733451CD-D8D8-4FC1-8BB9-EED1785190CD}" type="presParOf" srcId="{0EFF204A-2D7B-4EF5-88CD-C43E3E9E3025}" destId="{5DBF99AC-315F-4D49-B318-CB57AE6EC46B}" srcOrd="0" destOrd="0" presId="urn:microsoft.com/office/officeart/2008/layout/VerticalCurvedList"/>
    <dgm:cxn modelId="{500FF93D-2E90-4C46-A7A7-3ACF73D1D902}" type="presParOf" srcId="{61F6B972-5614-4447-90F3-7F3856A0EFE5}" destId="{B737B773-D0CB-4FD1-90A2-AA8311876F1E}" srcOrd="13" destOrd="0" presId="urn:microsoft.com/office/officeart/2008/layout/VerticalCurvedList"/>
    <dgm:cxn modelId="{BB5F7B48-CC9C-4405-9E90-158639A2875F}" type="presParOf" srcId="{61F6B972-5614-4447-90F3-7F3856A0EFE5}" destId="{F61626D4-2B4D-4142-89A3-61A070C9F2C5}" srcOrd="14" destOrd="0" presId="urn:microsoft.com/office/officeart/2008/layout/VerticalCurvedList"/>
    <dgm:cxn modelId="{9A674DD4-BBEA-4A4D-A0B2-85B80F47BDB4}" type="presParOf" srcId="{F61626D4-2B4D-4142-89A3-61A070C9F2C5}" destId="{590A6888-407C-44BE-B6C6-E3E681FFB9A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D42B82-32C1-4AE6-B05D-261CAD1E98D6}"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EB6A8F2F-D100-4823-A1D6-F8AFB86A725D}">
      <dgm:prSet phldrT="[Text]"/>
      <dgm:spPr/>
      <dgm:t>
        <a:bodyPr/>
        <a:lstStyle/>
        <a:p>
          <a:r>
            <a:rPr lang="ru-RU" dirty="0"/>
            <a:t>Они направлены на поиск одной и той же ошибки</a:t>
          </a:r>
          <a:endParaRPr lang="en-US" dirty="0"/>
        </a:p>
      </dgm:t>
    </dgm:pt>
    <dgm:pt modelId="{5203B74C-2DE0-4F9B-AE6F-B8DE93E1D7ED}" type="parTrans" cxnId="{433F56B2-426C-4258-9CCF-A266E51DBEEB}">
      <dgm:prSet/>
      <dgm:spPr/>
      <dgm:t>
        <a:bodyPr/>
        <a:lstStyle/>
        <a:p>
          <a:endParaRPr lang="en-US"/>
        </a:p>
      </dgm:t>
    </dgm:pt>
    <dgm:pt modelId="{7AE499DD-EEE5-4891-B727-E05E1722DBC5}" type="sibTrans" cxnId="{433F56B2-426C-4258-9CCF-A266E51DBEEB}">
      <dgm:prSet/>
      <dgm:spPr/>
      <dgm:t>
        <a:bodyPr/>
        <a:lstStyle/>
        <a:p>
          <a:endParaRPr lang="en-US"/>
        </a:p>
      </dgm:t>
    </dgm:pt>
    <dgm:pt modelId="{176ACC91-5DC7-4418-B22D-386B2757C139}">
      <dgm:prSet phldrT="[Text]"/>
      <dgm:spPr/>
      <dgm:t>
        <a:bodyPr/>
        <a:lstStyle/>
        <a:p>
          <a:r>
            <a:rPr lang="ru-RU" dirty="0"/>
            <a:t>Если один из тестов обнаруживает ошибку, другие ее тоже, скорее всего обнаружат, и наоборот</a:t>
          </a:r>
          <a:endParaRPr lang="en-US" dirty="0"/>
        </a:p>
      </dgm:t>
    </dgm:pt>
    <dgm:pt modelId="{464BEF2A-877F-43A6-8394-9CC87949BA0B}" type="parTrans" cxnId="{A46A60AB-DCAA-4163-8633-8E9EB3653AC8}">
      <dgm:prSet/>
      <dgm:spPr/>
      <dgm:t>
        <a:bodyPr/>
        <a:lstStyle/>
        <a:p>
          <a:endParaRPr lang="en-US"/>
        </a:p>
      </dgm:t>
    </dgm:pt>
    <dgm:pt modelId="{80DB2E6A-FA21-4630-8E94-B1CE51735D4A}" type="sibTrans" cxnId="{A46A60AB-DCAA-4163-8633-8E9EB3653AC8}">
      <dgm:prSet/>
      <dgm:spPr/>
      <dgm:t>
        <a:bodyPr/>
        <a:lstStyle/>
        <a:p>
          <a:endParaRPr lang="en-US"/>
        </a:p>
      </dgm:t>
    </dgm:pt>
    <dgm:pt modelId="{42C6BC26-2B16-476C-BC99-E814E4A01737}">
      <dgm:prSet phldrT="[Text]"/>
      <dgm:spPr/>
      <dgm:t>
        <a:bodyPr/>
        <a:lstStyle/>
        <a:p>
          <a:r>
            <a:rPr lang="ru-RU" dirty="0"/>
            <a:t>Тесты используют схожие наборы входных данных</a:t>
          </a:r>
          <a:endParaRPr lang="en-US" dirty="0"/>
        </a:p>
      </dgm:t>
    </dgm:pt>
    <dgm:pt modelId="{2001FF4B-B334-400F-9D99-43ACE18A01CB}" type="parTrans" cxnId="{F32D0185-682D-47C9-8CF2-7180CB543EB6}">
      <dgm:prSet/>
      <dgm:spPr/>
      <dgm:t>
        <a:bodyPr/>
        <a:lstStyle/>
        <a:p>
          <a:endParaRPr lang="en-US"/>
        </a:p>
      </dgm:t>
    </dgm:pt>
    <dgm:pt modelId="{8A0BC062-C2FE-485D-B96F-8933ECFE005B}" type="sibTrans" cxnId="{F32D0185-682D-47C9-8CF2-7180CB543EB6}">
      <dgm:prSet/>
      <dgm:spPr/>
      <dgm:t>
        <a:bodyPr/>
        <a:lstStyle/>
        <a:p>
          <a:endParaRPr lang="en-US"/>
        </a:p>
      </dgm:t>
    </dgm:pt>
    <dgm:pt modelId="{38A5FBE0-F53D-4FD4-AB04-38E33A927E47}">
      <dgm:prSet phldrT="[Text]"/>
      <dgm:spPr/>
      <dgm:t>
        <a:bodyPr/>
        <a:lstStyle/>
        <a:p>
          <a:r>
            <a:rPr lang="ru-RU" dirty="0"/>
            <a:t>Для выполнения тестов мы совершаем одни и те же операции</a:t>
          </a:r>
          <a:endParaRPr lang="en-US" dirty="0"/>
        </a:p>
      </dgm:t>
    </dgm:pt>
    <dgm:pt modelId="{67E284BF-D2BA-41CC-9997-94C09E9A06CC}" type="parTrans" cxnId="{81BF46BF-9B50-4656-A9C5-1A945997F7EC}">
      <dgm:prSet/>
      <dgm:spPr/>
      <dgm:t>
        <a:bodyPr/>
        <a:lstStyle/>
        <a:p>
          <a:endParaRPr lang="en-US"/>
        </a:p>
      </dgm:t>
    </dgm:pt>
    <dgm:pt modelId="{D4784B66-7FCF-420C-864B-79DF973DE077}" type="sibTrans" cxnId="{81BF46BF-9B50-4656-A9C5-1A945997F7EC}">
      <dgm:prSet/>
      <dgm:spPr/>
      <dgm:t>
        <a:bodyPr/>
        <a:lstStyle/>
        <a:p>
          <a:endParaRPr lang="en-US"/>
        </a:p>
      </dgm:t>
    </dgm:pt>
    <dgm:pt modelId="{F279A328-DAE8-46D8-9CE8-8FF2723B6AB0}">
      <dgm:prSet phldrT="[Text]"/>
      <dgm:spPr/>
      <dgm:t>
        <a:bodyPr/>
        <a:lstStyle/>
        <a:p>
          <a:r>
            <a:rPr lang="ru-RU" dirty="0"/>
            <a:t>Тесты генерируют одинаковые выходные данные или приводят приложение в одно и то же состояние</a:t>
          </a:r>
          <a:endParaRPr lang="en-US" dirty="0"/>
        </a:p>
      </dgm:t>
    </dgm:pt>
    <dgm:pt modelId="{AE67DDF4-250B-426E-8D2C-DDD00949B9BB}" type="parTrans" cxnId="{136B8D21-321E-4B1E-82B7-45609A16B31E}">
      <dgm:prSet/>
      <dgm:spPr/>
      <dgm:t>
        <a:bodyPr/>
        <a:lstStyle/>
        <a:p>
          <a:endParaRPr lang="en-US"/>
        </a:p>
      </dgm:t>
    </dgm:pt>
    <dgm:pt modelId="{849046D0-5C45-48A9-B2C4-6FDFB4B2AE4B}" type="sibTrans" cxnId="{136B8D21-321E-4B1E-82B7-45609A16B31E}">
      <dgm:prSet/>
      <dgm:spPr/>
      <dgm:t>
        <a:bodyPr/>
        <a:lstStyle/>
        <a:p>
          <a:endParaRPr lang="en-US"/>
        </a:p>
      </dgm:t>
    </dgm:pt>
    <dgm:pt modelId="{CA581E1A-3310-4AB1-9056-0F1527B4E6C3}">
      <dgm:prSet phldrT="[Text]"/>
      <dgm:spPr/>
      <dgm:t>
        <a:bodyPr/>
        <a:lstStyle/>
        <a:p>
          <a:r>
            <a:rPr lang="ru-RU" dirty="0"/>
            <a:t>Все тесты приводят к срабатыванию одного и того же блока обработки ошибок</a:t>
          </a:r>
          <a:endParaRPr lang="en-US" dirty="0"/>
        </a:p>
      </dgm:t>
    </dgm:pt>
    <dgm:pt modelId="{75630F2F-8B24-4115-92D0-7CA6F8828796}" type="parTrans" cxnId="{B507D23C-1765-4A14-800B-CC19B11EC577}">
      <dgm:prSet/>
      <dgm:spPr/>
      <dgm:t>
        <a:bodyPr/>
        <a:lstStyle/>
        <a:p>
          <a:endParaRPr lang="en-US"/>
        </a:p>
      </dgm:t>
    </dgm:pt>
    <dgm:pt modelId="{17D82506-B0C1-4735-A2F6-C592FAFBE8AF}" type="sibTrans" cxnId="{B507D23C-1765-4A14-800B-CC19B11EC577}">
      <dgm:prSet/>
      <dgm:spPr/>
      <dgm:t>
        <a:bodyPr/>
        <a:lstStyle/>
        <a:p>
          <a:endParaRPr lang="en-US"/>
        </a:p>
      </dgm:t>
    </dgm:pt>
    <dgm:pt modelId="{C6F17597-2C30-44E5-BF09-6C59DE5B2193}">
      <dgm:prSet phldrT="[Text]"/>
      <dgm:spPr/>
      <dgm:t>
        <a:bodyPr/>
        <a:lstStyle/>
        <a:p>
          <a:r>
            <a:rPr lang="ru-RU" dirty="0"/>
            <a:t>Ни один из тестов не приводит к срабатыванию блока обработки ошибок</a:t>
          </a:r>
          <a:endParaRPr lang="en-US" dirty="0"/>
        </a:p>
      </dgm:t>
    </dgm:pt>
    <dgm:pt modelId="{317550BA-43C8-4D4B-BAFE-28BD5E08BC52}" type="parTrans" cxnId="{2EBCD4D4-A3BE-48EF-BF68-E4B6BA1728E4}">
      <dgm:prSet/>
      <dgm:spPr/>
      <dgm:t>
        <a:bodyPr/>
        <a:lstStyle/>
        <a:p>
          <a:endParaRPr lang="en-US"/>
        </a:p>
      </dgm:t>
    </dgm:pt>
    <dgm:pt modelId="{D6852475-3A7A-4127-97B6-4DC052FB6440}" type="sibTrans" cxnId="{2EBCD4D4-A3BE-48EF-BF68-E4B6BA1728E4}">
      <dgm:prSet/>
      <dgm:spPr/>
      <dgm:t>
        <a:bodyPr/>
        <a:lstStyle/>
        <a:p>
          <a:endParaRPr lang="en-US"/>
        </a:p>
      </dgm:t>
    </dgm:pt>
    <dgm:pt modelId="{31B1B6EF-972A-468F-86F2-5A82BECF1CF9}" type="pres">
      <dgm:prSet presAssocID="{D8D42B82-32C1-4AE6-B05D-261CAD1E98D6}" presName="Name0" presStyleCnt="0">
        <dgm:presLayoutVars>
          <dgm:chMax val="7"/>
          <dgm:chPref val="7"/>
          <dgm:dir/>
        </dgm:presLayoutVars>
      </dgm:prSet>
      <dgm:spPr/>
    </dgm:pt>
    <dgm:pt modelId="{AE14C837-00FB-484F-81D4-2A0C583EFD33}" type="pres">
      <dgm:prSet presAssocID="{D8D42B82-32C1-4AE6-B05D-261CAD1E98D6}" presName="Name1" presStyleCnt="0"/>
      <dgm:spPr/>
    </dgm:pt>
    <dgm:pt modelId="{E22474C8-24A3-4E69-BE47-74C0DFF0AD52}" type="pres">
      <dgm:prSet presAssocID="{D8D42B82-32C1-4AE6-B05D-261CAD1E98D6}" presName="cycle" presStyleCnt="0"/>
      <dgm:spPr/>
    </dgm:pt>
    <dgm:pt modelId="{FF444F99-79F5-4894-BE1B-4976ED0C910C}" type="pres">
      <dgm:prSet presAssocID="{D8D42B82-32C1-4AE6-B05D-261CAD1E98D6}" presName="srcNode" presStyleLbl="node1" presStyleIdx="0" presStyleCnt="7"/>
      <dgm:spPr/>
    </dgm:pt>
    <dgm:pt modelId="{727FE31E-1F08-4AFA-B80E-0BED20A26FBE}" type="pres">
      <dgm:prSet presAssocID="{D8D42B82-32C1-4AE6-B05D-261CAD1E98D6}" presName="conn" presStyleLbl="parChTrans1D2" presStyleIdx="0" presStyleCnt="1"/>
      <dgm:spPr/>
    </dgm:pt>
    <dgm:pt modelId="{BC33D8AD-D69A-4662-B800-E8B4F424C021}" type="pres">
      <dgm:prSet presAssocID="{D8D42B82-32C1-4AE6-B05D-261CAD1E98D6}" presName="extraNode" presStyleLbl="node1" presStyleIdx="0" presStyleCnt="7"/>
      <dgm:spPr/>
    </dgm:pt>
    <dgm:pt modelId="{A6A2A3AE-8A17-4CC7-A1AD-CE07F45C4F75}" type="pres">
      <dgm:prSet presAssocID="{D8D42B82-32C1-4AE6-B05D-261CAD1E98D6}" presName="dstNode" presStyleLbl="node1" presStyleIdx="0" presStyleCnt="7"/>
      <dgm:spPr/>
    </dgm:pt>
    <dgm:pt modelId="{DAF7D0D3-9DF8-484A-BEA0-0F9D0DFBFB1D}" type="pres">
      <dgm:prSet presAssocID="{EB6A8F2F-D100-4823-A1D6-F8AFB86A725D}" presName="text_1" presStyleLbl="node1" presStyleIdx="0" presStyleCnt="7">
        <dgm:presLayoutVars>
          <dgm:bulletEnabled val="1"/>
        </dgm:presLayoutVars>
      </dgm:prSet>
      <dgm:spPr/>
    </dgm:pt>
    <dgm:pt modelId="{A6F09360-E028-461F-A405-E7490EAC4B82}" type="pres">
      <dgm:prSet presAssocID="{EB6A8F2F-D100-4823-A1D6-F8AFB86A725D}" presName="accent_1" presStyleCnt="0"/>
      <dgm:spPr/>
    </dgm:pt>
    <dgm:pt modelId="{BFBF620C-70D4-43EE-8217-EA274A755E5F}" type="pres">
      <dgm:prSet presAssocID="{EB6A8F2F-D100-4823-A1D6-F8AFB86A725D}" presName="accentRepeatNode" presStyleLbl="solidFgAcc1" presStyleIdx="0" presStyleCnt="7"/>
      <dgm:spPr/>
    </dgm:pt>
    <dgm:pt modelId="{0AFC3E97-540C-4F9C-AA40-7B988E4CE402}" type="pres">
      <dgm:prSet presAssocID="{176ACC91-5DC7-4418-B22D-386B2757C139}" presName="text_2" presStyleLbl="node1" presStyleIdx="1" presStyleCnt="7">
        <dgm:presLayoutVars>
          <dgm:bulletEnabled val="1"/>
        </dgm:presLayoutVars>
      </dgm:prSet>
      <dgm:spPr/>
    </dgm:pt>
    <dgm:pt modelId="{1B72A200-E561-45E7-885D-C36DE1884607}" type="pres">
      <dgm:prSet presAssocID="{176ACC91-5DC7-4418-B22D-386B2757C139}" presName="accent_2" presStyleCnt="0"/>
      <dgm:spPr/>
    </dgm:pt>
    <dgm:pt modelId="{E0F1897C-C95C-4353-8D2B-0D096F66F82F}" type="pres">
      <dgm:prSet presAssocID="{176ACC91-5DC7-4418-B22D-386B2757C139}" presName="accentRepeatNode" presStyleLbl="solidFgAcc1" presStyleIdx="1" presStyleCnt="7"/>
      <dgm:spPr/>
    </dgm:pt>
    <dgm:pt modelId="{4DF29975-FFCC-4224-94DA-3B52233915F5}" type="pres">
      <dgm:prSet presAssocID="{42C6BC26-2B16-476C-BC99-E814E4A01737}" presName="text_3" presStyleLbl="node1" presStyleIdx="2" presStyleCnt="7">
        <dgm:presLayoutVars>
          <dgm:bulletEnabled val="1"/>
        </dgm:presLayoutVars>
      </dgm:prSet>
      <dgm:spPr/>
    </dgm:pt>
    <dgm:pt modelId="{C8056F34-7ABE-4865-82CC-A38CFBD8887B}" type="pres">
      <dgm:prSet presAssocID="{42C6BC26-2B16-476C-BC99-E814E4A01737}" presName="accent_3" presStyleCnt="0"/>
      <dgm:spPr/>
    </dgm:pt>
    <dgm:pt modelId="{87897D3B-C8E4-454E-9927-EDCD7851B349}" type="pres">
      <dgm:prSet presAssocID="{42C6BC26-2B16-476C-BC99-E814E4A01737}" presName="accentRepeatNode" presStyleLbl="solidFgAcc1" presStyleIdx="2" presStyleCnt="7"/>
      <dgm:spPr/>
    </dgm:pt>
    <dgm:pt modelId="{43C51388-9EBB-4D66-B79A-D7137F49D372}" type="pres">
      <dgm:prSet presAssocID="{38A5FBE0-F53D-4FD4-AB04-38E33A927E47}" presName="text_4" presStyleLbl="node1" presStyleIdx="3" presStyleCnt="7">
        <dgm:presLayoutVars>
          <dgm:bulletEnabled val="1"/>
        </dgm:presLayoutVars>
      </dgm:prSet>
      <dgm:spPr/>
    </dgm:pt>
    <dgm:pt modelId="{BAB757CF-B8D4-4550-8276-FDE77F2B5326}" type="pres">
      <dgm:prSet presAssocID="{38A5FBE0-F53D-4FD4-AB04-38E33A927E47}" presName="accent_4" presStyleCnt="0"/>
      <dgm:spPr/>
    </dgm:pt>
    <dgm:pt modelId="{C96E061C-BCD7-45F9-BA9C-78AF40B88B75}" type="pres">
      <dgm:prSet presAssocID="{38A5FBE0-F53D-4FD4-AB04-38E33A927E47}" presName="accentRepeatNode" presStyleLbl="solidFgAcc1" presStyleIdx="3" presStyleCnt="7"/>
      <dgm:spPr/>
    </dgm:pt>
    <dgm:pt modelId="{547ED57D-F25F-45D0-8BC4-FFF8C42E9294}" type="pres">
      <dgm:prSet presAssocID="{F279A328-DAE8-46D8-9CE8-8FF2723B6AB0}" presName="text_5" presStyleLbl="node1" presStyleIdx="4" presStyleCnt="7">
        <dgm:presLayoutVars>
          <dgm:bulletEnabled val="1"/>
        </dgm:presLayoutVars>
      </dgm:prSet>
      <dgm:spPr/>
    </dgm:pt>
    <dgm:pt modelId="{D15E136E-8D51-4F25-9D28-3340D35C3CFF}" type="pres">
      <dgm:prSet presAssocID="{F279A328-DAE8-46D8-9CE8-8FF2723B6AB0}" presName="accent_5" presStyleCnt="0"/>
      <dgm:spPr/>
    </dgm:pt>
    <dgm:pt modelId="{CDFD5C97-56D7-4FCC-9182-ECBBCAFFC7E7}" type="pres">
      <dgm:prSet presAssocID="{F279A328-DAE8-46D8-9CE8-8FF2723B6AB0}" presName="accentRepeatNode" presStyleLbl="solidFgAcc1" presStyleIdx="4" presStyleCnt="7"/>
      <dgm:spPr/>
    </dgm:pt>
    <dgm:pt modelId="{65202B14-A835-41F9-8CA1-B95FE64097C1}" type="pres">
      <dgm:prSet presAssocID="{CA581E1A-3310-4AB1-9056-0F1527B4E6C3}" presName="text_6" presStyleLbl="node1" presStyleIdx="5" presStyleCnt="7">
        <dgm:presLayoutVars>
          <dgm:bulletEnabled val="1"/>
        </dgm:presLayoutVars>
      </dgm:prSet>
      <dgm:spPr/>
    </dgm:pt>
    <dgm:pt modelId="{53D9612A-D39E-4B0A-B0B3-BC964C324104}" type="pres">
      <dgm:prSet presAssocID="{CA581E1A-3310-4AB1-9056-0F1527B4E6C3}" presName="accent_6" presStyleCnt="0"/>
      <dgm:spPr/>
    </dgm:pt>
    <dgm:pt modelId="{A4A347E7-4249-4009-B3AC-91325942D75D}" type="pres">
      <dgm:prSet presAssocID="{CA581E1A-3310-4AB1-9056-0F1527B4E6C3}" presName="accentRepeatNode" presStyleLbl="solidFgAcc1" presStyleIdx="5" presStyleCnt="7"/>
      <dgm:spPr/>
    </dgm:pt>
    <dgm:pt modelId="{60F79C4C-CC69-4FE6-9F49-ACF29CC4E304}" type="pres">
      <dgm:prSet presAssocID="{C6F17597-2C30-44E5-BF09-6C59DE5B2193}" presName="text_7" presStyleLbl="node1" presStyleIdx="6" presStyleCnt="7">
        <dgm:presLayoutVars>
          <dgm:bulletEnabled val="1"/>
        </dgm:presLayoutVars>
      </dgm:prSet>
      <dgm:spPr/>
    </dgm:pt>
    <dgm:pt modelId="{BB0C6601-DD70-45DC-B9C5-68EFEDAB7AEA}" type="pres">
      <dgm:prSet presAssocID="{C6F17597-2C30-44E5-BF09-6C59DE5B2193}" presName="accent_7" presStyleCnt="0"/>
      <dgm:spPr/>
    </dgm:pt>
    <dgm:pt modelId="{A93E8CF0-E14E-4D2F-9EE0-5A2F3126C70F}" type="pres">
      <dgm:prSet presAssocID="{C6F17597-2C30-44E5-BF09-6C59DE5B2193}" presName="accentRepeatNode" presStyleLbl="solidFgAcc1" presStyleIdx="6" presStyleCnt="7"/>
      <dgm:spPr/>
    </dgm:pt>
  </dgm:ptLst>
  <dgm:cxnLst>
    <dgm:cxn modelId="{136B8D21-321E-4B1E-82B7-45609A16B31E}" srcId="{D8D42B82-32C1-4AE6-B05D-261CAD1E98D6}" destId="{F279A328-DAE8-46D8-9CE8-8FF2723B6AB0}" srcOrd="4" destOrd="0" parTransId="{AE67DDF4-250B-426E-8D2C-DDD00949B9BB}" sibTransId="{849046D0-5C45-48A9-B2C4-6FDFB4B2AE4B}"/>
    <dgm:cxn modelId="{92AB4A3B-A1C5-4644-963A-C04BCE10FC65}" type="presOf" srcId="{38A5FBE0-F53D-4FD4-AB04-38E33A927E47}" destId="{43C51388-9EBB-4D66-B79A-D7137F49D372}" srcOrd="0" destOrd="0" presId="urn:microsoft.com/office/officeart/2008/layout/VerticalCurvedList"/>
    <dgm:cxn modelId="{B507D23C-1765-4A14-800B-CC19B11EC577}" srcId="{D8D42B82-32C1-4AE6-B05D-261CAD1E98D6}" destId="{CA581E1A-3310-4AB1-9056-0F1527B4E6C3}" srcOrd="5" destOrd="0" parTransId="{75630F2F-8B24-4115-92D0-7CA6F8828796}" sibTransId="{17D82506-B0C1-4735-A2F6-C592FAFBE8AF}"/>
    <dgm:cxn modelId="{F1CC423D-6FF4-43B5-A82A-D0E28B0FF992}" type="presOf" srcId="{D8D42B82-32C1-4AE6-B05D-261CAD1E98D6}" destId="{31B1B6EF-972A-468F-86F2-5A82BECF1CF9}" srcOrd="0" destOrd="0" presId="urn:microsoft.com/office/officeart/2008/layout/VerticalCurvedList"/>
    <dgm:cxn modelId="{F32D0185-682D-47C9-8CF2-7180CB543EB6}" srcId="{D8D42B82-32C1-4AE6-B05D-261CAD1E98D6}" destId="{42C6BC26-2B16-476C-BC99-E814E4A01737}" srcOrd="2" destOrd="0" parTransId="{2001FF4B-B334-400F-9D99-43ACE18A01CB}" sibTransId="{8A0BC062-C2FE-485D-B96F-8933ECFE005B}"/>
    <dgm:cxn modelId="{A83CFC8F-5E12-4C5D-A398-7CB17F7E5DAC}" type="presOf" srcId="{C6F17597-2C30-44E5-BF09-6C59DE5B2193}" destId="{60F79C4C-CC69-4FE6-9F49-ACF29CC4E304}" srcOrd="0" destOrd="0" presId="urn:microsoft.com/office/officeart/2008/layout/VerticalCurvedList"/>
    <dgm:cxn modelId="{B0F8B19B-BC40-4603-B713-C5C74AF2AF4A}" type="presOf" srcId="{CA581E1A-3310-4AB1-9056-0F1527B4E6C3}" destId="{65202B14-A835-41F9-8CA1-B95FE64097C1}" srcOrd="0" destOrd="0" presId="urn:microsoft.com/office/officeart/2008/layout/VerticalCurvedList"/>
    <dgm:cxn modelId="{CB05299D-0506-4E61-AC07-11354A644A74}" type="presOf" srcId="{EB6A8F2F-D100-4823-A1D6-F8AFB86A725D}" destId="{DAF7D0D3-9DF8-484A-BEA0-0F9D0DFBFB1D}" srcOrd="0" destOrd="0" presId="urn:microsoft.com/office/officeart/2008/layout/VerticalCurvedList"/>
    <dgm:cxn modelId="{B46191AA-F052-45E6-945C-2ACE45C44DDB}" type="presOf" srcId="{42C6BC26-2B16-476C-BC99-E814E4A01737}" destId="{4DF29975-FFCC-4224-94DA-3B52233915F5}" srcOrd="0" destOrd="0" presId="urn:microsoft.com/office/officeart/2008/layout/VerticalCurvedList"/>
    <dgm:cxn modelId="{D2D917AB-22F7-4274-B72C-2D145A40BAE9}" type="presOf" srcId="{7AE499DD-EEE5-4891-B727-E05E1722DBC5}" destId="{727FE31E-1F08-4AFA-B80E-0BED20A26FBE}" srcOrd="0" destOrd="0" presId="urn:microsoft.com/office/officeart/2008/layout/VerticalCurvedList"/>
    <dgm:cxn modelId="{A46A60AB-DCAA-4163-8633-8E9EB3653AC8}" srcId="{D8D42B82-32C1-4AE6-B05D-261CAD1E98D6}" destId="{176ACC91-5DC7-4418-B22D-386B2757C139}" srcOrd="1" destOrd="0" parTransId="{464BEF2A-877F-43A6-8394-9CC87949BA0B}" sibTransId="{80DB2E6A-FA21-4630-8E94-B1CE51735D4A}"/>
    <dgm:cxn modelId="{433F56B2-426C-4258-9CCF-A266E51DBEEB}" srcId="{D8D42B82-32C1-4AE6-B05D-261CAD1E98D6}" destId="{EB6A8F2F-D100-4823-A1D6-F8AFB86A725D}" srcOrd="0" destOrd="0" parTransId="{5203B74C-2DE0-4F9B-AE6F-B8DE93E1D7ED}" sibTransId="{7AE499DD-EEE5-4891-B727-E05E1722DBC5}"/>
    <dgm:cxn modelId="{81BF46BF-9B50-4656-A9C5-1A945997F7EC}" srcId="{D8D42B82-32C1-4AE6-B05D-261CAD1E98D6}" destId="{38A5FBE0-F53D-4FD4-AB04-38E33A927E47}" srcOrd="3" destOrd="0" parTransId="{67E284BF-D2BA-41CC-9997-94C09E9A06CC}" sibTransId="{D4784B66-7FCF-420C-864B-79DF973DE077}"/>
    <dgm:cxn modelId="{DF9B88D1-4641-46FC-841D-082FF3784E48}" type="presOf" srcId="{176ACC91-5DC7-4418-B22D-386B2757C139}" destId="{0AFC3E97-540C-4F9C-AA40-7B988E4CE402}" srcOrd="0" destOrd="0" presId="urn:microsoft.com/office/officeart/2008/layout/VerticalCurvedList"/>
    <dgm:cxn modelId="{2EBCD4D4-A3BE-48EF-BF68-E4B6BA1728E4}" srcId="{D8D42B82-32C1-4AE6-B05D-261CAD1E98D6}" destId="{C6F17597-2C30-44E5-BF09-6C59DE5B2193}" srcOrd="6" destOrd="0" parTransId="{317550BA-43C8-4D4B-BAFE-28BD5E08BC52}" sibTransId="{D6852475-3A7A-4127-97B6-4DC052FB6440}"/>
    <dgm:cxn modelId="{742B8ADE-829F-44F3-AD15-07E5D8188A4D}" type="presOf" srcId="{F279A328-DAE8-46D8-9CE8-8FF2723B6AB0}" destId="{547ED57D-F25F-45D0-8BC4-FFF8C42E9294}" srcOrd="0" destOrd="0" presId="urn:microsoft.com/office/officeart/2008/layout/VerticalCurvedList"/>
    <dgm:cxn modelId="{82EE0D83-CB3B-49AA-B015-902910682310}" type="presParOf" srcId="{31B1B6EF-972A-468F-86F2-5A82BECF1CF9}" destId="{AE14C837-00FB-484F-81D4-2A0C583EFD33}" srcOrd="0" destOrd="0" presId="urn:microsoft.com/office/officeart/2008/layout/VerticalCurvedList"/>
    <dgm:cxn modelId="{47A8E809-2F4C-496A-B788-B7C825F88D60}" type="presParOf" srcId="{AE14C837-00FB-484F-81D4-2A0C583EFD33}" destId="{E22474C8-24A3-4E69-BE47-74C0DFF0AD52}" srcOrd="0" destOrd="0" presId="urn:microsoft.com/office/officeart/2008/layout/VerticalCurvedList"/>
    <dgm:cxn modelId="{EE41326D-B75D-4A76-968E-A967FA8D95B0}" type="presParOf" srcId="{E22474C8-24A3-4E69-BE47-74C0DFF0AD52}" destId="{FF444F99-79F5-4894-BE1B-4976ED0C910C}" srcOrd="0" destOrd="0" presId="urn:microsoft.com/office/officeart/2008/layout/VerticalCurvedList"/>
    <dgm:cxn modelId="{CB6DB75C-6676-420F-9148-FD70CD2FF062}" type="presParOf" srcId="{E22474C8-24A3-4E69-BE47-74C0DFF0AD52}" destId="{727FE31E-1F08-4AFA-B80E-0BED20A26FBE}" srcOrd="1" destOrd="0" presId="urn:microsoft.com/office/officeart/2008/layout/VerticalCurvedList"/>
    <dgm:cxn modelId="{097F8845-5B27-492F-9113-9E7C84689234}" type="presParOf" srcId="{E22474C8-24A3-4E69-BE47-74C0DFF0AD52}" destId="{BC33D8AD-D69A-4662-B800-E8B4F424C021}" srcOrd="2" destOrd="0" presId="urn:microsoft.com/office/officeart/2008/layout/VerticalCurvedList"/>
    <dgm:cxn modelId="{3E24FC87-0526-40ED-A5F1-55F2482C4BB4}" type="presParOf" srcId="{E22474C8-24A3-4E69-BE47-74C0DFF0AD52}" destId="{A6A2A3AE-8A17-4CC7-A1AD-CE07F45C4F75}" srcOrd="3" destOrd="0" presId="urn:microsoft.com/office/officeart/2008/layout/VerticalCurvedList"/>
    <dgm:cxn modelId="{7FFC91D3-A84B-40AC-91C6-528887913E8A}" type="presParOf" srcId="{AE14C837-00FB-484F-81D4-2A0C583EFD33}" destId="{DAF7D0D3-9DF8-484A-BEA0-0F9D0DFBFB1D}" srcOrd="1" destOrd="0" presId="urn:microsoft.com/office/officeart/2008/layout/VerticalCurvedList"/>
    <dgm:cxn modelId="{633A7884-C5AF-42FF-A841-DB973E5BE055}" type="presParOf" srcId="{AE14C837-00FB-484F-81D4-2A0C583EFD33}" destId="{A6F09360-E028-461F-A405-E7490EAC4B82}" srcOrd="2" destOrd="0" presId="urn:microsoft.com/office/officeart/2008/layout/VerticalCurvedList"/>
    <dgm:cxn modelId="{4BB1EAC0-1098-477C-B468-F1C8CED451AE}" type="presParOf" srcId="{A6F09360-E028-461F-A405-E7490EAC4B82}" destId="{BFBF620C-70D4-43EE-8217-EA274A755E5F}" srcOrd="0" destOrd="0" presId="urn:microsoft.com/office/officeart/2008/layout/VerticalCurvedList"/>
    <dgm:cxn modelId="{59673B77-D316-42D0-A2D2-84B1601E0C1C}" type="presParOf" srcId="{AE14C837-00FB-484F-81D4-2A0C583EFD33}" destId="{0AFC3E97-540C-4F9C-AA40-7B988E4CE402}" srcOrd="3" destOrd="0" presId="urn:microsoft.com/office/officeart/2008/layout/VerticalCurvedList"/>
    <dgm:cxn modelId="{199F3BF8-14C1-4BBF-8C9A-43A0DC6E2967}" type="presParOf" srcId="{AE14C837-00FB-484F-81D4-2A0C583EFD33}" destId="{1B72A200-E561-45E7-885D-C36DE1884607}" srcOrd="4" destOrd="0" presId="urn:microsoft.com/office/officeart/2008/layout/VerticalCurvedList"/>
    <dgm:cxn modelId="{25AF2C33-171B-42AC-AC29-9FC8C6B62C1F}" type="presParOf" srcId="{1B72A200-E561-45E7-885D-C36DE1884607}" destId="{E0F1897C-C95C-4353-8D2B-0D096F66F82F}" srcOrd="0" destOrd="0" presId="urn:microsoft.com/office/officeart/2008/layout/VerticalCurvedList"/>
    <dgm:cxn modelId="{955C466A-B105-47EB-9CC1-0CE035F1F429}" type="presParOf" srcId="{AE14C837-00FB-484F-81D4-2A0C583EFD33}" destId="{4DF29975-FFCC-4224-94DA-3B52233915F5}" srcOrd="5" destOrd="0" presId="urn:microsoft.com/office/officeart/2008/layout/VerticalCurvedList"/>
    <dgm:cxn modelId="{4A025D00-878D-47AD-8304-D94FFC0F6914}" type="presParOf" srcId="{AE14C837-00FB-484F-81D4-2A0C583EFD33}" destId="{C8056F34-7ABE-4865-82CC-A38CFBD8887B}" srcOrd="6" destOrd="0" presId="urn:microsoft.com/office/officeart/2008/layout/VerticalCurvedList"/>
    <dgm:cxn modelId="{C42D406D-95F6-4BAE-89FC-02CE23DCAB5B}" type="presParOf" srcId="{C8056F34-7ABE-4865-82CC-A38CFBD8887B}" destId="{87897D3B-C8E4-454E-9927-EDCD7851B349}" srcOrd="0" destOrd="0" presId="urn:microsoft.com/office/officeart/2008/layout/VerticalCurvedList"/>
    <dgm:cxn modelId="{9C1906A5-24D3-466F-9150-161097DD481F}" type="presParOf" srcId="{AE14C837-00FB-484F-81D4-2A0C583EFD33}" destId="{43C51388-9EBB-4D66-B79A-D7137F49D372}" srcOrd="7" destOrd="0" presId="urn:microsoft.com/office/officeart/2008/layout/VerticalCurvedList"/>
    <dgm:cxn modelId="{F4CBF6B6-E248-4C56-94B5-6C0C08E79CD1}" type="presParOf" srcId="{AE14C837-00FB-484F-81D4-2A0C583EFD33}" destId="{BAB757CF-B8D4-4550-8276-FDE77F2B5326}" srcOrd="8" destOrd="0" presId="urn:microsoft.com/office/officeart/2008/layout/VerticalCurvedList"/>
    <dgm:cxn modelId="{FEA1FB40-B0B1-4CA0-937B-7BD0633445EE}" type="presParOf" srcId="{BAB757CF-B8D4-4550-8276-FDE77F2B5326}" destId="{C96E061C-BCD7-45F9-BA9C-78AF40B88B75}" srcOrd="0" destOrd="0" presId="urn:microsoft.com/office/officeart/2008/layout/VerticalCurvedList"/>
    <dgm:cxn modelId="{20286CA1-05FD-4CF8-BFC7-40C0C36A78E1}" type="presParOf" srcId="{AE14C837-00FB-484F-81D4-2A0C583EFD33}" destId="{547ED57D-F25F-45D0-8BC4-FFF8C42E9294}" srcOrd="9" destOrd="0" presId="urn:microsoft.com/office/officeart/2008/layout/VerticalCurvedList"/>
    <dgm:cxn modelId="{6590065D-1426-4596-B8B8-CE75EEDC5163}" type="presParOf" srcId="{AE14C837-00FB-484F-81D4-2A0C583EFD33}" destId="{D15E136E-8D51-4F25-9D28-3340D35C3CFF}" srcOrd="10" destOrd="0" presId="urn:microsoft.com/office/officeart/2008/layout/VerticalCurvedList"/>
    <dgm:cxn modelId="{7FAAD25C-BE1F-425A-A887-C29BD03BDEA7}" type="presParOf" srcId="{D15E136E-8D51-4F25-9D28-3340D35C3CFF}" destId="{CDFD5C97-56D7-4FCC-9182-ECBBCAFFC7E7}" srcOrd="0" destOrd="0" presId="urn:microsoft.com/office/officeart/2008/layout/VerticalCurvedList"/>
    <dgm:cxn modelId="{11B68FB6-A322-4099-B854-94DEB52F154C}" type="presParOf" srcId="{AE14C837-00FB-484F-81D4-2A0C583EFD33}" destId="{65202B14-A835-41F9-8CA1-B95FE64097C1}" srcOrd="11" destOrd="0" presId="urn:microsoft.com/office/officeart/2008/layout/VerticalCurvedList"/>
    <dgm:cxn modelId="{C4FD2AC5-AD46-4644-81C9-31818F2E7EE8}" type="presParOf" srcId="{AE14C837-00FB-484F-81D4-2A0C583EFD33}" destId="{53D9612A-D39E-4B0A-B0B3-BC964C324104}" srcOrd="12" destOrd="0" presId="urn:microsoft.com/office/officeart/2008/layout/VerticalCurvedList"/>
    <dgm:cxn modelId="{3D464623-5047-483C-9912-6CB72C6339AA}" type="presParOf" srcId="{53D9612A-D39E-4B0A-B0B3-BC964C324104}" destId="{A4A347E7-4249-4009-B3AC-91325942D75D}" srcOrd="0" destOrd="0" presId="urn:microsoft.com/office/officeart/2008/layout/VerticalCurvedList"/>
    <dgm:cxn modelId="{A14AE8C3-7E4E-4CAB-A0FC-93E0DBC3DC31}" type="presParOf" srcId="{AE14C837-00FB-484F-81D4-2A0C583EFD33}" destId="{60F79C4C-CC69-4FE6-9F49-ACF29CC4E304}" srcOrd="13" destOrd="0" presId="urn:microsoft.com/office/officeart/2008/layout/VerticalCurvedList"/>
    <dgm:cxn modelId="{3766552C-548E-4E30-A2EA-ED617FA39FF5}" type="presParOf" srcId="{AE14C837-00FB-484F-81D4-2A0C583EFD33}" destId="{BB0C6601-DD70-45DC-B9C5-68EFEDAB7AEA}" srcOrd="14" destOrd="0" presId="urn:microsoft.com/office/officeart/2008/layout/VerticalCurvedList"/>
    <dgm:cxn modelId="{5F4DBD47-D320-48A4-9E47-B056969F5FAA}" type="presParOf" srcId="{BB0C6601-DD70-45DC-B9C5-68EFEDAB7AEA}" destId="{A93E8CF0-E14E-4D2F-9EE0-5A2F3126C70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0AA2D1-35F8-4729-97F1-50B11EC5731C}">
      <dsp:nvSpPr>
        <dsp:cNvPr id="0" name=""/>
        <dsp:cNvSpPr/>
      </dsp:nvSpPr>
      <dsp:spPr>
        <a:xfrm>
          <a:off x="-3064077" y="-471768"/>
          <a:ext cx="3654979" cy="3654979"/>
        </a:xfrm>
        <a:prstGeom prst="blockArc">
          <a:avLst>
            <a:gd name="adj1" fmla="val 18900000"/>
            <a:gd name="adj2" fmla="val 2700000"/>
            <a:gd name="adj3" fmla="val 591"/>
          </a:avLst>
        </a:pr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093EFB-C414-4CB1-A3C9-290D7D3CE47E}">
      <dsp:nvSpPr>
        <dsp:cNvPr id="0" name=""/>
        <dsp:cNvSpPr/>
      </dsp:nvSpPr>
      <dsp:spPr>
        <a:xfrm>
          <a:off x="192581" y="123262"/>
          <a:ext cx="4817819" cy="24641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Тесты на основе требований</a:t>
          </a:r>
          <a:endParaRPr lang="en-US" sz="1300" kern="1200" dirty="0"/>
        </a:p>
      </dsp:txBody>
      <dsp:txXfrm>
        <a:off x="192581" y="123262"/>
        <a:ext cx="4817819" cy="246415"/>
      </dsp:txXfrm>
    </dsp:sp>
    <dsp:sp modelId="{2DC370AB-D284-4BF9-B254-79E03A37458F}">
      <dsp:nvSpPr>
        <dsp:cNvPr id="0" name=""/>
        <dsp:cNvSpPr/>
      </dsp:nvSpPr>
      <dsp:spPr>
        <a:xfrm>
          <a:off x="38571" y="92460"/>
          <a:ext cx="308019" cy="308019"/>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057AA4-6B99-4765-B65C-F2A49D61E9A4}">
      <dsp:nvSpPr>
        <dsp:cNvPr id="0" name=""/>
        <dsp:cNvSpPr/>
      </dsp:nvSpPr>
      <dsp:spPr>
        <a:xfrm>
          <a:off x="415732" y="493103"/>
          <a:ext cx="4594667" cy="246415"/>
        </a:xfrm>
        <a:prstGeom prst="rect">
          <a:avLst/>
        </a:prstGeom>
        <a:solidFill>
          <a:schemeClr val="accent2">
            <a:hueOff val="14991"/>
            <a:satOff val="789"/>
            <a:lumOff val="-27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Функциональные тесты</a:t>
          </a:r>
          <a:endParaRPr lang="en-US" sz="1300" kern="1200" dirty="0"/>
        </a:p>
      </dsp:txBody>
      <dsp:txXfrm>
        <a:off x="415732" y="493103"/>
        <a:ext cx="4594667" cy="246415"/>
      </dsp:txXfrm>
    </dsp:sp>
    <dsp:sp modelId="{CFC92559-296B-428E-BF86-2A182D5CC65F}">
      <dsp:nvSpPr>
        <dsp:cNvPr id="0" name=""/>
        <dsp:cNvSpPr/>
      </dsp:nvSpPr>
      <dsp:spPr>
        <a:xfrm>
          <a:off x="261722" y="462301"/>
          <a:ext cx="308019" cy="308019"/>
        </a:xfrm>
        <a:prstGeom prst="ellipse">
          <a:avLst/>
        </a:prstGeom>
        <a:solidFill>
          <a:schemeClr val="lt1">
            <a:hueOff val="0"/>
            <a:satOff val="0"/>
            <a:lumOff val="0"/>
            <a:alphaOff val="0"/>
          </a:schemeClr>
        </a:solidFill>
        <a:ln w="25400" cap="flat" cmpd="sng" algn="ctr">
          <a:solidFill>
            <a:schemeClr val="accent2">
              <a:hueOff val="14991"/>
              <a:satOff val="789"/>
              <a:lumOff val="-2778"/>
              <a:alphaOff val="0"/>
            </a:schemeClr>
          </a:solidFill>
          <a:prstDash val="solid"/>
        </a:ln>
        <a:effectLst/>
      </dsp:spPr>
      <dsp:style>
        <a:lnRef idx="2">
          <a:scrgbClr r="0" g="0" b="0"/>
        </a:lnRef>
        <a:fillRef idx="1">
          <a:scrgbClr r="0" g="0" b="0"/>
        </a:fillRef>
        <a:effectRef idx="0">
          <a:scrgbClr r="0" g="0" b="0"/>
        </a:effectRef>
        <a:fontRef idx="minor"/>
      </dsp:style>
    </dsp:sp>
    <dsp:sp modelId="{C89A1466-CE09-4E89-BD40-73FD2268E238}">
      <dsp:nvSpPr>
        <dsp:cNvPr id="0" name=""/>
        <dsp:cNvSpPr/>
      </dsp:nvSpPr>
      <dsp:spPr>
        <a:xfrm>
          <a:off x="538018" y="862672"/>
          <a:ext cx="4472381" cy="246415"/>
        </a:xfrm>
        <a:prstGeom prst="rect">
          <a:avLst/>
        </a:prstGeom>
        <a:solidFill>
          <a:schemeClr val="accent2">
            <a:hueOff val="29981"/>
            <a:satOff val="1579"/>
            <a:lumOff val="-55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Сравнительные тесты</a:t>
          </a:r>
          <a:endParaRPr lang="en-US" sz="1300" kern="1200" dirty="0"/>
        </a:p>
      </dsp:txBody>
      <dsp:txXfrm>
        <a:off x="538018" y="862672"/>
        <a:ext cx="4472381" cy="246415"/>
      </dsp:txXfrm>
    </dsp:sp>
    <dsp:sp modelId="{167CD798-80F4-455E-8FFE-C2E7054439D6}">
      <dsp:nvSpPr>
        <dsp:cNvPr id="0" name=""/>
        <dsp:cNvSpPr/>
      </dsp:nvSpPr>
      <dsp:spPr>
        <a:xfrm>
          <a:off x="384009" y="831870"/>
          <a:ext cx="308019" cy="308019"/>
        </a:xfrm>
        <a:prstGeom prst="ellipse">
          <a:avLst/>
        </a:prstGeom>
        <a:solidFill>
          <a:schemeClr val="lt1">
            <a:hueOff val="0"/>
            <a:satOff val="0"/>
            <a:lumOff val="0"/>
            <a:alphaOff val="0"/>
          </a:schemeClr>
        </a:solidFill>
        <a:ln w="25400" cap="flat" cmpd="sng" algn="ctr">
          <a:solidFill>
            <a:schemeClr val="accent2">
              <a:hueOff val="29981"/>
              <a:satOff val="1579"/>
              <a:lumOff val="-5556"/>
              <a:alphaOff val="0"/>
            </a:schemeClr>
          </a:solidFill>
          <a:prstDash val="solid"/>
        </a:ln>
        <a:effectLst/>
      </dsp:spPr>
      <dsp:style>
        <a:lnRef idx="2">
          <a:scrgbClr r="0" g="0" b="0"/>
        </a:lnRef>
        <a:fillRef idx="1">
          <a:scrgbClr r="0" g="0" b="0"/>
        </a:fillRef>
        <a:effectRef idx="0">
          <a:scrgbClr r="0" g="0" b="0"/>
        </a:effectRef>
        <a:fontRef idx="minor"/>
      </dsp:style>
    </dsp:sp>
    <dsp:sp modelId="{A6557092-2807-4063-A30E-9AE4C6971109}">
      <dsp:nvSpPr>
        <dsp:cNvPr id="0" name=""/>
        <dsp:cNvSpPr/>
      </dsp:nvSpPr>
      <dsp:spPr>
        <a:xfrm>
          <a:off x="577063" y="1232513"/>
          <a:ext cx="4433336" cy="246415"/>
        </a:xfrm>
        <a:prstGeom prst="rect">
          <a:avLst/>
        </a:prstGeom>
        <a:solidFill>
          <a:schemeClr val="accent2">
            <a:hueOff val="44972"/>
            <a:satOff val="2368"/>
            <a:lumOff val="-83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Сценарные тесты</a:t>
          </a:r>
          <a:endParaRPr lang="en-US" sz="1300" kern="1200" dirty="0"/>
        </a:p>
      </dsp:txBody>
      <dsp:txXfrm>
        <a:off x="577063" y="1232513"/>
        <a:ext cx="4433336" cy="246415"/>
      </dsp:txXfrm>
    </dsp:sp>
    <dsp:sp modelId="{095C1B4F-267D-4CA4-B7FA-D3685DCB57B0}">
      <dsp:nvSpPr>
        <dsp:cNvPr id="0" name=""/>
        <dsp:cNvSpPr/>
      </dsp:nvSpPr>
      <dsp:spPr>
        <a:xfrm>
          <a:off x="423053" y="1201711"/>
          <a:ext cx="308019" cy="308019"/>
        </a:xfrm>
        <a:prstGeom prst="ellipse">
          <a:avLst/>
        </a:prstGeom>
        <a:solidFill>
          <a:schemeClr val="lt1">
            <a:hueOff val="0"/>
            <a:satOff val="0"/>
            <a:lumOff val="0"/>
            <a:alphaOff val="0"/>
          </a:schemeClr>
        </a:solidFill>
        <a:ln w="25400" cap="flat" cmpd="sng" algn="ctr">
          <a:solidFill>
            <a:schemeClr val="accent2">
              <a:hueOff val="44972"/>
              <a:satOff val="2368"/>
              <a:lumOff val="-8333"/>
              <a:alphaOff val="0"/>
            </a:schemeClr>
          </a:solidFill>
          <a:prstDash val="solid"/>
        </a:ln>
        <a:effectLst/>
      </dsp:spPr>
      <dsp:style>
        <a:lnRef idx="2">
          <a:scrgbClr r="0" g="0" b="0"/>
        </a:lnRef>
        <a:fillRef idx="1">
          <a:scrgbClr r="0" g="0" b="0"/>
        </a:fillRef>
        <a:effectRef idx="0">
          <a:scrgbClr r="0" g="0" b="0"/>
        </a:effectRef>
        <a:fontRef idx="minor"/>
      </dsp:style>
    </dsp:sp>
    <dsp:sp modelId="{060C13D6-5A8D-4496-81D8-8D5BAF83926B}">
      <dsp:nvSpPr>
        <dsp:cNvPr id="0" name=""/>
        <dsp:cNvSpPr/>
      </dsp:nvSpPr>
      <dsp:spPr>
        <a:xfrm>
          <a:off x="538018" y="1602354"/>
          <a:ext cx="4472381" cy="246415"/>
        </a:xfrm>
        <a:prstGeom prst="rect">
          <a:avLst/>
        </a:prstGeom>
        <a:solidFill>
          <a:schemeClr val="accent2">
            <a:hueOff val="59962"/>
            <a:satOff val="3158"/>
            <a:lumOff val="-111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Тесты ошибочных ситуаций</a:t>
          </a:r>
          <a:endParaRPr lang="en-US" sz="1300" kern="1200" dirty="0"/>
        </a:p>
      </dsp:txBody>
      <dsp:txXfrm>
        <a:off x="538018" y="1602354"/>
        <a:ext cx="4472381" cy="246415"/>
      </dsp:txXfrm>
    </dsp:sp>
    <dsp:sp modelId="{0BECB481-F3BC-4C30-B0F7-969F385C6901}">
      <dsp:nvSpPr>
        <dsp:cNvPr id="0" name=""/>
        <dsp:cNvSpPr/>
      </dsp:nvSpPr>
      <dsp:spPr>
        <a:xfrm>
          <a:off x="384009" y="1571552"/>
          <a:ext cx="308019" cy="308019"/>
        </a:xfrm>
        <a:prstGeom prst="ellipse">
          <a:avLst/>
        </a:prstGeom>
        <a:solidFill>
          <a:schemeClr val="lt1">
            <a:hueOff val="0"/>
            <a:satOff val="0"/>
            <a:lumOff val="0"/>
            <a:alphaOff val="0"/>
          </a:schemeClr>
        </a:solidFill>
        <a:ln w="25400" cap="flat" cmpd="sng" algn="ctr">
          <a:solidFill>
            <a:schemeClr val="accent2">
              <a:hueOff val="59962"/>
              <a:satOff val="3158"/>
              <a:lumOff val="-11111"/>
              <a:alphaOff val="0"/>
            </a:schemeClr>
          </a:solidFill>
          <a:prstDash val="solid"/>
        </a:ln>
        <a:effectLst/>
      </dsp:spPr>
      <dsp:style>
        <a:lnRef idx="2">
          <a:scrgbClr r="0" g="0" b="0"/>
        </a:lnRef>
        <a:fillRef idx="1">
          <a:scrgbClr r="0" g="0" b="0"/>
        </a:fillRef>
        <a:effectRef idx="0">
          <a:scrgbClr r="0" g="0" b="0"/>
        </a:effectRef>
        <a:fontRef idx="minor"/>
      </dsp:style>
    </dsp:sp>
    <dsp:sp modelId="{B5B702D4-A50D-40FC-B7AF-C7DB6F713EA5}">
      <dsp:nvSpPr>
        <dsp:cNvPr id="0" name=""/>
        <dsp:cNvSpPr/>
      </dsp:nvSpPr>
      <dsp:spPr>
        <a:xfrm>
          <a:off x="415732" y="1971924"/>
          <a:ext cx="4594667" cy="246415"/>
        </a:xfrm>
        <a:prstGeom prst="rect">
          <a:avLst/>
        </a:prstGeom>
        <a:solidFill>
          <a:schemeClr val="accent2">
            <a:hueOff val="74953"/>
            <a:satOff val="3947"/>
            <a:lumOff val="-138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Тесты интерфейса</a:t>
          </a:r>
          <a:endParaRPr lang="en-US" sz="1300" kern="1200" dirty="0"/>
        </a:p>
      </dsp:txBody>
      <dsp:txXfrm>
        <a:off x="415732" y="1971924"/>
        <a:ext cx="4594667" cy="246415"/>
      </dsp:txXfrm>
    </dsp:sp>
    <dsp:sp modelId="{5DBF99AC-315F-4D49-B318-CB57AE6EC46B}">
      <dsp:nvSpPr>
        <dsp:cNvPr id="0" name=""/>
        <dsp:cNvSpPr/>
      </dsp:nvSpPr>
      <dsp:spPr>
        <a:xfrm>
          <a:off x="261722" y="1941122"/>
          <a:ext cx="308019" cy="308019"/>
        </a:xfrm>
        <a:prstGeom prst="ellipse">
          <a:avLst/>
        </a:prstGeom>
        <a:solidFill>
          <a:schemeClr val="lt1">
            <a:hueOff val="0"/>
            <a:satOff val="0"/>
            <a:lumOff val="0"/>
            <a:alphaOff val="0"/>
          </a:schemeClr>
        </a:solidFill>
        <a:ln w="25400" cap="flat" cmpd="sng" algn="ctr">
          <a:solidFill>
            <a:schemeClr val="accent2">
              <a:hueOff val="74953"/>
              <a:satOff val="3947"/>
              <a:lumOff val="-13889"/>
              <a:alphaOff val="0"/>
            </a:schemeClr>
          </a:solidFill>
          <a:prstDash val="solid"/>
        </a:ln>
        <a:effectLst/>
      </dsp:spPr>
      <dsp:style>
        <a:lnRef idx="2">
          <a:scrgbClr r="0" g="0" b="0"/>
        </a:lnRef>
        <a:fillRef idx="1">
          <a:scrgbClr r="0" g="0" b="0"/>
        </a:fillRef>
        <a:effectRef idx="0">
          <a:scrgbClr r="0" g="0" b="0"/>
        </a:effectRef>
        <a:fontRef idx="minor"/>
      </dsp:style>
    </dsp:sp>
    <dsp:sp modelId="{B737B773-D0CB-4FD1-90A2-AA8311876F1E}">
      <dsp:nvSpPr>
        <dsp:cNvPr id="0" name=""/>
        <dsp:cNvSpPr/>
      </dsp:nvSpPr>
      <dsp:spPr>
        <a:xfrm>
          <a:off x="192581" y="2341764"/>
          <a:ext cx="4817819" cy="246415"/>
        </a:xfrm>
        <a:prstGeom prst="rect">
          <a:avLst/>
        </a:prstGeom>
        <a:solidFill>
          <a:schemeClr val="accent2">
            <a:hueOff val="89943"/>
            <a:satOff val="4737"/>
            <a:lumOff val="-1666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5593" tIns="33020" rIns="33020" bIns="33020" numCol="1" spcCol="1270" anchor="ctr" anchorCtr="0">
          <a:noAutofit/>
        </a:bodyPr>
        <a:lstStyle/>
        <a:p>
          <a:pPr marL="0" lvl="0" indent="0" algn="l" defTabSz="577850">
            <a:lnSpc>
              <a:spcPct val="90000"/>
            </a:lnSpc>
            <a:spcBef>
              <a:spcPct val="0"/>
            </a:spcBef>
            <a:spcAft>
              <a:spcPct val="35000"/>
            </a:spcAft>
            <a:buNone/>
          </a:pPr>
          <a:r>
            <a:rPr lang="ru-RU" sz="1300" kern="1200" dirty="0"/>
            <a:t>Тесты удобства использования</a:t>
          </a:r>
          <a:endParaRPr lang="en-US" sz="1300" kern="1200" dirty="0"/>
        </a:p>
      </dsp:txBody>
      <dsp:txXfrm>
        <a:off x="192581" y="2341764"/>
        <a:ext cx="4817819" cy="246415"/>
      </dsp:txXfrm>
    </dsp:sp>
    <dsp:sp modelId="{590A6888-407C-44BE-B6C6-E3E681FFB9A5}">
      <dsp:nvSpPr>
        <dsp:cNvPr id="0" name=""/>
        <dsp:cNvSpPr/>
      </dsp:nvSpPr>
      <dsp:spPr>
        <a:xfrm>
          <a:off x="38571" y="2310962"/>
          <a:ext cx="308019" cy="308019"/>
        </a:xfrm>
        <a:prstGeom prst="ellipse">
          <a:avLst/>
        </a:prstGeom>
        <a:solidFill>
          <a:schemeClr val="lt1">
            <a:hueOff val="0"/>
            <a:satOff val="0"/>
            <a:lumOff val="0"/>
            <a:alphaOff val="0"/>
          </a:schemeClr>
        </a:solidFill>
        <a:ln w="25400" cap="flat" cmpd="sng" algn="ctr">
          <a:solidFill>
            <a:schemeClr val="accent2">
              <a:hueOff val="89943"/>
              <a:satOff val="4737"/>
              <a:lumOff val="-16667"/>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FE31E-1F08-4AFA-B80E-0BED20A26FBE}">
      <dsp:nvSpPr>
        <dsp:cNvPr id="0" name=""/>
        <dsp:cNvSpPr/>
      </dsp:nvSpPr>
      <dsp:spPr>
        <a:xfrm>
          <a:off x="-4538770" y="-696084"/>
          <a:ext cx="5407775" cy="5407775"/>
        </a:xfrm>
        <a:prstGeom prst="blockArc">
          <a:avLst>
            <a:gd name="adj1" fmla="val 18900000"/>
            <a:gd name="adj2" fmla="val 2700000"/>
            <a:gd name="adj3" fmla="val 399"/>
          </a:avLst>
        </a:pr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F7D0D3-9DF8-484A-BEA0-0F9D0DFBFB1D}">
      <dsp:nvSpPr>
        <dsp:cNvPr id="0" name=""/>
        <dsp:cNvSpPr/>
      </dsp:nvSpPr>
      <dsp:spPr>
        <a:xfrm>
          <a:off x="281694" y="182549"/>
          <a:ext cx="8236203" cy="3649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Они направлены на поиск одной и той же ошибки</a:t>
          </a:r>
          <a:endParaRPr lang="en-US" sz="1200" kern="1200" dirty="0"/>
        </a:p>
      </dsp:txBody>
      <dsp:txXfrm>
        <a:off x="281694" y="182549"/>
        <a:ext cx="8236203" cy="364938"/>
      </dsp:txXfrm>
    </dsp:sp>
    <dsp:sp modelId="{BFBF620C-70D4-43EE-8217-EA274A755E5F}">
      <dsp:nvSpPr>
        <dsp:cNvPr id="0" name=""/>
        <dsp:cNvSpPr/>
      </dsp:nvSpPr>
      <dsp:spPr>
        <a:xfrm>
          <a:off x="53608" y="136932"/>
          <a:ext cx="456172" cy="456172"/>
        </a:xfrm>
        <a:prstGeom prst="ellipse">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FC3E97-540C-4F9C-AA40-7B988E4CE402}">
      <dsp:nvSpPr>
        <dsp:cNvPr id="0" name=""/>
        <dsp:cNvSpPr/>
      </dsp:nvSpPr>
      <dsp:spPr>
        <a:xfrm>
          <a:off x="612179" y="730278"/>
          <a:ext cx="7905719" cy="364938"/>
        </a:xfrm>
        <a:prstGeom prst="rect">
          <a:avLst/>
        </a:prstGeom>
        <a:solidFill>
          <a:schemeClr val="accent2">
            <a:hueOff val="14991"/>
            <a:satOff val="789"/>
            <a:lumOff val="-27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Если один из тестов обнаруживает ошибку, другие ее тоже, скорее всего обнаружат, и наоборот</a:t>
          </a:r>
          <a:endParaRPr lang="en-US" sz="1200" kern="1200" dirty="0"/>
        </a:p>
      </dsp:txBody>
      <dsp:txXfrm>
        <a:off x="612179" y="730278"/>
        <a:ext cx="7905719" cy="364938"/>
      </dsp:txXfrm>
    </dsp:sp>
    <dsp:sp modelId="{E0F1897C-C95C-4353-8D2B-0D096F66F82F}">
      <dsp:nvSpPr>
        <dsp:cNvPr id="0" name=""/>
        <dsp:cNvSpPr/>
      </dsp:nvSpPr>
      <dsp:spPr>
        <a:xfrm>
          <a:off x="384092" y="684660"/>
          <a:ext cx="456172" cy="456172"/>
        </a:xfrm>
        <a:prstGeom prst="ellipse">
          <a:avLst/>
        </a:prstGeom>
        <a:solidFill>
          <a:schemeClr val="lt1">
            <a:hueOff val="0"/>
            <a:satOff val="0"/>
            <a:lumOff val="0"/>
            <a:alphaOff val="0"/>
          </a:schemeClr>
        </a:solidFill>
        <a:ln w="25400" cap="flat" cmpd="sng" algn="ctr">
          <a:solidFill>
            <a:schemeClr val="accent2">
              <a:hueOff val="14991"/>
              <a:satOff val="789"/>
              <a:lumOff val="-2778"/>
              <a:alphaOff val="0"/>
            </a:schemeClr>
          </a:solidFill>
          <a:prstDash val="solid"/>
        </a:ln>
        <a:effectLst/>
      </dsp:spPr>
      <dsp:style>
        <a:lnRef idx="2">
          <a:scrgbClr r="0" g="0" b="0"/>
        </a:lnRef>
        <a:fillRef idx="1">
          <a:scrgbClr r="0" g="0" b="0"/>
        </a:fillRef>
        <a:effectRef idx="0">
          <a:scrgbClr r="0" g="0" b="0"/>
        </a:effectRef>
        <a:fontRef idx="minor"/>
      </dsp:style>
    </dsp:sp>
    <dsp:sp modelId="{4DF29975-FFCC-4224-94DA-3B52233915F5}">
      <dsp:nvSpPr>
        <dsp:cNvPr id="0" name=""/>
        <dsp:cNvSpPr/>
      </dsp:nvSpPr>
      <dsp:spPr>
        <a:xfrm>
          <a:off x="793283" y="1277605"/>
          <a:ext cx="7724615" cy="364938"/>
        </a:xfrm>
        <a:prstGeom prst="rect">
          <a:avLst/>
        </a:prstGeom>
        <a:solidFill>
          <a:schemeClr val="accent2">
            <a:hueOff val="29981"/>
            <a:satOff val="1579"/>
            <a:lumOff val="-55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Тесты используют схожие наборы входных данных</a:t>
          </a:r>
          <a:endParaRPr lang="en-US" sz="1200" kern="1200" dirty="0"/>
        </a:p>
      </dsp:txBody>
      <dsp:txXfrm>
        <a:off x="793283" y="1277605"/>
        <a:ext cx="7724615" cy="364938"/>
      </dsp:txXfrm>
    </dsp:sp>
    <dsp:sp modelId="{87897D3B-C8E4-454E-9927-EDCD7851B349}">
      <dsp:nvSpPr>
        <dsp:cNvPr id="0" name=""/>
        <dsp:cNvSpPr/>
      </dsp:nvSpPr>
      <dsp:spPr>
        <a:xfrm>
          <a:off x="565196" y="1231988"/>
          <a:ext cx="456172" cy="456172"/>
        </a:xfrm>
        <a:prstGeom prst="ellipse">
          <a:avLst/>
        </a:prstGeom>
        <a:solidFill>
          <a:schemeClr val="lt1">
            <a:hueOff val="0"/>
            <a:satOff val="0"/>
            <a:lumOff val="0"/>
            <a:alphaOff val="0"/>
          </a:schemeClr>
        </a:solidFill>
        <a:ln w="25400" cap="flat" cmpd="sng" algn="ctr">
          <a:solidFill>
            <a:schemeClr val="accent2">
              <a:hueOff val="29981"/>
              <a:satOff val="1579"/>
              <a:lumOff val="-5556"/>
              <a:alphaOff val="0"/>
            </a:schemeClr>
          </a:solidFill>
          <a:prstDash val="solid"/>
        </a:ln>
        <a:effectLst/>
      </dsp:spPr>
      <dsp:style>
        <a:lnRef idx="2">
          <a:scrgbClr r="0" g="0" b="0"/>
        </a:lnRef>
        <a:fillRef idx="1">
          <a:scrgbClr r="0" g="0" b="0"/>
        </a:fillRef>
        <a:effectRef idx="0">
          <a:scrgbClr r="0" g="0" b="0"/>
        </a:effectRef>
        <a:fontRef idx="minor"/>
      </dsp:style>
    </dsp:sp>
    <dsp:sp modelId="{43C51388-9EBB-4D66-B79A-D7137F49D372}">
      <dsp:nvSpPr>
        <dsp:cNvPr id="0" name=""/>
        <dsp:cNvSpPr/>
      </dsp:nvSpPr>
      <dsp:spPr>
        <a:xfrm>
          <a:off x="851107" y="1825334"/>
          <a:ext cx="7666790" cy="364938"/>
        </a:xfrm>
        <a:prstGeom prst="rect">
          <a:avLst/>
        </a:prstGeom>
        <a:solidFill>
          <a:schemeClr val="accent2">
            <a:hueOff val="44972"/>
            <a:satOff val="2368"/>
            <a:lumOff val="-833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Для выполнения тестов мы совершаем одни и те же операции</a:t>
          </a:r>
          <a:endParaRPr lang="en-US" sz="1200" kern="1200" dirty="0"/>
        </a:p>
      </dsp:txBody>
      <dsp:txXfrm>
        <a:off x="851107" y="1825334"/>
        <a:ext cx="7666790" cy="364938"/>
      </dsp:txXfrm>
    </dsp:sp>
    <dsp:sp modelId="{C96E061C-BCD7-45F9-BA9C-78AF40B88B75}">
      <dsp:nvSpPr>
        <dsp:cNvPr id="0" name=""/>
        <dsp:cNvSpPr/>
      </dsp:nvSpPr>
      <dsp:spPr>
        <a:xfrm>
          <a:off x="623021" y="1779717"/>
          <a:ext cx="456172" cy="456172"/>
        </a:xfrm>
        <a:prstGeom prst="ellipse">
          <a:avLst/>
        </a:prstGeom>
        <a:solidFill>
          <a:schemeClr val="lt1">
            <a:hueOff val="0"/>
            <a:satOff val="0"/>
            <a:lumOff val="0"/>
            <a:alphaOff val="0"/>
          </a:schemeClr>
        </a:solidFill>
        <a:ln w="25400" cap="flat" cmpd="sng" algn="ctr">
          <a:solidFill>
            <a:schemeClr val="accent2">
              <a:hueOff val="44972"/>
              <a:satOff val="2368"/>
              <a:lumOff val="-8333"/>
              <a:alphaOff val="0"/>
            </a:schemeClr>
          </a:solidFill>
          <a:prstDash val="solid"/>
        </a:ln>
        <a:effectLst/>
      </dsp:spPr>
      <dsp:style>
        <a:lnRef idx="2">
          <a:scrgbClr r="0" g="0" b="0"/>
        </a:lnRef>
        <a:fillRef idx="1">
          <a:scrgbClr r="0" g="0" b="0"/>
        </a:fillRef>
        <a:effectRef idx="0">
          <a:scrgbClr r="0" g="0" b="0"/>
        </a:effectRef>
        <a:fontRef idx="minor"/>
      </dsp:style>
    </dsp:sp>
    <dsp:sp modelId="{547ED57D-F25F-45D0-8BC4-FFF8C42E9294}">
      <dsp:nvSpPr>
        <dsp:cNvPr id="0" name=""/>
        <dsp:cNvSpPr/>
      </dsp:nvSpPr>
      <dsp:spPr>
        <a:xfrm>
          <a:off x="793283" y="2373063"/>
          <a:ext cx="7724615" cy="364938"/>
        </a:xfrm>
        <a:prstGeom prst="rect">
          <a:avLst/>
        </a:prstGeom>
        <a:solidFill>
          <a:schemeClr val="accent2">
            <a:hueOff val="59962"/>
            <a:satOff val="3158"/>
            <a:lumOff val="-111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Тесты генерируют одинаковые выходные данные или приводят приложение в одно и то же состояние</a:t>
          </a:r>
          <a:endParaRPr lang="en-US" sz="1200" kern="1200" dirty="0"/>
        </a:p>
      </dsp:txBody>
      <dsp:txXfrm>
        <a:off x="793283" y="2373063"/>
        <a:ext cx="7724615" cy="364938"/>
      </dsp:txXfrm>
    </dsp:sp>
    <dsp:sp modelId="{CDFD5C97-56D7-4FCC-9182-ECBBCAFFC7E7}">
      <dsp:nvSpPr>
        <dsp:cNvPr id="0" name=""/>
        <dsp:cNvSpPr/>
      </dsp:nvSpPr>
      <dsp:spPr>
        <a:xfrm>
          <a:off x="565196" y="2327445"/>
          <a:ext cx="456172" cy="456172"/>
        </a:xfrm>
        <a:prstGeom prst="ellipse">
          <a:avLst/>
        </a:prstGeom>
        <a:solidFill>
          <a:schemeClr val="lt1">
            <a:hueOff val="0"/>
            <a:satOff val="0"/>
            <a:lumOff val="0"/>
            <a:alphaOff val="0"/>
          </a:schemeClr>
        </a:solidFill>
        <a:ln w="25400" cap="flat" cmpd="sng" algn="ctr">
          <a:solidFill>
            <a:schemeClr val="accent2">
              <a:hueOff val="59962"/>
              <a:satOff val="3158"/>
              <a:lumOff val="-11111"/>
              <a:alphaOff val="0"/>
            </a:schemeClr>
          </a:solidFill>
          <a:prstDash val="solid"/>
        </a:ln>
        <a:effectLst/>
      </dsp:spPr>
      <dsp:style>
        <a:lnRef idx="2">
          <a:scrgbClr r="0" g="0" b="0"/>
        </a:lnRef>
        <a:fillRef idx="1">
          <a:scrgbClr r="0" g="0" b="0"/>
        </a:fillRef>
        <a:effectRef idx="0">
          <a:scrgbClr r="0" g="0" b="0"/>
        </a:effectRef>
        <a:fontRef idx="minor"/>
      </dsp:style>
    </dsp:sp>
    <dsp:sp modelId="{65202B14-A835-41F9-8CA1-B95FE64097C1}">
      <dsp:nvSpPr>
        <dsp:cNvPr id="0" name=""/>
        <dsp:cNvSpPr/>
      </dsp:nvSpPr>
      <dsp:spPr>
        <a:xfrm>
          <a:off x="612179" y="2920390"/>
          <a:ext cx="7905719" cy="364938"/>
        </a:xfrm>
        <a:prstGeom prst="rect">
          <a:avLst/>
        </a:prstGeom>
        <a:solidFill>
          <a:schemeClr val="accent2">
            <a:hueOff val="74953"/>
            <a:satOff val="3947"/>
            <a:lumOff val="-138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Все тесты приводят к срабатыванию одного и того же блока обработки ошибок</a:t>
          </a:r>
          <a:endParaRPr lang="en-US" sz="1200" kern="1200" dirty="0"/>
        </a:p>
      </dsp:txBody>
      <dsp:txXfrm>
        <a:off x="612179" y="2920390"/>
        <a:ext cx="7905719" cy="364938"/>
      </dsp:txXfrm>
    </dsp:sp>
    <dsp:sp modelId="{A4A347E7-4249-4009-B3AC-91325942D75D}">
      <dsp:nvSpPr>
        <dsp:cNvPr id="0" name=""/>
        <dsp:cNvSpPr/>
      </dsp:nvSpPr>
      <dsp:spPr>
        <a:xfrm>
          <a:off x="384092" y="2874773"/>
          <a:ext cx="456172" cy="456172"/>
        </a:xfrm>
        <a:prstGeom prst="ellipse">
          <a:avLst/>
        </a:prstGeom>
        <a:solidFill>
          <a:schemeClr val="lt1">
            <a:hueOff val="0"/>
            <a:satOff val="0"/>
            <a:lumOff val="0"/>
            <a:alphaOff val="0"/>
          </a:schemeClr>
        </a:solidFill>
        <a:ln w="25400" cap="flat" cmpd="sng" algn="ctr">
          <a:solidFill>
            <a:schemeClr val="accent2">
              <a:hueOff val="74953"/>
              <a:satOff val="3947"/>
              <a:lumOff val="-13889"/>
              <a:alphaOff val="0"/>
            </a:schemeClr>
          </a:solidFill>
          <a:prstDash val="solid"/>
        </a:ln>
        <a:effectLst/>
      </dsp:spPr>
      <dsp:style>
        <a:lnRef idx="2">
          <a:scrgbClr r="0" g="0" b="0"/>
        </a:lnRef>
        <a:fillRef idx="1">
          <a:scrgbClr r="0" g="0" b="0"/>
        </a:fillRef>
        <a:effectRef idx="0">
          <a:scrgbClr r="0" g="0" b="0"/>
        </a:effectRef>
        <a:fontRef idx="minor"/>
      </dsp:style>
    </dsp:sp>
    <dsp:sp modelId="{60F79C4C-CC69-4FE6-9F49-ACF29CC4E304}">
      <dsp:nvSpPr>
        <dsp:cNvPr id="0" name=""/>
        <dsp:cNvSpPr/>
      </dsp:nvSpPr>
      <dsp:spPr>
        <a:xfrm>
          <a:off x="281694" y="3468119"/>
          <a:ext cx="8236203" cy="364938"/>
        </a:xfrm>
        <a:prstGeom prst="rect">
          <a:avLst/>
        </a:prstGeom>
        <a:solidFill>
          <a:schemeClr val="accent2">
            <a:hueOff val="89943"/>
            <a:satOff val="4737"/>
            <a:lumOff val="-1666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9670" tIns="30480" rIns="30480" bIns="30480" numCol="1" spcCol="1270" anchor="ctr" anchorCtr="0">
          <a:noAutofit/>
        </a:bodyPr>
        <a:lstStyle/>
        <a:p>
          <a:pPr marL="0" lvl="0" indent="0" algn="l" defTabSz="533400">
            <a:lnSpc>
              <a:spcPct val="90000"/>
            </a:lnSpc>
            <a:spcBef>
              <a:spcPct val="0"/>
            </a:spcBef>
            <a:spcAft>
              <a:spcPct val="35000"/>
            </a:spcAft>
            <a:buNone/>
          </a:pPr>
          <a:r>
            <a:rPr lang="ru-RU" sz="1200" kern="1200" dirty="0"/>
            <a:t>Ни один из тестов не приводит к срабатыванию блока обработки ошибок</a:t>
          </a:r>
          <a:endParaRPr lang="en-US" sz="1200" kern="1200" dirty="0"/>
        </a:p>
      </dsp:txBody>
      <dsp:txXfrm>
        <a:off x="281694" y="3468119"/>
        <a:ext cx="8236203" cy="364938"/>
      </dsp:txXfrm>
    </dsp:sp>
    <dsp:sp modelId="{A93E8CF0-E14E-4D2F-9EE0-5A2F3126C70F}">
      <dsp:nvSpPr>
        <dsp:cNvPr id="0" name=""/>
        <dsp:cNvSpPr/>
      </dsp:nvSpPr>
      <dsp:spPr>
        <a:xfrm>
          <a:off x="53608" y="3422501"/>
          <a:ext cx="456172" cy="456172"/>
        </a:xfrm>
        <a:prstGeom prst="ellipse">
          <a:avLst/>
        </a:prstGeom>
        <a:solidFill>
          <a:schemeClr val="lt1">
            <a:hueOff val="0"/>
            <a:satOff val="0"/>
            <a:lumOff val="0"/>
            <a:alphaOff val="0"/>
          </a:schemeClr>
        </a:solidFill>
        <a:ln w="25400" cap="flat" cmpd="sng" algn="ctr">
          <a:solidFill>
            <a:schemeClr val="accent2">
              <a:hueOff val="89943"/>
              <a:satOff val="4737"/>
              <a:lumOff val="-16667"/>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F5E9BF7-95E4-A242-BA1D-05FDCF603BE6}" type="datetime1">
              <a:rPr lang="en-US" smtClean="0"/>
              <a:t>3/20/2020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DDDC95D-4A3A-7D4E-AF7C-745F2732B14A}" type="slidenum">
              <a:rPr lang="en-US" smtClean="0"/>
              <a:t>‹#›</a:t>
            </a:fld>
            <a:endParaRPr lang="en-US"/>
          </a:p>
        </p:txBody>
      </p:sp>
    </p:spTree>
    <p:extLst>
      <p:ext uri="{BB962C8B-B14F-4D97-AF65-F5344CB8AC3E}">
        <p14:creationId xmlns:p14="http://schemas.microsoft.com/office/powerpoint/2010/main" val="30786456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5DBCB1-0306-AD41-9452-11E7C08D5C04}" type="datetime1">
              <a:rPr lang="en-US" smtClean="0"/>
              <a:t>3/20/2020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E90029-A909-AD4E-9775-A0D64990AD22}" type="slidenum">
              <a:rPr lang="en-US" smtClean="0"/>
              <a:t>‹#›</a:t>
            </a:fld>
            <a:endParaRPr lang="en-US"/>
          </a:p>
        </p:txBody>
      </p:sp>
    </p:spTree>
    <p:extLst>
      <p:ext uri="{BB962C8B-B14F-4D97-AF65-F5344CB8AC3E}">
        <p14:creationId xmlns:p14="http://schemas.microsoft.com/office/powerpoint/2010/main" val="51872081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E90029-A909-AD4E-9775-A0D64990AD22}" type="slidenum">
              <a:rPr lang="en-US" smtClean="0"/>
              <a:t>2</a:t>
            </a:fld>
            <a:endParaRPr lang="en-US"/>
          </a:p>
        </p:txBody>
      </p:sp>
    </p:spTree>
    <p:extLst>
      <p:ext uri="{BB962C8B-B14F-4D97-AF65-F5344CB8AC3E}">
        <p14:creationId xmlns:p14="http://schemas.microsoft.com/office/powerpoint/2010/main" val="3326685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19</a:t>
            </a:fld>
            <a:endParaRPr lang="en-US"/>
          </a:p>
        </p:txBody>
      </p:sp>
    </p:spTree>
    <p:extLst>
      <p:ext uri="{BB962C8B-B14F-4D97-AF65-F5344CB8AC3E}">
        <p14:creationId xmlns:p14="http://schemas.microsoft.com/office/powerpoint/2010/main" val="402256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20</a:t>
            </a:fld>
            <a:endParaRPr lang="en-US"/>
          </a:p>
        </p:txBody>
      </p:sp>
    </p:spTree>
    <p:extLst>
      <p:ext uri="{BB962C8B-B14F-4D97-AF65-F5344CB8AC3E}">
        <p14:creationId xmlns:p14="http://schemas.microsoft.com/office/powerpoint/2010/main" val="1955649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39</a:t>
            </a:fld>
            <a:endParaRPr lang="en-US"/>
          </a:p>
        </p:txBody>
      </p:sp>
    </p:spTree>
    <p:extLst>
      <p:ext uri="{BB962C8B-B14F-4D97-AF65-F5344CB8AC3E}">
        <p14:creationId xmlns:p14="http://schemas.microsoft.com/office/powerpoint/2010/main" val="581102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Title">
    <p:spTree>
      <p:nvGrpSpPr>
        <p:cNvPr id="1" name=""/>
        <p:cNvGrpSpPr/>
        <p:nvPr/>
      </p:nvGrpSpPr>
      <p:grpSpPr>
        <a:xfrm>
          <a:off x="0" y="0"/>
          <a:ext cx="0" cy="0"/>
          <a:chOff x="0" y="0"/>
          <a:chExt cx="0" cy="0"/>
        </a:xfrm>
      </p:grpSpPr>
      <p:sp>
        <p:nvSpPr>
          <p:cNvPr id="8" name="Text Placeholder 4"/>
          <p:cNvSpPr>
            <a:spLocks noGrp="1"/>
          </p:cNvSpPr>
          <p:nvPr>
            <p:ph type="body" sz="quarter" idx="10" hasCustomPrompt="1"/>
          </p:nvPr>
        </p:nvSpPr>
        <p:spPr>
          <a:xfrm>
            <a:off x="632881" y="1417371"/>
            <a:ext cx="7450669" cy="744805"/>
          </a:xfrm>
          <a:prstGeom prst="rect">
            <a:avLst/>
          </a:prstGeom>
        </p:spPr>
        <p:txBody>
          <a:bodyPr lIns="68580" tIns="0" rIns="68580" bIns="34290">
            <a:noAutofit/>
          </a:bodyPr>
          <a:lstStyle>
            <a:lvl1pPr marL="0" indent="0">
              <a:lnSpc>
                <a:spcPct val="85000"/>
              </a:lnSpc>
              <a:spcBef>
                <a:spcPts val="0"/>
              </a:spcBef>
              <a:buNone/>
              <a:defRPr sz="4100" kern="0" cap="all" spc="-75" baseline="0">
                <a:latin typeface="Arial Black"/>
                <a:cs typeface="Arial Black"/>
              </a:defRPr>
            </a:lvl1pPr>
          </a:lstStyle>
          <a:p>
            <a:pPr lvl="0"/>
            <a:r>
              <a:rPr lang="en-US" dirty="0"/>
              <a:t>Click to add title</a:t>
            </a:r>
          </a:p>
        </p:txBody>
      </p:sp>
      <p:sp>
        <p:nvSpPr>
          <p:cNvPr id="9" name="Text Placeholder 5"/>
          <p:cNvSpPr>
            <a:spLocks noGrp="1"/>
          </p:cNvSpPr>
          <p:nvPr>
            <p:ph type="body" sz="quarter" idx="11" hasCustomPrompt="1"/>
          </p:nvPr>
        </p:nvSpPr>
        <p:spPr>
          <a:xfrm>
            <a:off x="658067" y="2879524"/>
            <a:ext cx="2626059" cy="277768"/>
          </a:xfrm>
          <a:prstGeom prst="rect">
            <a:avLst/>
          </a:prstGeom>
          <a:solidFill>
            <a:schemeClr val="accent2"/>
          </a:solidFill>
        </p:spPr>
        <p:txBody>
          <a:bodyPr wrap="none" lIns="68580" tIns="27432" rIns="68580" bIns="34290">
            <a:spAutoFit/>
          </a:bodyPr>
          <a:lstStyle>
            <a:lvl1pPr marL="0" indent="0">
              <a:spcBef>
                <a:spcPts val="0"/>
              </a:spcBef>
              <a:buFontTx/>
              <a:buNone/>
              <a:defRPr sz="1400" cap="all" baseline="0">
                <a:solidFill>
                  <a:srgbClr val="FFFFFF"/>
                </a:solidFill>
                <a:latin typeface="Arial Black"/>
                <a:cs typeface="Arial Black"/>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ADD SUBTITLE</a:t>
            </a:r>
          </a:p>
        </p:txBody>
      </p:sp>
      <p:sp>
        <p:nvSpPr>
          <p:cNvPr id="11" name="Text Placeholder 11"/>
          <p:cNvSpPr>
            <a:spLocks noGrp="1"/>
          </p:cNvSpPr>
          <p:nvPr>
            <p:ph type="body" sz="quarter" idx="17" hasCustomPrompt="1"/>
          </p:nvPr>
        </p:nvSpPr>
        <p:spPr>
          <a:xfrm>
            <a:off x="660399" y="4094614"/>
            <a:ext cx="3649662" cy="279797"/>
          </a:xfrm>
          <a:prstGeom prst="rect">
            <a:avLst/>
          </a:prstGeom>
        </p:spPr>
        <p:txBody>
          <a:bodyPr lIns="68580" tIns="34290" rIns="68580" bIns="34290">
            <a:normAutofit/>
          </a:bodyPr>
          <a:lstStyle>
            <a:lvl1pPr marL="0" indent="0">
              <a:buNone/>
              <a:defRPr sz="1400" baseline="0">
                <a:solidFill>
                  <a:schemeClr val="tx1"/>
                </a:solidFill>
              </a:defRPr>
            </a:lvl1pPr>
          </a:lstStyle>
          <a:p>
            <a:pPr lvl="0"/>
            <a:r>
              <a:rPr lang="en-US" dirty="0"/>
              <a:t>MONTH DATE, YEAR</a:t>
            </a:r>
          </a:p>
        </p:txBody>
      </p:sp>
      <p:sp>
        <p:nvSpPr>
          <p:cNvPr id="3" name="Picture Placeholder 2"/>
          <p:cNvSpPr>
            <a:spLocks noGrp="1"/>
          </p:cNvSpPr>
          <p:nvPr>
            <p:ph type="pic" sz="quarter" idx="18" hasCustomPrompt="1"/>
          </p:nvPr>
        </p:nvSpPr>
        <p:spPr>
          <a:xfrm>
            <a:off x="627880" y="504826"/>
            <a:ext cx="1243502" cy="458237"/>
          </a:xfrm>
          <a:prstGeom prst="rect">
            <a:avLst/>
          </a:prstGeom>
        </p:spPr>
        <p:txBody>
          <a:bodyPr vert="horz" lIns="68580" tIns="34290" rIns="68580" bIns="34290"/>
          <a:lstStyle>
            <a:lvl1pPr marL="0" indent="0" algn="ctr">
              <a:buNone/>
              <a:defRPr/>
            </a:lvl1pPr>
          </a:lstStyle>
          <a:p>
            <a:r>
              <a:rPr lang="en-US" dirty="0"/>
              <a:t>logo</a:t>
            </a:r>
          </a:p>
        </p:txBody>
      </p:sp>
      <p:sp>
        <p:nvSpPr>
          <p:cNvPr id="17" name="Picture Placeholder 2"/>
          <p:cNvSpPr>
            <a:spLocks noGrp="1"/>
          </p:cNvSpPr>
          <p:nvPr>
            <p:ph type="pic" sz="quarter" idx="19" hasCustomPrompt="1"/>
          </p:nvPr>
        </p:nvSpPr>
        <p:spPr>
          <a:xfrm>
            <a:off x="2286351" y="504825"/>
            <a:ext cx="1411591" cy="458881"/>
          </a:xfrm>
          <a:prstGeom prst="rect">
            <a:avLst/>
          </a:prstGeom>
        </p:spPr>
        <p:txBody>
          <a:bodyPr vert="horz" lIns="68580" tIns="34290" rIns="68580" bIns="34290"/>
          <a:lstStyle>
            <a:lvl1pPr marL="0" indent="0" algn="ctr">
              <a:buNone/>
              <a:defRPr/>
            </a:lvl1pPr>
          </a:lstStyle>
          <a:p>
            <a:r>
              <a:rPr lang="en-US" dirty="0"/>
              <a:t>logo</a:t>
            </a:r>
          </a:p>
        </p:txBody>
      </p:sp>
      <p:cxnSp>
        <p:nvCxnSpPr>
          <p:cNvPr id="5" name="Straight Connector 4"/>
          <p:cNvCxnSpPr/>
          <p:nvPr userDrawn="1"/>
        </p:nvCxnSpPr>
        <p:spPr>
          <a:xfrm>
            <a:off x="2073088" y="571499"/>
            <a:ext cx="0" cy="347382"/>
          </a:xfrm>
          <a:prstGeom prst="line">
            <a:avLst/>
          </a:prstGeom>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54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sp>
        <p:nvSpPr>
          <p:cNvPr id="11" name="Picture Placeholder 10"/>
          <p:cNvSpPr>
            <a:spLocks noGrp="1"/>
          </p:cNvSpPr>
          <p:nvPr>
            <p:ph type="pic" sz="quarter" idx="18" hasCustomPrompt="1"/>
          </p:nvPr>
        </p:nvSpPr>
        <p:spPr>
          <a:xfrm>
            <a:off x="0" y="0"/>
            <a:ext cx="9144000" cy="5143500"/>
          </a:xfrm>
          <a:prstGeom prst="rect">
            <a:avLst/>
          </a:prstGeom>
        </p:spPr>
        <p:txBody>
          <a:bodyPr vert="horz" lIns="68580" tIns="34290" rIns="68580" bIns="34290" anchor="ctr"/>
          <a:lstStyle>
            <a:lvl1pPr marL="0" indent="0" algn="ctr">
              <a:buNone/>
              <a:defRPr/>
            </a:lvl1pPr>
          </a:lstStyle>
          <a:p>
            <a:r>
              <a:rPr lang="en-US" dirty="0"/>
              <a:t>Background Image</a:t>
            </a:r>
          </a:p>
        </p:txBody>
      </p:sp>
      <p:sp>
        <p:nvSpPr>
          <p:cNvPr id="3" name="Text Placeholder 4"/>
          <p:cNvSpPr>
            <a:spLocks noGrp="1"/>
          </p:cNvSpPr>
          <p:nvPr>
            <p:ph type="body" sz="quarter" idx="15" hasCustomPrompt="1"/>
          </p:nvPr>
        </p:nvSpPr>
        <p:spPr>
          <a:xfrm>
            <a:off x="631825" y="1556683"/>
            <a:ext cx="6910388" cy="595035"/>
          </a:xfrm>
          <a:prstGeom prst="rect">
            <a:avLst/>
          </a:prstGeom>
        </p:spPr>
        <p:txBody>
          <a:bodyPr lIns="68580" tIns="34290" rIns="68580" bIns="34290">
            <a:spAutoFit/>
          </a:bodyPr>
          <a:lstStyle>
            <a:lvl1pPr marL="0" indent="0">
              <a:lnSpc>
                <a:spcPct val="80000"/>
              </a:lnSpc>
              <a:spcBef>
                <a:spcPts val="0"/>
              </a:spcBef>
              <a:buNone/>
              <a:defRPr sz="4100" spc="-150">
                <a:solidFill>
                  <a:schemeClr val="bg1"/>
                </a:solidFill>
                <a:latin typeface="Arial Black"/>
                <a:cs typeface="Arial Black"/>
              </a:defRPr>
            </a:lvl1pPr>
            <a:lvl2pPr>
              <a:defRPr sz="4500">
                <a:latin typeface="Arial Black"/>
                <a:cs typeface="Arial Black"/>
              </a:defRPr>
            </a:lvl2pPr>
            <a:lvl3pPr>
              <a:defRPr sz="4500">
                <a:latin typeface="Arial Black"/>
                <a:cs typeface="Arial Black"/>
              </a:defRPr>
            </a:lvl3pPr>
            <a:lvl4pPr>
              <a:defRPr sz="4500">
                <a:latin typeface="Arial Black"/>
                <a:cs typeface="Arial Black"/>
              </a:defRPr>
            </a:lvl4pPr>
            <a:lvl5pPr>
              <a:defRPr sz="4500">
                <a:latin typeface="Arial Black"/>
                <a:cs typeface="Arial Black"/>
              </a:defRPr>
            </a:lvl5pPr>
          </a:lstStyle>
          <a:p>
            <a:pPr lvl="0"/>
            <a:r>
              <a:rPr lang="en-US" dirty="0"/>
              <a:t>CLICK TO ADD TITLE</a:t>
            </a:r>
          </a:p>
        </p:txBody>
      </p:sp>
      <p:sp>
        <p:nvSpPr>
          <p:cNvPr id="4" name="Text Placeholder 7"/>
          <p:cNvSpPr>
            <a:spLocks noGrp="1"/>
          </p:cNvSpPr>
          <p:nvPr>
            <p:ph type="body" sz="quarter" idx="16" hasCustomPrompt="1"/>
          </p:nvPr>
        </p:nvSpPr>
        <p:spPr>
          <a:xfrm>
            <a:off x="660400" y="3340101"/>
            <a:ext cx="6488113" cy="284693"/>
          </a:xfrm>
          <a:prstGeom prst="rect">
            <a:avLst/>
          </a:prstGeom>
        </p:spPr>
        <p:txBody>
          <a:bodyPr lIns="68580" tIns="34290" rIns="68580" bIns="34290">
            <a:spAutoFit/>
          </a:bodyPr>
          <a:lstStyle>
            <a:lvl1pPr marL="0" indent="0">
              <a:lnSpc>
                <a:spcPct val="100000"/>
              </a:lnSpc>
              <a:spcBef>
                <a:spcPts val="0"/>
              </a:spcBef>
              <a:buFontTx/>
              <a:buNone/>
              <a:defRPr sz="1400">
                <a:solidFill>
                  <a:schemeClr val="bg1"/>
                </a:solidFill>
                <a:latin typeface="Arial Black"/>
                <a:cs typeface="Arial Black"/>
              </a:defRPr>
            </a:lvl1pPr>
          </a:lstStyle>
          <a:p>
            <a:pPr lvl="0"/>
            <a:r>
              <a:rPr lang="en-US" dirty="0"/>
              <a:t>CLICK TO ADD SUBTITLE</a:t>
            </a:r>
          </a:p>
        </p:txBody>
      </p:sp>
      <p:sp>
        <p:nvSpPr>
          <p:cNvPr id="5" name="Text Placeholder 11"/>
          <p:cNvSpPr>
            <a:spLocks noGrp="1"/>
          </p:cNvSpPr>
          <p:nvPr>
            <p:ph type="body" sz="quarter" idx="17" hasCustomPrompt="1"/>
          </p:nvPr>
        </p:nvSpPr>
        <p:spPr>
          <a:xfrm>
            <a:off x="660399" y="4094614"/>
            <a:ext cx="3649662" cy="279797"/>
          </a:xfrm>
          <a:prstGeom prst="rect">
            <a:avLst/>
          </a:prstGeom>
        </p:spPr>
        <p:txBody>
          <a:bodyPr lIns="68580" tIns="34290" rIns="68580" bIns="34290">
            <a:normAutofit/>
          </a:bodyPr>
          <a:lstStyle>
            <a:lvl1pPr marL="0" indent="0">
              <a:buNone/>
              <a:defRPr sz="1400" baseline="0">
                <a:solidFill>
                  <a:schemeClr val="accent2"/>
                </a:solidFill>
              </a:defRPr>
            </a:lvl1pPr>
          </a:lstStyle>
          <a:p>
            <a:pPr lvl="0"/>
            <a:r>
              <a:rPr lang="en-US" dirty="0"/>
              <a:t>MONTH DATE, YEAR</a:t>
            </a:r>
          </a:p>
        </p:txBody>
      </p:sp>
      <p:sp>
        <p:nvSpPr>
          <p:cNvPr id="7" name="Picture Placeholder 2"/>
          <p:cNvSpPr>
            <a:spLocks noGrp="1"/>
          </p:cNvSpPr>
          <p:nvPr>
            <p:ph type="pic" sz="quarter" idx="19" hasCustomPrompt="1"/>
          </p:nvPr>
        </p:nvSpPr>
        <p:spPr>
          <a:xfrm>
            <a:off x="627880" y="504826"/>
            <a:ext cx="1243502" cy="458237"/>
          </a:xfrm>
          <a:prstGeom prst="rect">
            <a:avLst/>
          </a:prstGeom>
        </p:spPr>
        <p:txBody>
          <a:bodyPr vert="horz" lIns="68580" tIns="34290" rIns="68580" bIns="34290"/>
          <a:lstStyle>
            <a:lvl1pPr marL="0" indent="0" algn="ctr">
              <a:buNone/>
              <a:defRPr/>
            </a:lvl1pPr>
          </a:lstStyle>
          <a:p>
            <a:r>
              <a:rPr lang="en-US" dirty="0"/>
              <a:t>logo</a:t>
            </a:r>
          </a:p>
        </p:txBody>
      </p:sp>
    </p:spTree>
    <p:extLst>
      <p:ext uri="{BB962C8B-B14F-4D97-AF65-F5344CB8AC3E}">
        <p14:creationId xmlns:p14="http://schemas.microsoft.com/office/powerpoint/2010/main" val="3425474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Title Only">
    <p:spTree>
      <p:nvGrpSpPr>
        <p:cNvPr id="1" name=""/>
        <p:cNvGrpSpPr/>
        <p:nvPr/>
      </p:nvGrpSpPr>
      <p:grpSpPr>
        <a:xfrm>
          <a:off x="0" y="0"/>
          <a:ext cx="0" cy="0"/>
          <a:chOff x="0" y="0"/>
          <a:chExt cx="0" cy="0"/>
        </a:xfrm>
      </p:grpSpPr>
      <p:sp>
        <p:nvSpPr>
          <p:cNvPr id="3"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1498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411770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Map Background">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gradFill flip="none" rotWithShape="1">
            <a:gsLst>
              <a:gs pos="0">
                <a:srgbClr val="1A9CB0"/>
              </a:gs>
              <a:gs pos="100000">
                <a:srgbClr val="2FC2D9"/>
              </a:gs>
            </a:gsLst>
            <a:lin ang="176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a:lnSpc>
                <a:spcPct val="85000"/>
              </a:lnSpc>
            </a:pPr>
            <a:endParaRPr lang="en-US" sz="1400" dirty="0"/>
          </a:p>
        </p:txBody>
      </p:sp>
      <p:sp>
        <p:nvSpPr>
          <p:cNvPr id="6" name="Text Placeholder 2"/>
          <p:cNvSpPr>
            <a:spLocks noGrp="1"/>
          </p:cNvSpPr>
          <p:nvPr>
            <p:ph idx="1" hasCustomPrompt="1"/>
          </p:nvPr>
        </p:nvSpPr>
        <p:spPr>
          <a:xfrm>
            <a:off x="626532" y="2398060"/>
            <a:ext cx="7574494" cy="2191404"/>
          </a:xfrm>
          <a:prstGeom prst="rect">
            <a:avLst/>
          </a:prstGeom>
        </p:spPr>
        <p:txBody>
          <a:bodyPr vert="horz" lIns="68580" tIns="34290" rIns="68580" bIns="34290" rtlCol="0">
            <a:noAutofit/>
          </a:bodyPr>
          <a:lstStyle>
            <a:lvl1pPr marL="0" indent="0">
              <a:lnSpc>
                <a:spcPct val="85000"/>
              </a:lnSpc>
              <a:spcBef>
                <a:spcPts val="0"/>
              </a:spcBef>
              <a:buFontTx/>
              <a:buNone/>
              <a:defRPr sz="3400">
                <a:solidFill>
                  <a:schemeClr val="bg1"/>
                </a:solidFill>
                <a:latin typeface="Arial Black"/>
                <a:cs typeface="Arial Black"/>
              </a:defRPr>
            </a:lvl1pPr>
            <a:lvl2pPr>
              <a:defRPr sz="1200"/>
            </a:lvl2pPr>
            <a:lvl3pPr>
              <a:defRPr sz="1200"/>
            </a:lvl3pPr>
            <a:lvl4pPr>
              <a:defRPr sz="1200"/>
            </a:lvl4pPr>
            <a:lvl5pPr>
              <a:defRPr sz="1200"/>
            </a:lvl5pPr>
          </a:lstStyle>
          <a:p>
            <a:pPr lvl="0"/>
            <a:r>
              <a:rPr lang="en-US" dirty="0"/>
              <a:t>CLICK TO ADD HEADLINE</a:t>
            </a:r>
          </a:p>
        </p:txBody>
      </p:sp>
      <p:pic>
        <p:nvPicPr>
          <p:cNvPr id="4" name="Picture 3"/>
          <p:cNvPicPr>
            <a:picLocks noChangeAspect="1"/>
          </p:cNvPicPr>
          <p:nvPr userDrawn="1"/>
        </p:nvPicPr>
        <p:blipFill>
          <a:blip r:embed="rId2">
            <a:alphaModFix amt="25000"/>
          </a:blip>
          <a:stretch>
            <a:fillRect/>
          </a:stretch>
        </p:blipFill>
        <p:spPr>
          <a:xfrm>
            <a:off x="-238103" y="-141032"/>
            <a:ext cx="9627732" cy="5588000"/>
          </a:xfrm>
          <a:prstGeom prst="rect">
            <a:avLst/>
          </a:prstGeom>
        </p:spPr>
      </p:pic>
    </p:spTree>
    <p:extLst>
      <p:ext uri="{BB962C8B-B14F-4D97-AF65-F5344CB8AC3E}">
        <p14:creationId xmlns:p14="http://schemas.microsoft.com/office/powerpoint/2010/main" val="2050748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ulleted Content">
    <p:spTree>
      <p:nvGrpSpPr>
        <p:cNvPr id="1" name=""/>
        <p:cNvGrpSpPr/>
        <p:nvPr/>
      </p:nvGrpSpPr>
      <p:grpSpPr>
        <a:xfrm>
          <a:off x="0" y="0"/>
          <a:ext cx="0" cy="0"/>
          <a:chOff x="0" y="0"/>
          <a:chExt cx="0" cy="0"/>
        </a:xfrm>
      </p:grpSpPr>
      <p:sp>
        <p:nvSpPr>
          <p:cNvPr id="6" name="Text Placeholder 2"/>
          <p:cNvSpPr>
            <a:spLocks noGrp="1"/>
          </p:cNvSpPr>
          <p:nvPr>
            <p:ph idx="1" hasCustomPrompt="1"/>
          </p:nvPr>
        </p:nvSpPr>
        <p:spPr>
          <a:xfrm>
            <a:off x="360363" y="1079898"/>
            <a:ext cx="8339328" cy="3383280"/>
          </a:xfrm>
          <a:prstGeom prst="rect">
            <a:avLst/>
          </a:prstGeom>
        </p:spPr>
        <p:txBody>
          <a:bodyPr vert="horz" lIns="68580" tIns="34290" rIns="68580" bIns="34290" rtlCol="0">
            <a:normAutofit/>
          </a:bodyPr>
          <a:lstStyle>
            <a:lvl1pPr marL="130302" marR="0" indent="-130302" algn="l" defTabSz="342900" rtl="0" eaLnBrk="1" fontAlgn="auto" latinLnBrk="0" hangingPunct="1">
              <a:lnSpc>
                <a:spcPct val="120000"/>
              </a:lnSpc>
              <a:spcBef>
                <a:spcPts val="0"/>
              </a:spcBef>
              <a:spcAft>
                <a:spcPts val="750"/>
              </a:spcAft>
              <a:buClr>
                <a:schemeClr val="accent2"/>
              </a:buClr>
              <a:buSzTx/>
              <a:buFont typeface="Arial"/>
              <a:buChar char="•"/>
              <a:tabLst/>
              <a:defRPr sz="1400" baseline="0">
                <a:solidFill>
                  <a:schemeClr val="tx1"/>
                </a:solidFill>
              </a:defRPr>
            </a:lvl1pPr>
            <a:lvl2pPr marL="557213" indent="-214313">
              <a:lnSpc>
                <a:spcPct val="120000"/>
              </a:lnSpc>
              <a:buClr>
                <a:schemeClr val="tx1"/>
              </a:buClr>
              <a:buSzPct val="100000"/>
              <a:buFont typeface="Lucida Grande"/>
              <a:buChar char="–"/>
              <a:defRPr sz="1200" baseline="0">
                <a:solidFill>
                  <a:schemeClr val="tx1"/>
                </a:solidFill>
              </a:defRPr>
            </a:lvl2pPr>
            <a:lvl3pPr>
              <a:lnSpc>
                <a:spcPct val="120000"/>
              </a:lnSpc>
              <a:defRPr sz="1100" baseline="0">
                <a:solidFill>
                  <a:schemeClr val="tx1"/>
                </a:solidFill>
              </a:defRPr>
            </a:lvl3pPr>
            <a:lvl4pPr>
              <a:defRPr sz="1200"/>
            </a:lvl4pPr>
            <a:lvl5pPr>
              <a:defRPr sz="1200"/>
            </a:lvl5pPr>
          </a:lstStyle>
          <a:p>
            <a:pPr lvl="0"/>
            <a:r>
              <a:rPr lang="en-US" dirty="0"/>
              <a:t>Click to add bulleted list</a:t>
            </a:r>
          </a:p>
          <a:p>
            <a:pPr lvl="1"/>
            <a:r>
              <a:rPr lang="en-US" dirty="0"/>
              <a:t>Second Level Bullet</a:t>
            </a:r>
          </a:p>
          <a:p>
            <a:pPr lvl="2"/>
            <a:r>
              <a:rPr lang="en-US" dirty="0"/>
              <a:t>Third Level Bullet</a:t>
            </a:r>
            <a:br>
              <a:rPr lang="en-US" dirty="0"/>
            </a:br>
            <a:endParaRPr lang="en-US" dirty="0"/>
          </a:p>
          <a:p>
            <a:pPr lvl="0"/>
            <a:r>
              <a:rPr lang="en-US" dirty="0"/>
              <a:t>Click to add bulleted list</a:t>
            </a:r>
          </a:p>
          <a:p>
            <a:pPr lvl="0"/>
            <a:r>
              <a:rPr lang="en-US" dirty="0"/>
              <a:t>Click to add bulleted list</a:t>
            </a:r>
          </a:p>
          <a:p>
            <a:pPr lvl="0"/>
            <a:r>
              <a:rPr lang="en-US" dirty="0"/>
              <a:t>Click to add bulleted list</a:t>
            </a:r>
          </a:p>
        </p:txBody>
      </p:sp>
      <p:sp>
        <p:nvSpPr>
          <p:cNvPr id="7" name="Text Placeholder 6"/>
          <p:cNvSpPr>
            <a:spLocks noGrp="1"/>
          </p:cNvSpPr>
          <p:nvPr>
            <p:ph type="body" sz="quarter" idx="10" hasCustomPrompt="1"/>
          </p:nvPr>
        </p:nvSpPr>
        <p:spPr>
          <a:xfrm>
            <a:off x="0" y="0"/>
            <a:ext cx="9144000" cy="699516"/>
          </a:xfrm>
          <a:prstGeom prst="rect">
            <a:avLst/>
          </a:prstGeom>
          <a:solidFill>
            <a:schemeClr val="bg1"/>
          </a:solidFill>
          <a:ln>
            <a:noFill/>
          </a:ln>
          <a:effectLst>
            <a:outerShdw blurRad="40005" dist="25400" dir="5400000" algn="t" rotWithShape="0">
              <a:prstClr val="black">
                <a:alpha val="30000"/>
              </a:prstClr>
            </a:outerShdw>
          </a:effectLst>
        </p:spPr>
        <p:txBody>
          <a:bodyPr lIns="274320" tIns="34290" rIns="68580" bIns="34290" anchor="ctr" anchorCtr="0">
            <a:normAutofit/>
          </a:bodyPr>
          <a:lstStyle>
            <a:lvl1pPr marL="0" indent="0">
              <a:buNone/>
              <a:defRPr sz="20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1754562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633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4" name="Rectangle 13"/>
          <p:cNvSpPr/>
          <p:nvPr userDrawn="1"/>
        </p:nvSpPr>
        <p:spPr>
          <a:xfrm>
            <a:off x="0" y="4762306"/>
            <a:ext cx="9144000" cy="3811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a:endParaRPr lang="en-US" sz="1400"/>
          </a:p>
        </p:txBody>
      </p:sp>
      <p:sp>
        <p:nvSpPr>
          <p:cNvPr id="12" name="Picture Placeholder 5"/>
          <p:cNvSpPr>
            <a:spLocks noGrp="1"/>
          </p:cNvSpPr>
          <p:nvPr>
            <p:ph type="pic" sz="quarter" idx="10" hasCustomPrompt="1"/>
          </p:nvPr>
        </p:nvSpPr>
        <p:spPr>
          <a:xfrm>
            <a:off x="0" y="0"/>
            <a:ext cx="9144000" cy="5143500"/>
          </a:xfrm>
          <a:prstGeom prst="rect">
            <a:avLst/>
          </a:prstGeom>
        </p:spPr>
        <p:txBody>
          <a:bodyPr lIns="68580" tIns="34290" rIns="68580" bIns="34290" anchor="t"/>
          <a:lstStyle>
            <a:lvl1pPr marL="0" indent="0" algn="ctr">
              <a:buNone/>
              <a:defRPr/>
            </a:lvl1pPr>
          </a:lstStyle>
          <a:p>
            <a:pPr lvl="0"/>
            <a:r>
              <a:rPr lang="en-US" dirty="0"/>
              <a:t>Insert Image</a:t>
            </a:r>
          </a:p>
        </p:txBody>
      </p:sp>
      <p:sp>
        <p:nvSpPr>
          <p:cNvPr id="7" name="Text Placeholder 12"/>
          <p:cNvSpPr>
            <a:spLocks noGrp="1"/>
          </p:cNvSpPr>
          <p:nvPr>
            <p:ph type="body" sz="quarter" idx="13" hasCustomPrompt="1"/>
          </p:nvPr>
        </p:nvSpPr>
        <p:spPr>
          <a:xfrm>
            <a:off x="872404" y="3947727"/>
            <a:ext cx="5014975" cy="647100"/>
          </a:xfrm>
          <a:prstGeom prst="rect">
            <a:avLst/>
          </a:prstGeom>
          <a:solidFill>
            <a:srgbClr val="2FC2D9"/>
          </a:solidFill>
        </p:spPr>
        <p:txBody>
          <a:bodyPr wrap="none" lIns="137160" tIns="27432" rIns="137160" bIns="34290">
            <a:spAutoFit/>
          </a:bodyPr>
          <a:lstStyle>
            <a:lvl1pPr marL="0" indent="0">
              <a:buNone/>
              <a:defRPr sz="3800" b="0" i="0" cap="all">
                <a:solidFill>
                  <a:schemeClr val="bg1"/>
                </a:solidFill>
                <a:latin typeface="Arial Black"/>
                <a:cs typeface="Arial Black"/>
              </a:defRPr>
            </a:lvl1pPr>
            <a:lvl2pPr marL="342900" indent="0">
              <a:buNone/>
              <a:defRPr sz="3800" b="0" i="0" cap="all">
                <a:latin typeface="Arial Black"/>
                <a:cs typeface="Arial Black"/>
              </a:defRPr>
            </a:lvl2pPr>
            <a:lvl3pPr marL="685800" indent="0">
              <a:buNone/>
              <a:defRPr sz="3800" b="0" i="0" cap="all">
                <a:latin typeface="Arial Black"/>
                <a:cs typeface="Arial Black"/>
              </a:defRPr>
            </a:lvl3pPr>
            <a:lvl4pPr marL="1028700" indent="0">
              <a:buNone/>
              <a:defRPr sz="3800" b="0" i="0" cap="all">
                <a:latin typeface="Arial Black"/>
                <a:cs typeface="Arial Black"/>
              </a:defRPr>
            </a:lvl4pPr>
            <a:lvl5pPr marL="1371600" indent="0">
              <a:buNone/>
              <a:defRPr sz="3800" b="0" i="0" cap="all">
                <a:latin typeface="Arial Black"/>
                <a:cs typeface="Arial Black"/>
              </a:defRPr>
            </a:lvl5pPr>
          </a:lstStyle>
          <a:p>
            <a:pPr lvl="0"/>
            <a:r>
              <a:rPr lang="en-US" dirty="0"/>
              <a:t>And Line 3 Here</a:t>
            </a:r>
          </a:p>
        </p:txBody>
      </p:sp>
      <p:sp>
        <p:nvSpPr>
          <p:cNvPr id="13" name="Text Placeholder 12"/>
          <p:cNvSpPr>
            <a:spLocks noGrp="1"/>
          </p:cNvSpPr>
          <p:nvPr>
            <p:ph type="body" sz="quarter" idx="11" hasCustomPrompt="1"/>
          </p:nvPr>
        </p:nvSpPr>
        <p:spPr>
          <a:xfrm>
            <a:off x="872404" y="3394370"/>
            <a:ext cx="3688427" cy="647100"/>
          </a:xfrm>
          <a:prstGeom prst="rect">
            <a:avLst/>
          </a:prstGeom>
          <a:solidFill>
            <a:srgbClr val="2FC2D9"/>
          </a:solidFill>
        </p:spPr>
        <p:txBody>
          <a:bodyPr wrap="none" lIns="137160" tIns="27432" rIns="137160" bIns="34290">
            <a:spAutoFit/>
          </a:bodyPr>
          <a:lstStyle>
            <a:lvl1pPr marL="0" indent="0">
              <a:buNone/>
              <a:defRPr sz="3800" b="0" i="0" cap="all">
                <a:solidFill>
                  <a:schemeClr val="bg1"/>
                </a:solidFill>
                <a:latin typeface="Arial Black"/>
                <a:cs typeface="Arial Black"/>
              </a:defRPr>
            </a:lvl1pPr>
            <a:lvl2pPr marL="342900" indent="0">
              <a:buNone/>
              <a:defRPr sz="3800" b="0" i="0" cap="all">
                <a:latin typeface="Arial Black"/>
                <a:cs typeface="Arial Black"/>
              </a:defRPr>
            </a:lvl2pPr>
            <a:lvl3pPr marL="685800" indent="0">
              <a:buNone/>
              <a:defRPr sz="3800" b="0" i="0" cap="all">
                <a:latin typeface="Arial Black"/>
                <a:cs typeface="Arial Black"/>
              </a:defRPr>
            </a:lvl3pPr>
            <a:lvl4pPr marL="1028700" indent="0">
              <a:buNone/>
              <a:defRPr sz="3800" b="0" i="0" cap="all">
                <a:latin typeface="Arial Black"/>
                <a:cs typeface="Arial Black"/>
              </a:defRPr>
            </a:lvl4pPr>
            <a:lvl5pPr marL="1371600" indent="0">
              <a:buNone/>
              <a:defRPr sz="3800" b="0" i="0" cap="all">
                <a:latin typeface="Arial Black"/>
                <a:cs typeface="Arial Black"/>
              </a:defRPr>
            </a:lvl5pPr>
          </a:lstStyle>
          <a:p>
            <a:pPr lvl="0"/>
            <a:r>
              <a:rPr lang="en-US" dirty="0"/>
              <a:t>Line 2 Here</a:t>
            </a:r>
          </a:p>
        </p:txBody>
      </p:sp>
      <p:sp>
        <p:nvSpPr>
          <p:cNvPr id="2" name="Title 1"/>
          <p:cNvSpPr>
            <a:spLocks noGrp="1"/>
          </p:cNvSpPr>
          <p:nvPr>
            <p:ph type="title" hasCustomPrompt="1"/>
          </p:nvPr>
        </p:nvSpPr>
        <p:spPr>
          <a:xfrm>
            <a:off x="872404" y="2869953"/>
            <a:ext cx="5285757" cy="647100"/>
          </a:xfrm>
          <a:prstGeom prst="rect">
            <a:avLst/>
          </a:prstGeom>
          <a:solidFill>
            <a:srgbClr val="2FC2D9"/>
          </a:solidFill>
          <a:ln>
            <a:noFill/>
          </a:ln>
        </p:spPr>
        <p:txBody>
          <a:bodyPr wrap="none" lIns="137160" tIns="27432" rIns="137160" bIns="34290" anchor="t">
            <a:spAutoFit/>
          </a:bodyPr>
          <a:lstStyle>
            <a:lvl1pPr algn="l">
              <a:defRPr sz="3800" b="0" cap="all" baseline="0">
                <a:solidFill>
                  <a:srgbClr val="FFFFFF"/>
                </a:solidFill>
              </a:defRPr>
            </a:lvl1pPr>
          </a:lstStyle>
          <a:p>
            <a:r>
              <a:rPr lang="en-US" dirty="0"/>
              <a:t>Type line 1 here</a:t>
            </a:r>
          </a:p>
        </p:txBody>
      </p:sp>
      <p:sp>
        <p:nvSpPr>
          <p:cNvPr id="8" name="Text Placeholder 13"/>
          <p:cNvSpPr txBox="1">
            <a:spLocks/>
          </p:cNvSpPr>
          <p:nvPr userDrawn="1"/>
        </p:nvSpPr>
        <p:spPr>
          <a:xfrm>
            <a:off x="781354" y="2496458"/>
            <a:ext cx="6488113" cy="692498"/>
          </a:xfrm>
          <a:prstGeom prst="rect">
            <a:avLst/>
          </a:prstGeom>
        </p:spPr>
        <p:txBody>
          <a:bodyPr lIns="68580" tIns="34290" rIns="68580" bIns="34290"/>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500" dirty="0"/>
          </a:p>
        </p:txBody>
      </p:sp>
      <p:sp>
        <p:nvSpPr>
          <p:cNvPr id="15" name="Text Placeholder 14"/>
          <p:cNvSpPr>
            <a:spLocks noGrp="1"/>
          </p:cNvSpPr>
          <p:nvPr>
            <p:ph type="body" sz="quarter" idx="14" hasCustomPrompt="1"/>
          </p:nvPr>
        </p:nvSpPr>
        <p:spPr>
          <a:xfrm>
            <a:off x="866628" y="2457127"/>
            <a:ext cx="3731155" cy="284693"/>
          </a:xfrm>
          <a:prstGeom prst="rect">
            <a:avLst/>
          </a:prstGeom>
          <a:solidFill>
            <a:schemeClr val="accent2"/>
          </a:solidFill>
        </p:spPr>
        <p:txBody>
          <a:bodyPr vert="horz" wrap="none" lIns="68580" tIns="34290" rIns="68580" bIns="34290">
            <a:spAutoFit/>
          </a:bodyPr>
          <a:lstStyle>
            <a:lvl1pPr marL="0" indent="0">
              <a:buNone/>
              <a:defRPr sz="1400">
                <a:solidFill>
                  <a:srgbClr val="FFFFFF"/>
                </a:solidFill>
                <a:latin typeface="Arial Black"/>
                <a:cs typeface="Arial Black"/>
              </a:defRPr>
            </a:lvl1pPr>
          </a:lstStyle>
          <a:p>
            <a:pPr lvl="0"/>
            <a:r>
              <a:rPr lang="en-US" dirty="0"/>
              <a:t>OPTIONAL EYEBROW HEADER HERE</a:t>
            </a:r>
          </a:p>
        </p:txBody>
      </p:sp>
    </p:spTree>
    <p:extLst>
      <p:ext uri="{BB962C8B-B14F-4D97-AF65-F5344CB8AC3E}">
        <p14:creationId xmlns:p14="http://schemas.microsoft.com/office/powerpoint/2010/main" val="578916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4856480"/>
            <a:ext cx="9155206" cy="298226"/>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68580" tIns="34290" rIns="68580" bIns="34290" rtlCol="0" anchor="ctr"/>
          <a:lstStyle/>
          <a:p>
            <a:pPr algn="ctr"/>
            <a:endParaRPr lang="en-US" sz="1400" dirty="0"/>
          </a:p>
        </p:txBody>
      </p:sp>
      <p:sp>
        <p:nvSpPr>
          <p:cNvPr id="3" name="TextBox 2"/>
          <p:cNvSpPr txBox="1"/>
          <p:nvPr userDrawn="1"/>
        </p:nvSpPr>
        <p:spPr>
          <a:xfrm>
            <a:off x="7421113" y="4900039"/>
            <a:ext cx="1493520" cy="192360"/>
          </a:xfrm>
          <a:prstGeom prst="rect">
            <a:avLst/>
          </a:prstGeom>
          <a:noFill/>
        </p:spPr>
        <p:txBody>
          <a:bodyPr wrap="square" lIns="68580" tIns="34290" rIns="68580" bIns="34290" rtlCol="0">
            <a:spAutoFit/>
          </a:bodyPr>
          <a:lstStyle/>
          <a:p>
            <a:pPr algn="r"/>
            <a:fld id="{C2C0EDAD-27A0-9447-9004-E733B36B95C3}" type="slidenum">
              <a:rPr lang="en-US" sz="800" b="0" i="0" smtClean="0">
                <a:solidFill>
                  <a:srgbClr val="CCCCCC"/>
                </a:solidFill>
                <a:latin typeface="Trebuchet MS"/>
                <a:cs typeface="Trebuchet MS"/>
              </a:rPr>
              <a:pPr algn="r"/>
              <a:t>‹#›</a:t>
            </a:fld>
            <a:endParaRPr lang="en-US" sz="800" b="0" i="0" dirty="0">
              <a:solidFill>
                <a:srgbClr val="CCCCCC"/>
              </a:solidFill>
              <a:latin typeface="Trebuchet MS"/>
              <a:cs typeface="Trebuchet MS"/>
            </a:endParaRPr>
          </a:p>
        </p:txBody>
      </p:sp>
      <p:sp>
        <p:nvSpPr>
          <p:cNvPr id="4" name="TextBox 3"/>
          <p:cNvSpPr txBox="1"/>
          <p:nvPr userDrawn="1"/>
        </p:nvSpPr>
        <p:spPr>
          <a:xfrm>
            <a:off x="880559" y="4921739"/>
            <a:ext cx="2316480" cy="161583"/>
          </a:xfrm>
          <a:prstGeom prst="rect">
            <a:avLst/>
          </a:prstGeom>
          <a:noFill/>
        </p:spPr>
        <p:txBody>
          <a:bodyPr wrap="square" lIns="68580" tIns="34290" rIns="68580" bIns="34290" rtlCol="0">
            <a:spAutoFit/>
          </a:bodyPr>
          <a:lstStyle/>
          <a:p>
            <a:r>
              <a:rPr lang="en-US" sz="600" b="0" i="0" kern="0" spc="15" dirty="0">
                <a:solidFill>
                  <a:schemeClr val="accent1"/>
                </a:solidFill>
                <a:latin typeface="Trebuchet MS"/>
                <a:cs typeface="Trebuchet MS"/>
              </a:rPr>
              <a:t>CONFIDENTIAL</a:t>
            </a:r>
          </a:p>
        </p:txBody>
      </p:sp>
      <p:cxnSp>
        <p:nvCxnSpPr>
          <p:cNvPr id="5" name="Straight Connector 4"/>
          <p:cNvCxnSpPr/>
          <p:nvPr userDrawn="1"/>
        </p:nvCxnSpPr>
        <p:spPr>
          <a:xfrm>
            <a:off x="813249" y="4940808"/>
            <a:ext cx="0" cy="123444"/>
          </a:xfrm>
          <a:prstGeom prst="line">
            <a:avLst/>
          </a:prstGeom>
          <a:ln w="3175" cmpd="sng">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6" name="Picture 5" descr="logo_footer.png"/>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232224" y="4931433"/>
            <a:ext cx="476250" cy="169417"/>
          </a:xfrm>
          <a:prstGeom prst="rect">
            <a:avLst/>
          </a:prstGeom>
        </p:spPr>
      </p:pic>
    </p:spTree>
    <p:extLst>
      <p:ext uri="{BB962C8B-B14F-4D97-AF65-F5344CB8AC3E}">
        <p14:creationId xmlns:p14="http://schemas.microsoft.com/office/powerpoint/2010/main" val="2005668917"/>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50" r:id="rId3"/>
    <p:sldLayoutId id="2147483753" r:id="rId4"/>
    <p:sldLayoutId id="2147483762" r:id="rId5"/>
    <p:sldLayoutId id="2147483711" r:id="rId6"/>
    <p:sldLayoutId id="2147483749" r:id="rId7"/>
    <p:sldLayoutId id="2147483766" r:id="rId8"/>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400" kern="1200">
          <a:solidFill>
            <a:schemeClr val="tx1"/>
          </a:solidFill>
          <a:latin typeface="+mn-lt"/>
          <a:ea typeface="+mn-ea"/>
          <a:cs typeface="+mn-cs"/>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hyperlink" Target="http://www.protesting.ru/testing/testcoverage.html"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13.png"/><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lake_view.jpg"/>
          <p:cNvPicPr>
            <a:picLocks noGrp="1" noChangeAspect="1"/>
          </p:cNvPicPr>
          <p:nvPr>
            <p:ph type="pic" sz="quarter" idx="18"/>
          </p:nvPr>
        </p:nvPicPr>
        <p:blipFill rotWithShape="1">
          <a:blip r:embed="rId2" cstate="screen">
            <a:extLst>
              <a:ext uri="{28A0092B-C50C-407E-A947-70E740481C1C}">
                <a14:useLocalDpi xmlns:a14="http://schemas.microsoft.com/office/drawing/2010/main"/>
              </a:ext>
            </a:extLst>
          </a:blip>
          <a:srcRect r="15625" b="15625"/>
          <a:stretch/>
        </p:blipFill>
        <p:spPr>
          <a:xfrm>
            <a:off x="0" y="0"/>
            <a:ext cx="9144000" cy="5143500"/>
          </a:xfrm>
        </p:spPr>
      </p:pic>
      <p:sp>
        <p:nvSpPr>
          <p:cNvPr id="3" name="Text Placeholder 2"/>
          <p:cNvSpPr>
            <a:spLocks noGrp="1"/>
          </p:cNvSpPr>
          <p:nvPr>
            <p:ph type="body" sz="quarter" idx="15"/>
          </p:nvPr>
        </p:nvSpPr>
        <p:spPr>
          <a:xfrm>
            <a:off x="631825" y="1556683"/>
            <a:ext cx="6910388" cy="1078757"/>
          </a:xfrm>
        </p:spPr>
        <p:txBody>
          <a:bodyPr/>
          <a:lstStyle/>
          <a:p>
            <a:r>
              <a:rPr lang="ru-RU" dirty="0"/>
              <a:t>Разработка тестов и тестовых сценариев</a:t>
            </a:r>
            <a:endParaRPr lang="en-US" dirty="0"/>
          </a:p>
        </p:txBody>
      </p:sp>
      <p:sp>
        <p:nvSpPr>
          <p:cNvPr id="4" name="Text Placeholder 3"/>
          <p:cNvSpPr>
            <a:spLocks noGrp="1"/>
          </p:cNvSpPr>
          <p:nvPr>
            <p:ph type="body" sz="quarter" idx="16"/>
          </p:nvPr>
        </p:nvSpPr>
        <p:spPr/>
        <p:txBody>
          <a:bodyPr/>
          <a:lstStyle/>
          <a:p>
            <a:r>
              <a:rPr lang="en-US" dirty="0"/>
              <a:t>FT/AT Program</a:t>
            </a:r>
          </a:p>
        </p:txBody>
      </p:sp>
      <p:sp>
        <p:nvSpPr>
          <p:cNvPr id="5" name="Text Placeholder 4"/>
          <p:cNvSpPr>
            <a:spLocks noGrp="1"/>
          </p:cNvSpPr>
          <p:nvPr>
            <p:ph type="body" sz="quarter" idx="17"/>
          </p:nvPr>
        </p:nvSpPr>
        <p:spPr/>
        <p:txBody>
          <a:bodyPr>
            <a:normAutofit lnSpcReduction="10000"/>
          </a:bodyPr>
          <a:lstStyle/>
          <a:p>
            <a:r>
              <a:rPr lang="en-US" dirty="0">
                <a:latin typeface="Trebuchet MS"/>
                <a:cs typeface="Trebuchet MS"/>
              </a:rPr>
              <a:t>March, 2020</a:t>
            </a:r>
          </a:p>
        </p:txBody>
      </p:sp>
      <p:pic>
        <p:nvPicPr>
          <p:cNvPr id="9" name="Picture 8" descr="EPAM_LOGO_gray_blu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02" y="432659"/>
            <a:ext cx="1359197" cy="532468"/>
          </a:xfrm>
          <a:prstGeom prst="rect">
            <a:avLst/>
          </a:prstGeom>
        </p:spPr>
      </p:pic>
    </p:spTree>
    <p:extLst>
      <p:ext uri="{BB962C8B-B14F-4D97-AF65-F5344CB8AC3E}">
        <p14:creationId xmlns:p14="http://schemas.microsoft.com/office/powerpoint/2010/main" val="171586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0"/>
          </p:nvPr>
        </p:nvSpPr>
        <p:spPr/>
        <p:txBody>
          <a:bodyPr/>
          <a:lstStyle/>
          <a:p>
            <a:r>
              <a:rPr lang="en-US" dirty="0"/>
              <a:t>Agenda</a:t>
            </a:r>
          </a:p>
        </p:txBody>
      </p:sp>
      <p:grpSp>
        <p:nvGrpSpPr>
          <p:cNvPr id="2" name="Group 1"/>
          <p:cNvGrpSpPr/>
          <p:nvPr/>
        </p:nvGrpSpPr>
        <p:grpSpPr>
          <a:xfrm>
            <a:off x="357781" y="1124734"/>
            <a:ext cx="4122263" cy="348437"/>
            <a:chOff x="448467" y="1385345"/>
            <a:chExt cx="5496350" cy="464582"/>
          </a:xfrm>
        </p:grpSpPr>
        <p:sp>
          <p:nvSpPr>
            <p:cNvPr id="14" name="TextBox 13"/>
            <p:cNvSpPr txBox="1"/>
            <p:nvPr/>
          </p:nvSpPr>
          <p:spPr>
            <a:xfrm>
              <a:off x="991818" y="1417581"/>
              <a:ext cx="4952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Определения </a:t>
              </a:r>
              <a:endParaRPr lang="en-US" sz="1500" dirty="0">
                <a:solidFill>
                  <a:srgbClr val="444444"/>
                </a:solidFill>
                <a:latin typeface="Trebuchet MS"/>
                <a:cs typeface="Trebuchet MS"/>
              </a:endParaRPr>
            </a:p>
          </p:txBody>
        </p:sp>
        <p:grpSp>
          <p:nvGrpSpPr>
            <p:cNvPr id="3" name="Group 2"/>
            <p:cNvGrpSpPr/>
            <p:nvPr/>
          </p:nvGrpSpPr>
          <p:grpSpPr>
            <a:xfrm>
              <a:off x="448467" y="1385345"/>
              <a:ext cx="464582" cy="464582"/>
              <a:chOff x="448467" y="1385718"/>
              <a:chExt cx="464582" cy="464582"/>
            </a:xfrm>
          </p:grpSpPr>
          <p:sp>
            <p:nvSpPr>
              <p:cNvPr id="38" name="Oval 37"/>
              <p:cNvSpPr/>
              <p:nvPr/>
            </p:nvSpPr>
            <p:spPr>
              <a:xfrm>
                <a:off x="448467" y="1385718"/>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TextBox 38"/>
              <p:cNvSpPr txBox="1"/>
              <p:nvPr/>
            </p:nvSpPr>
            <p:spPr>
              <a:xfrm>
                <a:off x="470439" y="1427189"/>
                <a:ext cx="417291" cy="406265"/>
              </a:xfrm>
              <a:prstGeom prst="rect">
                <a:avLst/>
              </a:prstGeom>
              <a:noFill/>
            </p:spPr>
            <p:txBody>
              <a:bodyPr wrap="none" tIns="27432" rtlCol="0">
                <a:spAutoFit/>
              </a:bodyPr>
              <a:lstStyle/>
              <a:p>
                <a:pPr algn="ctr"/>
                <a:r>
                  <a:rPr lang="en-US" sz="1500" b="1" dirty="0">
                    <a:solidFill>
                      <a:schemeClr val="bg1"/>
                    </a:solidFill>
                    <a:latin typeface="Arial Black"/>
                    <a:cs typeface="Arial Black"/>
                  </a:rPr>
                  <a:t>1</a:t>
                </a:r>
              </a:p>
            </p:txBody>
          </p:sp>
        </p:grpSp>
      </p:grpSp>
      <p:grpSp>
        <p:nvGrpSpPr>
          <p:cNvPr id="5" name="Group 4"/>
          <p:cNvGrpSpPr/>
          <p:nvPr/>
        </p:nvGrpSpPr>
        <p:grpSpPr>
          <a:xfrm>
            <a:off x="357781" y="1641386"/>
            <a:ext cx="4122263" cy="348437"/>
            <a:chOff x="448467" y="2074215"/>
            <a:chExt cx="5496350" cy="464582"/>
          </a:xfrm>
        </p:grpSpPr>
        <p:sp>
          <p:nvSpPr>
            <p:cNvPr id="17" name="TextBox 16"/>
            <p:cNvSpPr txBox="1"/>
            <p:nvPr/>
          </p:nvSpPr>
          <p:spPr>
            <a:xfrm>
              <a:off x="991818" y="2106451"/>
              <a:ext cx="4952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Разработка тестов</a:t>
              </a:r>
              <a:endParaRPr lang="en-US" sz="1500" dirty="0">
                <a:solidFill>
                  <a:srgbClr val="444444"/>
                </a:solidFill>
                <a:latin typeface="Trebuchet MS"/>
                <a:cs typeface="Trebuchet MS"/>
              </a:endParaRPr>
            </a:p>
          </p:txBody>
        </p:sp>
        <p:grpSp>
          <p:nvGrpSpPr>
            <p:cNvPr id="6" name="Group 5"/>
            <p:cNvGrpSpPr/>
            <p:nvPr/>
          </p:nvGrpSpPr>
          <p:grpSpPr>
            <a:xfrm>
              <a:off x="448467" y="2074215"/>
              <a:ext cx="464582" cy="464582"/>
              <a:chOff x="448467" y="2071851"/>
              <a:chExt cx="464582" cy="464582"/>
            </a:xfrm>
          </p:grpSpPr>
          <p:sp>
            <p:nvSpPr>
              <p:cNvPr id="40" name="Oval 39"/>
              <p:cNvSpPr/>
              <p:nvPr/>
            </p:nvSpPr>
            <p:spPr>
              <a:xfrm>
                <a:off x="448467" y="2071851"/>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40"/>
              <p:cNvSpPr txBox="1"/>
              <p:nvPr/>
            </p:nvSpPr>
            <p:spPr>
              <a:xfrm>
                <a:off x="472508" y="2113322"/>
                <a:ext cx="417291" cy="406265"/>
              </a:xfrm>
              <a:prstGeom prst="rect">
                <a:avLst/>
              </a:prstGeom>
              <a:noFill/>
            </p:spPr>
            <p:txBody>
              <a:bodyPr wrap="none" tIns="27432" rtlCol="0">
                <a:spAutoFit/>
              </a:bodyPr>
              <a:lstStyle/>
              <a:p>
                <a:pPr algn="ctr"/>
                <a:r>
                  <a:rPr lang="en-US" sz="1500" dirty="0">
                    <a:solidFill>
                      <a:schemeClr val="bg1"/>
                    </a:solidFill>
                    <a:latin typeface="Arial Black"/>
                    <a:cs typeface="Arial Black"/>
                  </a:rPr>
                  <a:t>2</a:t>
                </a:r>
              </a:p>
            </p:txBody>
          </p:sp>
        </p:grpSp>
      </p:grpSp>
      <p:grpSp>
        <p:nvGrpSpPr>
          <p:cNvPr id="10" name="Group 9"/>
          <p:cNvGrpSpPr/>
          <p:nvPr/>
        </p:nvGrpSpPr>
        <p:grpSpPr>
          <a:xfrm>
            <a:off x="357781" y="2158039"/>
            <a:ext cx="5455763" cy="348437"/>
            <a:chOff x="448467" y="2763085"/>
            <a:chExt cx="7274350" cy="464582"/>
          </a:xfrm>
        </p:grpSpPr>
        <p:sp>
          <p:nvSpPr>
            <p:cNvPr id="18" name="TextBox 17"/>
            <p:cNvSpPr txBox="1"/>
            <p:nvPr/>
          </p:nvSpPr>
          <p:spPr>
            <a:xfrm>
              <a:off x="991818" y="2795321"/>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Техники тест-дизайна</a:t>
              </a:r>
              <a:endParaRPr lang="en-US" sz="1500" dirty="0">
                <a:solidFill>
                  <a:srgbClr val="444444"/>
                </a:solidFill>
                <a:latin typeface="Trebuchet MS"/>
                <a:cs typeface="Trebuchet MS"/>
              </a:endParaRPr>
            </a:p>
          </p:txBody>
        </p:sp>
        <p:grpSp>
          <p:nvGrpSpPr>
            <p:cNvPr id="7" name="Group 6"/>
            <p:cNvGrpSpPr/>
            <p:nvPr/>
          </p:nvGrpSpPr>
          <p:grpSpPr>
            <a:xfrm>
              <a:off x="448467" y="2763085"/>
              <a:ext cx="464582" cy="464582"/>
              <a:chOff x="448467" y="2760563"/>
              <a:chExt cx="464582" cy="464582"/>
            </a:xfrm>
          </p:grpSpPr>
          <p:sp>
            <p:nvSpPr>
              <p:cNvPr id="42" name="Oval 41"/>
              <p:cNvSpPr/>
              <p:nvPr/>
            </p:nvSpPr>
            <p:spPr>
              <a:xfrm>
                <a:off x="448467" y="2760563"/>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TextBox 42"/>
              <p:cNvSpPr txBox="1"/>
              <p:nvPr/>
            </p:nvSpPr>
            <p:spPr>
              <a:xfrm>
                <a:off x="472508" y="2802034"/>
                <a:ext cx="417291" cy="406265"/>
              </a:xfrm>
              <a:prstGeom prst="rect">
                <a:avLst/>
              </a:prstGeom>
              <a:noFill/>
            </p:spPr>
            <p:txBody>
              <a:bodyPr wrap="none" tIns="27432" rtlCol="0">
                <a:spAutoFit/>
              </a:bodyPr>
              <a:lstStyle/>
              <a:p>
                <a:pPr algn="ctr"/>
                <a:r>
                  <a:rPr lang="en-US" sz="1500" b="1" dirty="0">
                    <a:solidFill>
                      <a:schemeClr val="bg1"/>
                    </a:solidFill>
                    <a:latin typeface="Arial Black"/>
                    <a:cs typeface="Arial Black"/>
                  </a:rPr>
                  <a:t>3</a:t>
                </a:r>
              </a:p>
            </p:txBody>
          </p:sp>
        </p:grpSp>
      </p:grpSp>
      <p:grpSp>
        <p:nvGrpSpPr>
          <p:cNvPr id="11" name="Group 10"/>
          <p:cNvGrpSpPr/>
          <p:nvPr/>
        </p:nvGrpSpPr>
        <p:grpSpPr>
          <a:xfrm>
            <a:off x="357781" y="2674691"/>
            <a:ext cx="5455763" cy="348437"/>
            <a:chOff x="448467" y="3451955"/>
            <a:chExt cx="7274350" cy="464582"/>
          </a:xfrm>
        </p:grpSpPr>
        <p:sp>
          <p:nvSpPr>
            <p:cNvPr id="19" name="TextBox 18"/>
            <p:cNvSpPr txBox="1"/>
            <p:nvPr/>
          </p:nvSpPr>
          <p:spPr>
            <a:xfrm>
              <a:off x="991818" y="3484191"/>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Рекомендации по разработке тестов</a:t>
              </a:r>
              <a:endParaRPr lang="en-US" sz="1500" dirty="0">
                <a:solidFill>
                  <a:srgbClr val="444444"/>
                </a:solidFill>
                <a:latin typeface="Trebuchet MS"/>
                <a:cs typeface="Trebuchet MS"/>
              </a:endParaRPr>
            </a:p>
          </p:txBody>
        </p:sp>
        <p:grpSp>
          <p:nvGrpSpPr>
            <p:cNvPr id="8" name="Group 7"/>
            <p:cNvGrpSpPr/>
            <p:nvPr/>
          </p:nvGrpSpPr>
          <p:grpSpPr>
            <a:xfrm>
              <a:off x="448467" y="3451955"/>
              <a:ext cx="464582" cy="464582"/>
              <a:chOff x="448467" y="3449275"/>
              <a:chExt cx="464582" cy="464582"/>
            </a:xfrm>
          </p:grpSpPr>
          <p:sp>
            <p:nvSpPr>
              <p:cNvPr id="44" name="Oval 43"/>
              <p:cNvSpPr/>
              <p:nvPr/>
            </p:nvSpPr>
            <p:spPr>
              <a:xfrm>
                <a:off x="448467" y="3449275"/>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p:cNvSpPr txBox="1"/>
              <p:nvPr/>
            </p:nvSpPr>
            <p:spPr>
              <a:xfrm>
                <a:off x="472510" y="3490746"/>
                <a:ext cx="417291" cy="406265"/>
              </a:xfrm>
              <a:prstGeom prst="rect">
                <a:avLst/>
              </a:prstGeom>
              <a:noFill/>
            </p:spPr>
            <p:txBody>
              <a:bodyPr wrap="none" tIns="27432" rtlCol="0">
                <a:spAutoFit/>
              </a:bodyPr>
              <a:lstStyle/>
              <a:p>
                <a:pPr algn="ctr"/>
                <a:r>
                  <a:rPr lang="en-US" sz="1500" dirty="0">
                    <a:solidFill>
                      <a:schemeClr val="bg1"/>
                    </a:solidFill>
                    <a:latin typeface="Arial Black"/>
                    <a:cs typeface="Arial Black"/>
                  </a:rPr>
                  <a:t>4</a:t>
                </a:r>
              </a:p>
            </p:txBody>
          </p:sp>
        </p:grpSp>
      </p:grpSp>
      <p:grpSp>
        <p:nvGrpSpPr>
          <p:cNvPr id="12" name="Group 11"/>
          <p:cNvGrpSpPr/>
          <p:nvPr/>
        </p:nvGrpSpPr>
        <p:grpSpPr>
          <a:xfrm>
            <a:off x="357781" y="3191344"/>
            <a:ext cx="5455763" cy="348437"/>
            <a:chOff x="448467" y="4140826"/>
            <a:chExt cx="7274350" cy="464582"/>
          </a:xfrm>
        </p:grpSpPr>
        <p:sp>
          <p:nvSpPr>
            <p:cNvPr id="29" name="TextBox 28"/>
            <p:cNvSpPr txBox="1"/>
            <p:nvPr/>
          </p:nvSpPr>
          <p:spPr>
            <a:xfrm>
              <a:off x="991818" y="4173062"/>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Оформление тест-кейсов</a:t>
              </a:r>
              <a:endParaRPr lang="en-US" sz="1500" dirty="0">
                <a:solidFill>
                  <a:srgbClr val="444444"/>
                </a:solidFill>
                <a:latin typeface="Trebuchet MS"/>
                <a:cs typeface="Trebuchet MS"/>
              </a:endParaRPr>
            </a:p>
          </p:txBody>
        </p:sp>
        <p:grpSp>
          <p:nvGrpSpPr>
            <p:cNvPr id="9" name="Group 8"/>
            <p:cNvGrpSpPr/>
            <p:nvPr/>
          </p:nvGrpSpPr>
          <p:grpSpPr>
            <a:xfrm>
              <a:off x="448467" y="4140826"/>
              <a:ext cx="464582" cy="464582"/>
              <a:chOff x="448467" y="4140826"/>
              <a:chExt cx="464582" cy="464582"/>
            </a:xfrm>
          </p:grpSpPr>
          <p:sp>
            <p:nvSpPr>
              <p:cNvPr id="46" name="Oval 45"/>
              <p:cNvSpPr/>
              <p:nvPr/>
            </p:nvSpPr>
            <p:spPr>
              <a:xfrm>
                <a:off x="448467" y="4140826"/>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p:cNvSpPr txBox="1"/>
              <p:nvPr/>
            </p:nvSpPr>
            <p:spPr>
              <a:xfrm>
                <a:off x="472508" y="4182297"/>
                <a:ext cx="417291" cy="406265"/>
              </a:xfrm>
              <a:prstGeom prst="rect">
                <a:avLst/>
              </a:prstGeom>
              <a:noFill/>
            </p:spPr>
            <p:txBody>
              <a:bodyPr wrap="none" tIns="27432" rtlCol="0">
                <a:spAutoFit/>
              </a:bodyPr>
              <a:lstStyle/>
              <a:p>
                <a:pPr algn="ctr"/>
                <a:r>
                  <a:rPr lang="en-US" sz="1500" dirty="0">
                    <a:solidFill>
                      <a:schemeClr val="bg1"/>
                    </a:solidFill>
                    <a:latin typeface="Arial Black"/>
                    <a:cs typeface="Arial Black"/>
                  </a:rPr>
                  <a:t>5</a:t>
                </a:r>
              </a:p>
            </p:txBody>
          </p:sp>
        </p:grpSp>
      </p:grpSp>
      <p:grpSp>
        <p:nvGrpSpPr>
          <p:cNvPr id="28" name="Group 27"/>
          <p:cNvGrpSpPr/>
          <p:nvPr/>
        </p:nvGrpSpPr>
        <p:grpSpPr>
          <a:xfrm>
            <a:off x="357781" y="3707998"/>
            <a:ext cx="5455763" cy="348437"/>
            <a:chOff x="448467" y="4140826"/>
            <a:chExt cx="7274350" cy="464582"/>
          </a:xfrm>
        </p:grpSpPr>
        <p:sp>
          <p:nvSpPr>
            <p:cNvPr id="30" name="TextBox 29"/>
            <p:cNvSpPr txBox="1"/>
            <p:nvPr/>
          </p:nvSpPr>
          <p:spPr>
            <a:xfrm>
              <a:off x="991818" y="4173062"/>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Свойства хорошего теста</a:t>
              </a:r>
              <a:endParaRPr lang="en-US" sz="1500" dirty="0">
                <a:solidFill>
                  <a:srgbClr val="444444"/>
                </a:solidFill>
                <a:latin typeface="Trebuchet MS"/>
                <a:cs typeface="Trebuchet MS"/>
              </a:endParaRPr>
            </a:p>
          </p:txBody>
        </p:sp>
        <p:grpSp>
          <p:nvGrpSpPr>
            <p:cNvPr id="31" name="Group 30"/>
            <p:cNvGrpSpPr/>
            <p:nvPr/>
          </p:nvGrpSpPr>
          <p:grpSpPr>
            <a:xfrm>
              <a:off x="448467" y="4140826"/>
              <a:ext cx="464582" cy="464582"/>
              <a:chOff x="448467" y="4140826"/>
              <a:chExt cx="464582" cy="464582"/>
            </a:xfrm>
          </p:grpSpPr>
          <p:sp>
            <p:nvSpPr>
              <p:cNvPr id="32" name="Oval 31"/>
              <p:cNvSpPr/>
              <p:nvPr/>
            </p:nvSpPr>
            <p:spPr>
              <a:xfrm>
                <a:off x="448467" y="4140826"/>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TextBox 32"/>
              <p:cNvSpPr txBox="1"/>
              <p:nvPr/>
            </p:nvSpPr>
            <p:spPr>
              <a:xfrm>
                <a:off x="472550" y="4182297"/>
                <a:ext cx="417209" cy="406265"/>
              </a:xfrm>
              <a:prstGeom prst="rect">
                <a:avLst/>
              </a:prstGeom>
              <a:noFill/>
            </p:spPr>
            <p:txBody>
              <a:bodyPr wrap="none" tIns="27432" rtlCol="0">
                <a:spAutoFit/>
              </a:bodyPr>
              <a:lstStyle/>
              <a:p>
                <a:pPr algn="ctr"/>
                <a:r>
                  <a:rPr lang="ru-RU" sz="1500" dirty="0">
                    <a:solidFill>
                      <a:schemeClr val="bg1"/>
                    </a:solidFill>
                    <a:latin typeface="Arial Black"/>
                    <a:cs typeface="Arial Black"/>
                  </a:rPr>
                  <a:t>6</a:t>
                </a:r>
                <a:endParaRPr lang="en-US" sz="1500" dirty="0">
                  <a:solidFill>
                    <a:schemeClr val="bg1"/>
                  </a:solidFill>
                  <a:latin typeface="Arial Black"/>
                  <a:cs typeface="Arial Black"/>
                </a:endParaRPr>
              </a:p>
            </p:txBody>
          </p:sp>
        </p:grpSp>
      </p:grpSp>
      <p:grpSp>
        <p:nvGrpSpPr>
          <p:cNvPr id="59" name="Group 58"/>
          <p:cNvGrpSpPr/>
          <p:nvPr/>
        </p:nvGrpSpPr>
        <p:grpSpPr>
          <a:xfrm>
            <a:off x="374260" y="4177046"/>
            <a:ext cx="5455763" cy="348437"/>
            <a:chOff x="448467" y="3451955"/>
            <a:chExt cx="7274350" cy="464582"/>
          </a:xfrm>
        </p:grpSpPr>
        <p:sp>
          <p:nvSpPr>
            <p:cNvPr id="60" name="TextBox 59"/>
            <p:cNvSpPr txBox="1"/>
            <p:nvPr/>
          </p:nvSpPr>
          <p:spPr>
            <a:xfrm>
              <a:off x="991818" y="3484191"/>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Процесс разработки тестов</a:t>
              </a:r>
              <a:endParaRPr lang="en-US" sz="1500" dirty="0">
                <a:solidFill>
                  <a:srgbClr val="444444"/>
                </a:solidFill>
                <a:latin typeface="Trebuchet MS"/>
                <a:cs typeface="Trebuchet MS"/>
              </a:endParaRPr>
            </a:p>
          </p:txBody>
        </p:sp>
        <p:grpSp>
          <p:nvGrpSpPr>
            <p:cNvPr id="61" name="Group 60"/>
            <p:cNvGrpSpPr/>
            <p:nvPr/>
          </p:nvGrpSpPr>
          <p:grpSpPr>
            <a:xfrm>
              <a:off x="448467" y="3451955"/>
              <a:ext cx="464582" cy="464582"/>
              <a:chOff x="448467" y="3449275"/>
              <a:chExt cx="464582" cy="464582"/>
            </a:xfrm>
          </p:grpSpPr>
          <p:sp>
            <p:nvSpPr>
              <p:cNvPr id="62" name="Oval 61"/>
              <p:cNvSpPr/>
              <p:nvPr/>
            </p:nvSpPr>
            <p:spPr>
              <a:xfrm>
                <a:off x="448467" y="3449275"/>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TextBox 62"/>
              <p:cNvSpPr txBox="1"/>
              <p:nvPr/>
            </p:nvSpPr>
            <p:spPr>
              <a:xfrm>
                <a:off x="472551" y="3490746"/>
                <a:ext cx="417209" cy="406265"/>
              </a:xfrm>
              <a:prstGeom prst="rect">
                <a:avLst/>
              </a:prstGeom>
              <a:noFill/>
            </p:spPr>
            <p:txBody>
              <a:bodyPr wrap="none" tIns="27432" rtlCol="0">
                <a:spAutoFit/>
              </a:bodyPr>
              <a:lstStyle/>
              <a:p>
                <a:pPr algn="ctr"/>
                <a:r>
                  <a:rPr lang="ru-RU" sz="1500" dirty="0">
                    <a:solidFill>
                      <a:schemeClr val="bg1"/>
                    </a:solidFill>
                    <a:latin typeface="Arial Black"/>
                    <a:cs typeface="Arial Black"/>
                  </a:rPr>
                  <a:t>7</a:t>
                </a:r>
                <a:endParaRPr lang="en-US" sz="1500" dirty="0">
                  <a:solidFill>
                    <a:schemeClr val="bg1"/>
                  </a:solidFill>
                  <a:latin typeface="Arial Black"/>
                  <a:cs typeface="Arial Black"/>
                </a:endParaRPr>
              </a:p>
            </p:txBody>
          </p:sp>
        </p:grpSp>
      </p:grpSp>
      <p:grpSp>
        <p:nvGrpSpPr>
          <p:cNvPr id="64" name="Group 63"/>
          <p:cNvGrpSpPr/>
          <p:nvPr/>
        </p:nvGrpSpPr>
        <p:grpSpPr>
          <a:xfrm>
            <a:off x="5043544" y="1124734"/>
            <a:ext cx="5455763" cy="348437"/>
            <a:chOff x="448467" y="4140826"/>
            <a:chExt cx="7274350" cy="464582"/>
          </a:xfrm>
        </p:grpSpPr>
        <p:sp>
          <p:nvSpPr>
            <p:cNvPr id="65" name="TextBox 64"/>
            <p:cNvSpPr txBox="1"/>
            <p:nvPr/>
          </p:nvSpPr>
          <p:spPr>
            <a:xfrm>
              <a:off x="991818" y="4173062"/>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Тестовые сценарии</a:t>
              </a:r>
              <a:endParaRPr lang="en-US" sz="1500" dirty="0">
                <a:solidFill>
                  <a:srgbClr val="444444"/>
                </a:solidFill>
                <a:latin typeface="Trebuchet MS"/>
                <a:cs typeface="Trebuchet MS"/>
              </a:endParaRPr>
            </a:p>
          </p:txBody>
        </p:sp>
        <p:grpSp>
          <p:nvGrpSpPr>
            <p:cNvPr id="66" name="Group 65"/>
            <p:cNvGrpSpPr/>
            <p:nvPr/>
          </p:nvGrpSpPr>
          <p:grpSpPr>
            <a:xfrm>
              <a:off x="448467" y="4140826"/>
              <a:ext cx="464582" cy="464582"/>
              <a:chOff x="448467" y="4140826"/>
              <a:chExt cx="464582" cy="464582"/>
            </a:xfrm>
          </p:grpSpPr>
          <p:sp>
            <p:nvSpPr>
              <p:cNvPr id="67" name="Oval 66"/>
              <p:cNvSpPr/>
              <p:nvPr/>
            </p:nvSpPr>
            <p:spPr>
              <a:xfrm>
                <a:off x="448467" y="4140826"/>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TextBox 67"/>
              <p:cNvSpPr txBox="1"/>
              <p:nvPr/>
            </p:nvSpPr>
            <p:spPr>
              <a:xfrm>
                <a:off x="472550" y="4182297"/>
                <a:ext cx="417209" cy="406265"/>
              </a:xfrm>
              <a:prstGeom prst="rect">
                <a:avLst/>
              </a:prstGeom>
              <a:noFill/>
            </p:spPr>
            <p:txBody>
              <a:bodyPr wrap="none" tIns="27432" rtlCol="0">
                <a:spAutoFit/>
              </a:bodyPr>
              <a:lstStyle/>
              <a:p>
                <a:pPr algn="ctr"/>
                <a:r>
                  <a:rPr lang="ru-RU" sz="1500" dirty="0">
                    <a:solidFill>
                      <a:schemeClr val="bg1"/>
                    </a:solidFill>
                    <a:latin typeface="Arial Black"/>
                    <a:cs typeface="Arial Black"/>
                  </a:rPr>
                  <a:t>8</a:t>
                </a:r>
                <a:endParaRPr lang="en-US" sz="1500" dirty="0">
                  <a:solidFill>
                    <a:schemeClr val="bg1"/>
                  </a:solidFill>
                  <a:latin typeface="Arial Black"/>
                  <a:cs typeface="Arial Black"/>
                </a:endParaRPr>
              </a:p>
            </p:txBody>
          </p:sp>
        </p:grpSp>
      </p:grpSp>
      <p:grpSp>
        <p:nvGrpSpPr>
          <p:cNvPr id="69" name="Group 68"/>
          <p:cNvGrpSpPr/>
          <p:nvPr/>
        </p:nvGrpSpPr>
        <p:grpSpPr>
          <a:xfrm>
            <a:off x="5043544" y="1649968"/>
            <a:ext cx="5455763" cy="348437"/>
            <a:chOff x="448467" y="4140826"/>
            <a:chExt cx="7274350" cy="464582"/>
          </a:xfrm>
        </p:grpSpPr>
        <p:sp>
          <p:nvSpPr>
            <p:cNvPr id="70" name="TextBox 69"/>
            <p:cNvSpPr txBox="1"/>
            <p:nvPr/>
          </p:nvSpPr>
          <p:spPr>
            <a:xfrm>
              <a:off x="991818" y="4173062"/>
              <a:ext cx="6730999" cy="430886"/>
            </a:xfrm>
            <a:prstGeom prst="rect">
              <a:avLst/>
            </a:prstGeom>
            <a:noFill/>
          </p:spPr>
          <p:txBody>
            <a:bodyPr wrap="square" rtlCol="0">
              <a:spAutoFit/>
            </a:bodyPr>
            <a:lstStyle/>
            <a:p>
              <a:pPr>
                <a:buClr>
                  <a:schemeClr val="bg1"/>
                </a:buClr>
                <a:buSzPct val="140000"/>
              </a:pPr>
              <a:r>
                <a:rPr lang="ru-RU" sz="1500" dirty="0">
                  <a:solidFill>
                    <a:srgbClr val="444444"/>
                  </a:solidFill>
                  <a:latin typeface="Trebuchet MS"/>
                  <a:cs typeface="Trebuchet MS"/>
                </a:rPr>
                <a:t>Пример разработки тестов</a:t>
              </a:r>
              <a:endParaRPr lang="en-US" sz="1500" dirty="0">
                <a:solidFill>
                  <a:srgbClr val="444444"/>
                </a:solidFill>
                <a:latin typeface="Trebuchet MS"/>
                <a:cs typeface="Trebuchet MS"/>
              </a:endParaRPr>
            </a:p>
          </p:txBody>
        </p:sp>
        <p:grpSp>
          <p:nvGrpSpPr>
            <p:cNvPr id="71" name="Group 70"/>
            <p:cNvGrpSpPr/>
            <p:nvPr/>
          </p:nvGrpSpPr>
          <p:grpSpPr>
            <a:xfrm>
              <a:off x="448467" y="4140826"/>
              <a:ext cx="464582" cy="464582"/>
              <a:chOff x="448467" y="4140826"/>
              <a:chExt cx="464582" cy="464582"/>
            </a:xfrm>
          </p:grpSpPr>
          <p:sp>
            <p:nvSpPr>
              <p:cNvPr id="72" name="Oval 71"/>
              <p:cNvSpPr/>
              <p:nvPr/>
            </p:nvSpPr>
            <p:spPr>
              <a:xfrm>
                <a:off x="448467" y="4140826"/>
                <a:ext cx="464582" cy="464582"/>
              </a:xfrm>
              <a:prstGeom prst="ellipse">
                <a:avLst/>
              </a:prstGeom>
              <a:solidFill>
                <a:srgbClr val="2FC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3" name="TextBox 72"/>
              <p:cNvSpPr txBox="1"/>
              <p:nvPr/>
            </p:nvSpPr>
            <p:spPr>
              <a:xfrm>
                <a:off x="472550" y="4182297"/>
                <a:ext cx="417209" cy="406265"/>
              </a:xfrm>
              <a:prstGeom prst="rect">
                <a:avLst/>
              </a:prstGeom>
              <a:noFill/>
            </p:spPr>
            <p:txBody>
              <a:bodyPr wrap="none" tIns="27432" rtlCol="0">
                <a:spAutoFit/>
              </a:bodyPr>
              <a:lstStyle/>
              <a:p>
                <a:pPr algn="ctr"/>
                <a:r>
                  <a:rPr lang="ru-RU" sz="1500" dirty="0">
                    <a:solidFill>
                      <a:schemeClr val="bg1"/>
                    </a:solidFill>
                    <a:latin typeface="Arial Black"/>
                    <a:cs typeface="Arial Black"/>
                  </a:rPr>
                  <a:t>9</a:t>
                </a:r>
                <a:endParaRPr lang="en-US" sz="1500" dirty="0">
                  <a:solidFill>
                    <a:schemeClr val="bg1"/>
                  </a:solidFill>
                  <a:latin typeface="Arial Black"/>
                  <a:cs typeface="Arial Black"/>
                </a:endParaRPr>
              </a:p>
            </p:txBody>
          </p:sp>
        </p:grpSp>
      </p:grpSp>
    </p:spTree>
    <p:extLst>
      <p:ext uri="{BB962C8B-B14F-4D97-AF65-F5344CB8AC3E}">
        <p14:creationId xmlns:p14="http://schemas.microsoft.com/office/powerpoint/2010/main" val="1389936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3582391" cy="647100"/>
          </a:xfrm>
        </p:spPr>
        <p:txBody>
          <a:bodyPr/>
          <a:lstStyle/>
          <a:p>
            <a:r>
              <a:rPr lang="ru-RU" dirty="0"/>
              <a:t>определения</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2278112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Определения </a:t>
            </a:r>
            <a:endParaRPr lang="en-US" dirty="0"/>
          </a:p>
        </p:txBody>
      </p:sp>
      <p:sp>
        <p:nvSpPr>
          <p:cNvPr id="8" name="Rectangle 2"/>
          <p:cNvSpPr txBox="1">
            <a:spLocks noChangeArrowheads="1"/>
          </p:cNvSpPr>
          <p:nvPr/>
        </p:nvSpPr>
        <p:spPr bwMode="auto">
          <a:xfrm>
            <a:off x="234201" y="1142691"/>
            <a:ext cx="4752975" cy="442644"/>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Tx/>
              <a:buNone/>
            </a:pPr>
            <a:r>
              <a:rPr lang="ru-RU" sz="1600" b="1" dirty="0">
                <a:solidFill>
                  <a:srgbClr val="C00000"/>
                </a:solidFill>
                <a:latin typeface="+mj-lt"/>
                <a:cs typeface="Arial" pitchFamily="34" charset="0"/>
              </a:rPr>
              <a:t>Чек-лист</a:t>
            </a:r>
            <a:r>
              <a:rPr lang="en-US" sz="1600" dirty="0">
                <a:latin typeface="+mj-lt"/>
                <a:cs typeface="Arial" pitchFamily="34" charset="0"/>
              </a:rPr>
              <a:t> (check-list)</a:t>
            </a:r>
            <a:r>
              <a:rPr lang="ru-RU" sz="1600" dirty="0">
                <a:latin typeface="+mj-lt"/>
                <a:cs typeface="Arial" pitchFamily="34" charset="0"/>
              </a:rPr>
              <a:t> – набор идей тестов.</a:t>
            </a:r>
          </a:p>
        </p:txBody>
      </p:sp>
      <p:sp>
        <p:nvSpPr>
          <p:cNvPr id="10" name="Rectangle 3"/>
          <p:cNvSpPr txBox="1">
            <a:spLocks noChangeArrowheads="1"/>
          </p:cNvSpPr>
          <p:nvPr/>
        </p:nvSpPr>
        <p:spPr bwMode="auto">
          <a:xfrm>
            <a:off x="234202" y="2017643"/>
            <a:ext cx="6127962" cy="1079478"/>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Tx/>
              <a:buNone/>
            </a:pPr>
            <a:r>
              <a:rPr lang="ru-RU" sz="1600" b="1" dirty="0">
                <a:solidFill>
                  <a:srgbClr val="C00000"/>
                </a:solidFill>
                <a:latin typeface="+mj-lt"/>
                <a:cs typeface="Arial" pitchFamily="34" charset="0"/>
              </a:rPr>
              <a:t>Тест-кейс</a:t>
            </a:r>
            <a:r>
              <a:rPr lang="en-US" sz="1600" dirty="0">
                <a:latin typeface="+mj-lt"/>
                <a:cs typeface="Arial" pitchFamily="34" charset="0"/>
              </a:rPr>
              <a:t> (test case) – </a:t>
            </a:r>
            <a:r>
              <a:rPr lang="ru-RU" sz="1600" dirty="0">
                <a:latin typeface="+mj-lt"/>
                <a:cs typeface="Arial" pitchFamily="34" charset="0"/>
              </a:rPr>
              <a:t>набор входных данных, условий выполнения и ожидаемых результатов, разработанный с целью проверки того или иного свойства или поведения программного средства.</a:t>
            </a:r>
          </a:p>
        </p:txBody>
      </p:sp>
      <p:sp>
        <p:nvSpPr>
          <p:cNvPr id="11" name="Rectangle 2"/>
          <p:cNvSpPr txBox="1">
            <a:spLocks noChangeArrowheads="1"/>
          </p:cNvSpPr>
          <p:nvPr/>
        </p:nvSpPr>
        <p:spPr bwMode="auto">
          <a:xfrm>
            <a:off x="234201" y="3519093"/>
            <a:ext cx="6127963" cy="89615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90000"/>
              </a:lnSpc>
              <a:buFontTx/>
              <a:buNone/>
            </a:pPr>
            <a:r>
              <a:rPr lang="ru-RU" sz="1600" b="1" dirty="0">
                <a:solidFill>
                  <a:srgbClr val="C00000"/>
                </a:solidFill>
                <a:latin typeface="+mj-lt"/>
                <a:cs typeface="Arial" pitchFamily="34" charset="0"/>
              </a:rPr>
              <a:t>Тестовый сценарий, тест-сьют</a:t>
            </a:r>
            <a:r>
              <a:rPr lang="ru-RU" sz="1600" dirty="0">
                <a:solidFill>
                  <a:srgbClr val="C00000"/>
                </a:solidFill>
                <a:latin typeface="+mj-lt"/>
                <a:cs typeface="Arial" pitchFamily="34" charset="0"/>
              </a:rPr>
              <a:t> </a:t>
            </a:r>
            <a:r>
              <a:rPr lang="ru-RU" sz="1600" dirty="0">
                <a:latin typeface="+mj-lt"/>
                <a:cs typeface="Arial" pitchFamily="34" charset="0"/>
              </a:rPr>
              <a:t>(</a:t>
            </a:r>
            <a:r>
              <a:rPr lang="en-US" sz="1600" dirty="0">
                <a:latin typeface="+mj-lt"/>
                <a:cs typeface="Arial" pitchFamily="34" charset="0"/>
              </a:rPr>
              <a:t>test scenario, test-suite</a:t>
            </a:r>
            <a:r>
              <a:rPr lang="ru-RU" sz="1600" dirty="0">
                <a:latin typeface="+mj-lt"/>
                <a:cs typeface="Arial" pitchFamily="34" charset="0"/>
              </a:rPr>
              <a:t>) – набор тест-кейсов, собранных в группу (последовательность) для достижения некоторой цели.</a:t>
            </a:r>
            <a:endParaRPr lang="en-US" sz="1600" dirty="0">
              <a:latin typeface="+mj-lt"/>
              <a:cs typeface="Arial" pitchFamily="34" charset="0"/>
            </a:endParaRPr>
          </a:p>
        </p:txBody>
      </p:sp>
    </p:spTree>
    <p:extLst>
      <p:ext uri="{BB962C8B-B14F-4D97-AF65-F5344CB8AC3E}">
        <p14:creationId xmlns:p14="http://schemas.microsoft.com/office/powerpoint/2010/main" val="3580842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5061963" cy="647100"/>
          </a:xfrm>
        </p:spPr>
        <p:txBody>
          <a:bodyPr/>
          <a:lstStyle/>
          <a:p>
            <a:r>
              <a:rPr lang="ru-RU" dirty="0"/>
              <a:t>Разработка тестов</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795284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a:t>
            </a:r>
            <a:endParaRPr lang="en-US" dirty="0"/>
          </a:p>
        </p:txBody>
      </p:sp>
      <p:sp>
        <p:nvSpPr>
          <p:cNvPr id="8" name="Rectangle 6"/>
          <p:cNvSpPr txBox="1">
            <a:spLocks noChangeArrowheads="1"/>
          </p:cNvSpPr>
          <p:nvPr/>
        </p:nvSpPr>
        <p:spPr bwMode="auto">
          <a:xfrm>
            <a:off x="867714" y="838200"/>
            <a:ext cx="7408572" cy="443248"/>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Tx/>
              <a:buNone/>
            </a:pPr>
            <a:r>
              <a:rPr lang="ru-RU" sz="1400" dirty="0">
                <a:latin typeface="+mj-lt"/>
                <a:cs typeface="Arial" pitchFamily="34" charset="0"/>
              </a:rPr>
              <a:t>Перед вами обыкновенная ручка. Давайте подумаем, как её можно протестировать?</a:t>
            </a:r>
          </a:p>
        </p:txBody>
      </p:sp>
      <p:graphicFrame>
        <p:nvGraphicFramePr>
          <p:cNvPr id="11" name="Diagram 10"/>
          <p:cNvGraphicFramePr/>
          <p:nvPr>
            <p:extLst>
              <p:ext uri="{D42A27DB-BD31-4B8C-83A1-F6EECF244321}">
                <p14:modId xmlns:p14="http://schemas.microsoft.com/office/powerpoint/2010/main" val="2489370561"/>
              </p:ext>
            </p:extLst>
          </p:nvPr>
        </p:nvGraphicFramePr>
        <p:xfrm>
          <a:off x="352023" y="1364272"/>
          <a:ext cx="5044225" cy="2711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662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graphicEl>
                                              <a:dgm id="{540AA2D1-35F8-4729-97F1-50B11EC5731C}"/>
                                            </p:graphicEl>
                                          </p:spTgt>
                                        </p:tgtEl>
                                        <p:attrNameLst>
                                          <p:attrName>style.visibility</p:attrName>
                                        </p:attrNameLst>
                                      </p:cBhvr>
                                      <p:to>
                                        <p:strVal val="visible"/>
                                      </p:to>
                                    </p:set>
                                    <p:animEffect transition="in" filter="fade">
                                      <p:cBhvr>
                                        <p:cTn id="7" dur="500"/>
                                        <p:tgtEl>
                                          <p:spTgt spid="11">
                                            <p:graphicEl>
                                              <a:dgm id="{540AA2D1-35F8-4729-97F1-50B11EC5731C}"/>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graphicEl>
                                              <a:dgm id="{2DC370AB-D284-4BF9-B254-79E03A37458F}"/>
                                            </p:graphicEl>
                                          </p:spTgt>
                                        </p:tgtEl>
                                        <p:attrNameLst>
                                          <p:attrName>style.visibility</p:attrName>
                                        </p:attrNameLst>
                                      </p:cBhvr>
                                      <p:to>
                                        <p:strVal val="visible"/>
                                      </p:to>
                                    </p:set>
                                    <p:animEffect transition="in" filter="fade">
                                      <p:cBhvr>
                                        <p:cTn id="10" dur="500"/>
                                        <p:tgtEl>
                                          <p:spTgt spid="11">
                                            <p:graphicEl>
                                              <a:dgm id="{2DC370AB-D284-4BF9-B254-79E03A37458F}"/>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graphicEl>
                                              <a:dgm id="{1A093EFB-C414-4CB1-A3C9-290D7D3CE47E}"/>
                                            </p:graphicEl>
                                          </p:spTgt>
                                        </p:tgtEl>
                                        <p:attrNameLst>
                                          <p:attrName>style.visibility</p:attrName>
                                        </p:attrNameLst>
                                      </p:cBhvr>
                                      <p:to>
                                        <p:strVal val="visible"/>
                                      </p:to>
                                    </p:set>
                                    <p:animEffect transition="in" filter="fade">
                                      <p:cBhvr>
                                        <p:cTn id="13" dur="500"/>
                                        <p:tgtEl>
                                          <p:spTgt spid="11">
                                            <p:graphicEl>
                                              <a:dgm id="{1A093EFB-C414-4CB1-A3C9-290D7D3CE47E}"/>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graphicEl>
                                              <a:dgm id="{CFC92559-296B-428E-BF86-2A182D5CC65F}"/>
                                            </p:graphicEl>
                                          </p:spTgt>
                                        </p:tgtEl>
                                        <p:attrNameLst>
                                          <p:attrName>style.visibility</p:attrName>
                                        </p:attrNameLst>
                                      </p:cBhvr>
                                      <p:to>
                                        <p:strVal val="visible"/>
                                      </p:to>
                                    </p:set>
                                    <p:animEffect transition="in" filter="fade">
                                      <p:cBhvr>
                                        <p:cTn id="18" dur="500"/>
                                        <p:tgtEl>
                                          <p:spTgt spid="11">
                                            <p:graphicEl>
                                              <a:dgm id="{CFC92559-296B-428E-BF86-2A182D5CC65F}"/>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graphicEl>
                                              <a:dgm id="{4B057AA4-6B99-4765-B65C-F2A49D61E9A4}"/>
                                            </p:graphicEl>
                                          </p:spTgt>
                                        </p:tgtEl>
                                        <p:attrNameLst>
                                          <p:attrName>style.visibility</p:attrName>
                                        </p:attrNameLst>
                                      </p:cBhvr>
                                      <p:to>
                                        <p:strVal val="visible"/>
                                      </p:to>
                                    </p:set>
                                    <p:animEffect transition="in" filter="fade">
                                      <p:cBhvr>
                                        <p:cTn id="21" dur="500"/>
                                        <p:tgtEl>
                                          <p:spTgt spid="11">
                                            <p:graphicEl>
                                              <a:dgm id="{4B057AA4-6B99-4765-B65C-F2A49D61E9A4}"/>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graphicEl>
                                              <a:dgm id="{167CD798-80F4-455E-8FFE-C2E7054439D6}"/>
                                            </p:graphicEl>
                                          </p:spTgt>
                                        </p:tgtEl>
                                        <p:attrNameLst>
                                          <p:attrName>style.visibility</p:attrName>
                                        </p:attrNameLst>
                                      </p:cBhvr>
                                      <p:to>
                                        <p:strVal val="visible"/>
                                      </p:to>
                                    </p:set>
                                    <p:animEffect transition="in" filter="fade">
                                      <p:cBhvr>
                                        <p:cTn id="26" dur="500"/>
                                        <p:tgtEl>
                                          <p:spTgt spid="11">
                                            <p:graphicEl>
                                              <a:dgm id="{167CD798-80F4-455E-8FFE-C2E7054439D6}"/>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graphicEl>
                                              <a:dgm id="{C89A1466-CE09-4E89-BD40-73FD2268E238}"/>
                                            </p:graphicEl>
                                          </p:spTgt>
                                        </p:tgtEl>
                                        <p:attrNameLst>
                                          <p:attrName>style.visibility</p:attrName>
                                        </p:attrNameLst>
                                      </p:cBhvr>
                                      <p:to>
                                        <p:strVal val="visible"/>
                                      </p:to>
                                    </p:set>
                                    <p:animEffect transition="in" filter="fade">
                                      <p:cBhvr>
                                        <p:cTn id="29" dur="500"/>
                                        <p:tgtEl>
                                          <p:spTgt spid="11">
                                            <p:graphicEl>
                                              <a:dgm id="{C89A1466-CE09-4E89-BD40-73FD2268E238}"/>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graphicEl>
                                              <a:dgm id="{095C1B4F-267D-4CA4-B7FA-D3685DCB57B0}"/>
                                            </p:graphicEl>
                                          </p:spTgt>
                                        </p:tgtEl>
                                        <p:attrNameLst>
                                          <p:attrName>style.visibility</p:attrName>
                                        </p:attrNameLst>
                                      </p:cBhvr>
                                      <p:to>
                                        <p:strVal val="visible"/>
                                      </p:to>
                                    </p:set>
                                    <p:animEffect transition="in" filter="fade">
                                      <p:cBhvr>
                                        <p:cTn id="34" dur="500"/>
                                        <p:tgtEl>
                                          <p:spTgt spid="11">
                                            <p:graphicEl>
                                              <a:dgm id="{095C1B4F-267D-4CA4-B7FA-D3685DCB57B0}"/>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graphicEl>
                                              <a:dgm id="{A6557092-2807-4063-A30E-9AE4C6971109}"/>
                                            </p:graphicEl>
                                          </p:spTgt>
                                        </p:tgtEl>
                                        <p:attrNameLst>
                                          <p:attrName>style.visibility</p:attrName>
                                        </p:attrNameLst>
                                      </p:cBhvr>
                                      <p:to>
                                        <p:strVal val="visible"/>
                                      </p:to>
                                    </p:set>
                                    <p:animEffect transition="in" filter="fade">
                                      <p:cBhvr>
                                        <p:cTn id="37" dur="500"/>
                                        <p:tgtEl>
                                          <p:spTgt spid="11">
                                            <p:graphicEl>
                                              <a:dgm id="{A6557092-2807-4063-A30E-9AE4C6971109}"/>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graphicEl>
                                              <a:dgm id="{0BECB481-F3BC-4C30-B0F7-969F385C6901}"/>
                                            </p:graphicEl>
                                          </p:spTgt>
                                        </p:tgtEl>
                                        <p:attrNameLst>
                                          <p:attrName>style.visibility</p:attrName>
                                        </p:attrNameLst>
                                      </p:cBhvr>
                                      <p:to>
                                        <p:strVal val="visible"/>
                                      </p:to>
                                    </p:set>
                                    <p:animEffect transition="in" filter="fade">
                                      <p:cBhvr>
                                        <p:cTn id="42" dur="500"/>
                                        <p:tgtEl>
                                          <p:spTgt spid="11">
                                            <p:graphicEl>
                                              <a:dgm id="{0BECB481-F3BC-4C30-B0F7-969F385C6901}"/>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graphicEl>
                                              <a:dgm id="{060C13D6-5A8D-4496-81D8-8D5BAF83926B}"/>
                                            </p:graphicEl>
                                          </p:spTgt>
                                        </p:tgtEl>
                                        <p:attrNameLst>
                                          <p:attrName>style.visibility</p:attrName>
                                        </p:attrNameLst>
                                      </p:cBhvr>
                                      <p:to>
                                        <p:strVal val="visible"/>
                                      </p:to>
                                    </p:set>
                                    <p:animEffect transition="in" filter="fade">
                                      <p:cBhvr>
                                        <p:cTn id="45" dur="500"/>
                                        <p:tgtEl>
                                          <p:spTgt spid="11">
                                            <p:graphicEl>
                                              <a:dgm id="{060C13D6-5A8D-4496-81D8-8D5BAF83926B}"/>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
                                            <p:graphicEl>
                                              <a:dgm id="{5DBF99AC-315F-4D49-B318-CB57AE6EC46B}"/>
                                            </p:graphicEl>
                                          </p:spTgt>
                                        </p:tgtEl>
                                        <p:attrNameLst>
                                          <p:attrName>style.visibility</p:attrName>
                                        </p:attrNameLst>
                                      </p:cBhvr>
                                      <p:to>
                                        <p:strVal val="visible"/>
                                      </p:to>
                                    </p:set>
                                    <p:animEffect transition="in" filter="fade">
                                      <p:cBhvr>
                                        <p:cTn id="50" dur="500"/>
                                        <p:tgtEl>
                                          <p:spTgt spid="11">
                                            <p:graphicEl>
                                              <a:dgm id="{5DBF99AC-315F-4D49-B318-CB57AE6EC46B}"/>
                                            </p:graphic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
                                            <p:graphicEl>
                                              <a:dgm id="{B5B702D4-A50D-40FC-B7AF-C7DB6F713EA5}"/>
                                            </p:graphicEl>
                                          </p:spTgt>
                                        </p:tgtEl>
                                        <p:attrNameLst>
                                          <p:attrName>style.visibility</p:attrName>
                                        </p:attrNameLst>
                                      </p:cBhvr>
                                      <p:to>
                                        <p:strVal val="visible"/>
                                      </p:to>
                                    </p:set>
                                    <p:animEffect transition="in" filter="fade">
                                      <p:cBhvr>
                                        <p:cTn id="53" dur="500"/>
                                        <p:tgtEl>
                                          <p:spTgt spid="11">
                                            <p:graphicEl>
                                              <a:dgm id="{B5B702D4-A50D-40FC-B7AF-C7DB6F713EA5}"/>
                                            </p:graphic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1">
                                            <p:graphicEl>
                                              <a:dgm id="{590A6888-407C-44BE-B6C6-E3E681FFB9A5}"/>
                                            </p:graphicEl>
                                          </p:spTgt>
                                        </p:tgtEl>
                                        <p:attrNameLst>
                                          <p:attrName>style.visibility</p:attrName>
                                        </p:attrNameLst>
                                      </p:cBhvr>
                                      <p:to>
                                        <p:strVal val="visible"/>
                                      </p:to>
                                    </p:set>
                                    <p:animEffect transition="in" filter="fade">
                                      <p:cBhvr>
                                        <p:cTn id="58" dur="500"/>
                                        <p:tgtEl>
                                          <p:spTgt spid="11">
                                            <p:graphicEl>
                                              <a:dgm id="{590A6888-407C-44BE-B6C6-E3E681FFB9A5}"/>
                                            </p:graphic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1">
                                            <p:graphicEl>
                                              <a:dgm id="{B737B773-D0CB-4FD1-90A2-AA8311876F1E}"/>
                                            </p:graphicEl>
                                          </p:spTgt>
                                        </p:tgtEl>
                                        <p:attrNameLst>
                                          <p:attrName>style.visibility</p:attrName>
                                        </p:attrNameLst>
                                      </p:cBhvr>
                                      <p:to>
                                        <p:strVal val="visible"/>
                                      </p:to>
                                    </p:set>
                                    <p:animEffect transition="in" filter="fade">
                                      <p:cBhvr>
                                        <p:cTn id="61" dur="500"/>
                                        <p:tgtEl>
                                          <p:spTgt spid="11">
                                            <p:graphicEl>
                                              <a:dgm id="{B737B773-D0CB-4FD1-90A2-AA8311876F1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на основе требований</a:t>
            </a:r>
            <a:endParaRPr lang="en-US" dirty="0"/>
          </a:p>
        </p:txBody>
      </p:sp>
      <p:sp>
        <p:nvSpPr>
          <p:cNvPr id="2" name="Rectangle 1"/>
          <p:cNvSpPr/>
          <p:nvPr/>
        </p:nvSpPr>
        <p:spPr>
          <a:xfrm>
            <a:off x="759855" y="1162832"/>
            <a:ext cx="4411012" cy="2585323"/>
          </a:xfrm>
          <a:prstGeom prst="rect">
            <a:avLst/>
          </a:prstGeom>
        </p:spPr>
        <p:txBody>
          <a:bodyPr wrap="square">
            <a:spAutoFit/>
          </a:bodyPr>
          <a:lstStyle/>
          <a:p>
            <a:pPr marL="292100" lvl="1" indent="-285750">
              <a:buClr>
                <a:schemeClr val="accent2"/>
              </a:buClr>
              <a:buFont typeface="Arial" panose="020B0604020202020204" pitchFamily="34" charset="0"/>
              <a:buChar char="•"/>
            </a:pPr>
            <a:r>
              <a:rPr lang="ru-RU" sz="1800" dirty="0">
                <a:latin typeface="+mj-lt"/>
              </a:rPr>
              <a:t>Извлекается и вставляется ли в ручку стержень?</a:t>
            </a:r>
          </a:p>
          <a:p>
            <a:pPr marL="292100" lvl="1" indent="-285750">
              <a:buClr>
                <a:schemeClr val="accent2"/>
              </a:buClr>
              <a:buFont typeface="Arial" panose="020B0604020202020204" pitchFamily="34" charset="0"/>
              <a:buChar char="•"/>
            </a:pPr>
            <a:endParaRPr lang="ru-RU" sz="1800" dirty="0">
              <a:latin typeface="+mj-lt"/>
            </a:endParaRPr>
          </a:p>
          <a:p>
            <a:pPr marL="292100" lvl="1" indent="-285750">
              <a:buClr>
                <a:schemeClr val="accent2"/>
              </a:buClr>
              <a:buFont typeface="Arial" panose="020B0604020202020204" pitchFamily="34" charset="0"/>
              <a:buChar char="•"/>
            </a:pPr>
            <a:r>
              <a:rPr lang="ru-RU" sz="1800" dirty="0">
                <a:latin typeface="+mj-lt"/>
              </a:rPr>
              <a:t>Присутствует ли держатель, позволяющий цеплять ручку за край кармана?</a:t>
            </a:r>
          </a:p>
          <a:p>
            <a:pPr marL="292100" lvl="1" indent="-285750">
              <a:buClr>
                <a:schemeClr val="accent2"/>
              </a:buClr>
              <a:buFont typeface="Arial" panose="020B0604020202020204" pitchFamily="34" charset="0"/>
              <a:buChar char="•"/>
            </a:pPr>
            <a:endParaRPr lang="ru-RU" sz="1800" dirty="0">
              <a:latin typeface="+mj-lt"/>
            </a:endParaRPr>
          </a:p>
          <a:p>
            <a:pPr marL="292100" lvl="1" indent="-285750">
              <a:buClr>
                <a:schemeClr val="accent2"/>
              </a:buClr>
              <a:buFont typeface="Arial" panose="020B0604020202020204" pitchFamily="34" charset="0"/>
              <a:buChar char="•"/>
            </a:pPr>
            <a:r>
              <a:rPr lang="ru-RU" sz="1800" dirty="0">
                <a:latin typeface="+mj-lt"/>
              </a:rPr>
              <a:t>Переключается ли ручка из рабочего в нерабочее положение?</a:t>
            </a:r>
          </a:p>
        </p:txBody>
      </p:sp>
      <p:sp>
        <p:nvSpPr>
          <p:cNvPr id="3" name="Rectangle 2">
            <a:extLst>
              <a:ext uri="{FF2B5EF4-FFF2-40B4-BE49-F238E27FC236}">
                <a16:creationId xmlns:a16="http://schemas.microsoft.com/office/drawing/2014/main" id="{E8AFEAD0-DA96-4861-B511-09D92542CBB2}"/>
              </a:ext>
            </a:extLst>
          </p:cNvPr>
          <p:cNvSpPr/>
          <p:nvPr/>
        </p:nvSpPr>
        <p:spPr>
          <a:xfrm>
            <a:off x="5426783" y="777285"/>
            <a:ext cx="2470548" cy="307777"/>
          </a:xfrm>
          <a:prstGeom prst="rect">
            <a:avLst/>
          </a:prstGeom>
        </p:spPr>
        <p:txBody>
          <a:bodyPr wrap="none">
            <a:spAutoFit/>
          </a:bodyPr>
          <a:lstStyle/>
          <a:p>
            <a:r>
              <a:rPr lang="ru-RU" b="1" dirty="0">
                <a:solidFill>
                  <a:srgbClr val="000000"/>
                </a:solidFill>
                <a:latin typeface="Arial" panose="020B0604020202020204" pitchFamily="34" charset="0"/>
              </a:rPr>
              <a:t>(</a:t>
            </a:r>
            <a:r>
              <a:rPr lang="en-GB" b="1" dirty="0">
                <a:solidFill>
                  <a:srgbClr val="000000"/>
                </a:solidFill>
                <a:latin typeface="Arial" panose="020B0604020202020204" pitchFamily="34" charset="0"/>
              </a:rPr>
              <a:t>requirements based tests</a:t>
            </a:r>
            <a:r>
              <a:rPr lang="ru-RU" b="1" dirty="0">
                <a:solidFill>
                  <a:srgbClr val="000000"/>
                </a:solidFill>
                <a:latin typeface="Arial" panose="020B0604020202020204" pitchFamily="34" charset="0"/>
              </a:rPr>
              <a:t>)</a:t>
            </a:r>
            <a:endParaRPr lang="en-US" dirty="0"/>
          </a:p>
        </p:txBody>
      </p:sp>
    </p:spTree>
    <p:extLst>
      <p:ext uri="{BB962C8B-B14F-4D97-AF65-F5344CB8AC3E}">
        <p14:creationId xmlns:p14="http://schemas.microsoft.com/office/powerpoint/2010/main" val="1153569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Функциональные тесты</a:t>
            </a:r>
            <a:endParaRPr lang="en-US" dirty="0"/>
          </a:p>
        </p:txBody>
      </p:sp>
      <p:sp>
        <p:nvSpPr>
          <p:cNvPr id="2" name="Rectangle 1"/>
          <p:cNvSpPr/>
          <p:nvPr/>
        </p:nvSpPr>
        <p:spPr>
          <a:xfrm>
            <a:off x="482958" y="1165031"/>
            <a:ext cx="4572000" cy="2862322"/>
          </a:xfrm>
          <a:prstGeom prst="rect">
            <a:avLst/>
          </a:prstGeom>
        </p:spPr>
        <p:txBody>
          <a:bodyPr>
            <a:spAutoFit/>
          </a:bodyPr>
          <a:lstStyle/>
          <a:p>
            <a:pPr marL="349250" lvl="1" indent="-342900">
              <a:buClr>
                <a:schemeClr val="accent2"/>
              </a:buClr>
              <a:buFont typeface="Arial" pitchFamily="34" charset="0"/>
              <a:buChar char="•"/>
            </a:pPr>
            <a:r>
              <a:rPr lang="ru-RU" sz="1800" dirty="0">
                <a:latin typeface="+mj-lt"/>
              </a:rPr>
              <a:t>Вставить в ручку стержень.</a:t>
            </a:r>
          </a:p>
          <a:p>
            <a:pPr marL="349250" lvl="1" indent="-342900">
              <a:buClr>
                <a:schemeClr val="accent2"/>
              </a:buClr>
              <a:buFont typeface="Arial" pitchFamily="34" charset="0"/>
              <a:buChar char="•"/>
            </a:pPr>
            <a:endParaRPr lang="ru-RU" sz="1800" dirty="0">
              <a:latin typeface="+mj-lt"/>
            </a:endParaRPr>
          </a:p>
          <a:p>
            <a:pPr marL="349250" lvl="1" indent="-342900">
              <a:buClr>
                <a:schemeClr val="accent2"/>
              </a:buClr>
              <a:buFont typeface="Arial" pitchFamily="34" charset="0"/>
              <a:buChar char="•"/>
            </a:pPr>
            <a:r>
              <a:rPr lang="ru-RU" sz="1800" dirty="0">
                <a:latin typeface="+mj-lt"/>
              </a:rPr>
              <a:t>Переключить в рабочее положение.</a:t>
            </a:r>
          </a:p>
          <a:p>
            <a:pPr marL="349250" lvl="1" indent="-342900">
              <a:buClr>
                <a:schemeClr val="accent2"/>
              </a:buClr>
              <a:buFont typeface="Arial" pitchFamily="34" charset="0"/>
              <a:buChar char="•"/>
            </a:pPr>
            <a:endParaRPr lang="ru-RU" sz="1800" dirty="0">
              <a:latin typeface="+mj-lt"/>
            </a:endParaRPr>
          </a:p>
          <a:p>
            <a:pPr marL="349250" lvl="1" indent="-342900">
              <a:buClr>
                <a:schemeClr val="accent2"/>
              </a:buClr>
              <a:buFont typeface="Arial" pitchFamily="34" charset="0"/>
              <a:buChar char="•"/>
            </a:pPr>
            <a:r>
              <a:rPr lang="ru-RU" sz="1800" dirty="0">
                <a:latin typeface="+mj-lt"/>
              </a:rPr>
              <a:t>Написать несколько слов.</a:t>
            </a:r>
          </a:p>
          <a:p>
            <a:pPr marL="349250" lvl="1" indent="-342900">
              <a:buClr>
                <a:schemeClr val="accent2"/>
              </a:buClr>
              <a:buFont typeface="Arial" pitchFamily="34" charset="0"/>
              <a:buChar char="•"/>
            </a:pPr>
            <a:endParaRPr lang="ru-RU" sz="1800" dirty="0">
              <a:latin typeface="+mj-lt"/>
            </a:endParaRPr>
          </a:p>
          <a:p>
            <a:pPr marL="349250" lvl="1" indent="-342900">
              <a:buClr>
                <a:schemeClr val="accent2"/>
              </a:buClr>
              <a:buFont typeface="Arial" pitchFamily="34" charset="0"/>
              <a:buChar char="•"/>
            </a:pPr>
            <a:r>
              <a:rPr lang="ru-RU" sz="1800" dirty="0">
                <a:latin typeface="+mj-lt"/>
              </a:rPr>
              <a:t>Переключить в нерабочее положение.</a:t>
            </a:r>
          </a:p>
          <a:p>
            <a:pPr marL="349250" lvl="1" indent="-342900">
              <a:buClr>
                <a:schemeClr val="accent2"/>
              </a:buClr>
              <a:buFont typeface="Arial" pitchFamily="34" charset="0"/>
              <a:buChar char="•"/>
            </a:pPr>
            <a:endParaRPr lang="ru-RU" sz="1800" dirty="0">
              <a:latin typeface="+mj-lt"/>
            </a:endParaRPr>
          </a:p>
          <a:p>
            <a:pPr marL="349250" lvl="1" indent="-342900">
              <a:buClr>
                <a:schemeClr val="accent2"/>
              </a:buClr>
              <a:buFont typeface="Arial" pitchFamily="34" charset="0"/>
              <a:buChar char="•"/>
            </a:pPr>
            <a:r>
              <a:rPr lang="ru-RU" sz="1800" dirty="0">
                <a:latin typeface="+mj-lt"/>
              </a:rPr>
              <a:t>Извлечь стержень.</a:t>
            </a:r>
          </a:p>
        </p:txBody>
      </p:sp>
      <p:sp>
        <p:nvSpPr>
          <p:cNvPr id="3" name="Rectangle 2">
            <a:extLst>
              <a:ext uri="{FF2B5EF4-FFF2-40B4-BE49-F238E27FC236}">
                <a16:creationId xmlns:a16="http://schemas.microsoft.com/office/drawing/2014/main" id="{02DCC3CA-2B62-40A2-9E55-E2ABBD84DEE1}"/>
              </a:ext>
            </a:extLst>
          </p:cNvPr>
          <p:cNvSpPr/>
          <p:nvPr/>
        </p:nvSpPr>
        <p:spPr>
          <a:xfrm>
            <a:off x="5534710" y="778385"/>
            <a:ext cx="1523174" cy="307777"/>
          </a:xfrm>
          <a:prstGeom prst="rect">
            <a:avLst/>
          </a:prstGeom>
        </p:spPr>
        <p:txBody>
          <a:bodyPr wrap="none">
            <a:spAutoFit/>
          </a:bodyPr>
          <a:lstStyle/>
          <a:p>
            <a:r>
              <a:rPr lang="en-US" b="1" dirty="0">
                <a:solidFill>
                  <a:srgbClr val="000000"/>
                </a:solidFill>
                <a:latin typeface="Arial" panose="020B0604020202020204" pitchFamily="34" charset="0"/>
              </a:rPr>
              <a:t>(functional test)</a:t>
            </a:r>
            <a:endParaRPr lang="en-US" dirty="0"/>
          </a:p>
        </p:txBody>
      </p:sp>
      <p:pic>
        <p:nvPicPr>
          <p:cNvPr id="35842" name="Picture 2">
            <a:extLst>
              <a:ext uri="{FF2B5EF4-FFF2-40B4-BE49-F238E27FC236}">
                <a16:creationId xmlns:a16="http://schemas.microsoft.com/office/drawing/2014/main" id="{DB76AA07-24FD-4D51-BBD3-982C09050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819" y="1432288"/>
            <a:ext cx="1276350"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790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Сравнительные тесты</a:t>
            </a:r>
            <a:endParaRPr lang="en-US" dirty="0"/>
          </a:p>
        </p:txBody>
      </p:sp>
      <p:sp>
        <p:nvSpPr>
          <p:cNvPr id="2" name="Rectangle 1"/>
          <p:cNvSpPr/>
          <p:nvPr/>
        </p:nvSpPr>
        <p:spPr>
          <a:xfrm>
            <a:off x="695460" y="1159908"/>
            <a:ext cx="4572000" cy="2862322"/>
          </a:xfrm>
          <a:prstGeom prst="rect">
            <a:avLst/>
          </a:prstGeom>
        </p:spPr>
        <p:txBody>
          <a:bodyPr>
            <a:spAutoFit/>
          </a:bodyPr>
          <a:lstStyle/>
          <a:p>
            <a:pPr lvl="1" indent="-342900">
              <a:buClr>
                <a:schemeClr val="accent2"/>
              </a:buClr>
              <a:buFont typeface="Arial" pitchFamily="34" charset="0"/>
              <a:buChar char="•"/>
            </a:pPr>
            <a:r>
              <a:rPr lang="ru-RU" sz="1800" dirty="0">
                <a:latin typeface="+mj-lt"/>
              </a:rPr>
              <a:t>Что мы можем сказать об этой ручке в сравнении  с другими ручками, которые выпускает наша фирма?</a:t>
            </a:r>
          </a:p>
          <a:p>
            <a:pPr lvl="1" indent="-342900">
              <a:buClr>
                <a:schemeClr val="accent2"/>
              </a:buClr>
              <a:buFont typeface="Arial" pitchFamily="34" charset="0"/>
              <a:buChar char="•"/>
            </a:pPr>
            <a:endParaRPr lang="ru-RU" sz="1800" dirty="0">
              <a:latin typeface="+mj-lt"/>
            </a:endParaRPr>
          </a:p>
          <a:p>
            <a:pPr lvl="1" indent="-342900">
              <a:buClr>
                <a:schemeClr val="accent2"/>
              </a:buClr>
              <a:buFont typeface="Arial" pitchFamily="34" charset="0"/>
              <a:buChar char="•"/>
            </a:pPr>
            <a:r>
              <a:rPr lang="ru-RU" sz="1800" dirty="0">
                <a:latin typeface="+mj-lt"/>
              </a:rPr>
              <a:t>Что мы можем сказать об этой ручке в сравнении  с ручками, которые выпускают конкуренты?</a:t>
            </a:r>
          </a:p>
          <a:p>
            <a:pPr lvl="1" indent="-342900">
              <a:buClr>
                <a:schemeClr val="accent2"/>
              </a:buClr>
              <a:buFont typeface="Arial" pitchFamily="34" charset="0"/>
              <a:buChar char="•"/>
            </a:pPr>
            <a:endParaRPr lang="ru-RU" sz="1800" dirty="0">
              <a:latin typeface="+mj-lt"/>
            </a:endParaRPr>
          </a:p>
          <a:p>
            <a:pPr lvl="1" indent="-342900">
              <a:buClr>
                <a:schemeClr val="accent2"/>
              </a:buClr>
              <a:buFont typeface="Arial" pitchFamily="34" charset="0"/>
              <a:buChar char="•"/>
            </a:pPr>
            <a:r>
              <a:rPr lang="ru-RU" sz="1800" dirty="0">
                <a:latin typeface="+mj-lt"/>
              </a:rPr>
              <a:t>В чём преимущества именно этой модели ручек?</a:t>
            </a:r>
          </a:p>
        </p:txBody>
      </p:sp>
      <p:sp>
        <p:nvSpPr>
          <p:cNvPr id="3" name="Rectangle 2">
            <a:extLst>
              <a:ext uri="{FF2B5EF4-FFF2-40B4-BE49-F238E27FC236}">
                <a16:creationId xmlns:a16="http://schemas.microsoft.com/office/drawing/2014/main" id="{533C31F5-9B06-4674-ACC4-2B3D713C343A}"/>
              </a:ext>
            </a:extLst>
          </p:cNvPr>
          <p:cNvSpPr/>
          <p:nvPr/>
        </p:nvSpPr>
        <p:spPr>
          <a:xfrm>
            <a:off x="5480316" y="852131"/>
            <a:ext cx="1396536" cy="307777"/>
          </a:xfrm>
          <a:prstGeom prst="rect">
            <a:avLst/>
          </a:prstGeom>
        </p:spPr>
        <p:txBody>
          <a:bodyPr wrap="none">
            <a:spAutoFit/>
          </a:bodyPr>
          <a:lstStyle/>
          <a:p>
            <a:r>
              <a:rPr lang="en-US" b="1" dirty="0">
                <a:solidFill>
                  <a:srgbClr val="000000"/>
                </a:solidFill>
                <a:latin typeface="Arial" panose="020B0604020202020204" pitchFamily="34" charset="0"/>
              </a:rPr>
              <a:t> (parallel test)</a:t>
            </a:r>
            <a:r>
              <a:rPr lang="en-US" dirty="0">
                <a:solidFill>
                  <a:srgbClr val="000000"/>
                </a:solidFill>
                <a:latin typeface="Arial" panose="020B0604020202020204" pitchFamily="34" charset="0"/>
              </a:rPr>
              <a:t>​</a:t>
            </a:r>
            <a:endParaRPr lang="en-US" dirty="0"/>
          </a:p>
        </p:txBody>
      </p:sp>
    </p:spTree>
    <p:extLst>
      <p:ext uri="{BB962C8B-B14F-4D97-AF65-F5344CB8AC3E}">
        <p14:creationId xmlns:p14="http://schemas.microsoft.com/office/powerpoint/2010/main" val="2515494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ошибочных ситуаций</a:t>
            </a:r>
            <a:endParaRPr lang="en-US" dirty="0"/>
          </a:p>
        </p:txBody>
      </p:sp>
      <p:sp>
        <p:nvSpPr>
          <p:cNvPr id="2" name="Rectangle 1"/>
          <p:cNvSpPr/>
          <p:nvPr/>
        </p:nvSpPr>
        <p:spPr>
          <a:xfrm>
            <a:off x="187414" y="887708"/>
            <a:ext cx="8764073" cy="2031325"/>
          </a:xfrm>
          <a:prstGeom prst="rect">
            <a:avLst/>
          </a:prstGeom>
        </p:spPr>
        <p:txBody>
          <a:bodyPr wrap="square">
            <a:spAutoFit/>
          </a:bodyPr>
          <a:lstStyle/>
          <a:p>
            <a:pPr lvl="1" indent="-342900" algn="ctr">
              <a:buClr>
                <a:schemeClr val="accent2"/>
              </a:buClr>
              <a:buFont typeface="Arial" pitchFamily="34" charset="0"/>
              <a:buChar char="•"/>
            </a:pPr>
            <a:r>
              <a:rPr lang="ru-RU" sz="1800" dirty="0">
                <a:latin typeface="+mj-lt"/>
              </a:rPr>
              <a:t>Что произойдёт, если препятствовать выходу стержня в рабочее положение?</a:t>
            </a:r>
          </a:p>
          <a:p>
            <a:pPr lvl="1" indent="-342900" algn="ctr">
              <a:buClr>
                <a:schemeClr val="accent2"/>
              </a:buClr>
              <a:buFont typeface="Arial" pitchFamily="34" charset="0"/>
              <a:buChar char="•"/>
            </a:pPr>
            <a:endParaRPr lang="ru-RU" sz="1800" dirty="0">
              <a:latin typeface="+mj-lt"/>
            </a:endParaRPr>
          </a:p>
          <a:p>
            <a:pPr lvl="1" indent="-342900" algn="ctr">
              <a:buClr>
                <a:schemeClr val="accent2"/>
              </a:buClr>
              <a:buFont typeface="Arial" pitchFamily="34" charset="0"/>
              <a:buChar char="•"/>
            </a:pPr>
            <a:r>
              <a:rPr lang="ru-RU" sz="1800" dirty="0">
                <a:latin typeface="+mj-lt"/>
              </a:rPr>
              <a:t>Какое усилие и где надо приложить к ручке, чтобы её сломать?</a:t>
            </a:r>
          </a:p>
          <a:p>
            <a:pPr lvl="1" indent="-342900" algn="ctr">
              <a:buClr>
                <a:schemeClr val="accent2"/>
              </a:buClr>
              <a:buFont typeface="Arial" pitchFamily="34" charset="0"/>
              <a:buChar char="•"/>
            </a:pPr>
            <a:endParaRPr lang="ru-RU" sz="1800" dirty="0">
              <a:latin typeface="+mj-lt"/>
            </a:endParaRPr>
          </a:p>
          <a:p>
            <a:pPr lvl="1" indent="-342900" algn="ctr">
              <a:buClr>
                <a:schemeClr val="accent2"/>
              </a:buClr>
              <a:buFont typeface="Arial" pitchFamily="34" charset="0"/>
              <a:buChar char="•"/>
            </a:pPr>
            <a:r>
              <a:rPr lang="ru-RU" sz="1800" dirty="0">
                <a:latin typeface="+mj-lt"/>
              </a:rPr>
              <a:t>Если стержень застрял, легко ли его извлечь?</a:t>
            </a:r>
          </a:p>
          <a:p>
            <a:pPr lvl="1" indent="-342900" algn="ctr">
              <a:buClr>
                <a:schemeClr val="accent2"/>
              </a:buClr>
              <a:buFont typeface="Arial" pitchFamily="34" charset="0"/>
              <a:buChar char="•"/>
            </a:pPr>
            <a:endParaRPr lang="ru-RU" sz="1800" dirty="0">
              <a:latin typeface="+mj-lt"/>
            </a:endParaRPr>
          </a:p>
          <a:p>
            <a:pPr lvl="1" indent="-342900" algn="ctr">
              <a:buClr>
                <a:schemeClr val="accent2"/>
              </a:buClr>
              <a:buFont typeface="Arial" pitchFamily="34" charset="0"/>
              <a:buChar char="•"/>
            </a:pPr>
            <a:r>
              <a:rPr lang="ru-RU" sz="1800" dirty="0">
                <a:latin typeface="+mj-lt"/>
              </a:rPr>
              <a:t>Что произойдёт, если писать по стеклу, асфальту?</a:t>
            </a:r>
            <a:endParaRPr lang="en-US" sz="1800" dirty="0">
              <a:latin typeface="+mj-lt"/>
            </a:endParaRPr>
          </a:p>
        </p:txBody>
      </p:sp>
      <p:sp>
        <p:nvSpPr>
          <p:cNvPr id="3" name="Rectangle 2">
            <a:extLst>
              <a:ext uri="{FF2B5EF4-FFF2-40B4-BE49-F238E27FC236}">
                <a16:creationId xmlns:a16="http://schemas.microsoft.com/office/drawing/2014/main" id="{60E33AFE-DA97-4FEC-BD35-5A8E059431D1}"/>
              </a:ext>
            </a:extLst>
          </p:cNvPr>
          <p:cNvSpPr/>
          <p:nvPr/>
        </p:nvSpPr>
        <p:spPr>
          <a:xfrm>
            <a:off x="6278577" y="3480308"/>
            <a:ext cx="1983235" cy="307777"/>
          </a:xfrm>
          <a:prstGeom prst="rect">
            <a:avLst/>
          </a:prstGeom>
        </p:spPr>
        <p:txBody>
          <a:bodyPr wrap="none">
            <a:spAutoFit/>
          </a:bodyPr>
          <a:lstStyle/>
          <a:p>
            <a:r>
              <a:rPr lang="en-US" b="1" dirty="0">
                <a:solidFill>
                  <a:srgbClr val="000000"/>
                </a:solidFill>
                <a:latin typeface="Arial" panose="020B0604020202020204" pitchFamily="34" charset="0"/>
              </a:rPr>
              <a:t>Scenario</a:t>
            </a:r>
            <a:r>
              <a:rPr lang="ru-RU" b="1" dirty="0">
                <a:solidFill>
                  <a:srgbClr val="000000"/>
                </a:solidFill>
                <a:latin typeface="Arial" panose="020B0604020202020204" pitchFamily="34" charset="0"/>
              </a:rPr>
              <a:t>-</a:t>
            </a:r>
            <a:r>
              <a:rPr lang="en-US" b="1" dirty="0">
                <a:solidFill>
                  <a:srgbClr val="000000"/>
                </a:solidFill>
                <a:latin typeface="Arial" panose="020B0604020202020204" pitchFamily="34" charset="0"/>
              </a:rPr>
              <a:t>based tests</a:t>
            </a:r>
            <a:endParaRPr lang="en-US" dirty="0"/>
          </a:p>
        </p:txBody>
      </p:sp>
    </p:spTree>
    <p:extLst>
      <p:ext uri="{BB962C8B-B14F-4D97-AF65-F5344CB8AC3E}">
        <p14:creationId xmlns:p14="http://schemas.microsoft.com/office/powerpoint/2010/main" val="1364154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интерфейса</a:t>
            </a:r>
            <a:endParaRPr lang="en-US" dirty="0"/>
          </a:p>
        </p:txBody>
      </p:sp>
      <p:sp>
        <p:nvSpPr>
          <p:cNvPr id="2" name="Rectangle 1"/>
          <p:cNvSpPr/>
          <p:nvPr/>
        </p:nvSpPr>
        <p:spPr>
          <a:xfrm>
            <a:off x="6492656" y="873939"/>
            <a:ext cx="2419523" cy="2585323"/>
          </a:xfrm>
          <a:prstGeom prst="rect">
            <a:avLst/>
          </a:prstGeom>
        </p:spPr>
        <p:txBody>
          <a:bodyPr wrap="square">
            <a:spAutoFit/>
          </a:bodyPr>
          <a:lstStyle/>
          <a:p>
            <a:pPr lvl="1" indent="-342900" algn="r">
              <a:buClr>
                <a:schemeClr val="accent2"/>
              </a:buClr>
              <a:buFont typeface="Arial" pitchFamily="34" charset="0"/>
              <a:buChar char="•"/>
            </a:pPr>
            <a:r>
              <a:rPr lang="ru-RU" sz="1800" dirty="0">
                <a:latin typeface="+mj-lt"/>
              </a:rPr>
              <a:t>Измерения: высота, ширина, длина, вес.</a:t>
            </a:r>
          </a:p>
          <a:p>
            <a:pPr lvl="1" indent="-342900" algn="r">
              <a:buClr>
                <a:schemeClr val="accent2"/>
              </a:buClr>
              <a:buFont typeface="Arial" pitchFamily="34" charset="0"/>
              <a:buChar char="•"/>
            </a:pPr>
            <a:endParaRPr lang="ru-RU" sz="1800" dirty="0">
              <a:latin typeface="+mj-lt"/>
            </a:endParaRPr>
          </a:p>
          <a:p>
            <a:pPr lvl="1" indent="-342900" algn="r">
              <a:buClr>
                <a:schemeClr val="accent2"/>
              </a:buClr>
              <a:buFont typeface="Arial" pitchFamily="34" charset="0"/>
              <a:buChar char="•"/>
            </a:pPr>
            <a:r>
              <a:rPr lang="ru-RU" sz="1800" dirty="0">
                <a:latin typeface="+mj-lt"/>
              </a:rPr>
              <a:t>Цвет.</a:t>
            </a:r>
          </a:p>
          <a:p>
            <a:pPr lvl="1" indent="-342900" algn="r">
              <a:buClr>
                <a:schemeClr val="accent2"/>
              </a:buClr>
              <a:buFont typeface="Arial" pitchFamily="34" charset="0"/>
              <a:buChar char="•"/>
            </a:pPr>
            <a:endParaRPr lang="ru-RU" sz="1800" dirty="0">
              <a:latin typeface="+mj-lt"/>
            </a:endParaRPr>
          </a:p>
          <a:p>
            <a:pPr lvl="1" indent="-342900" algn="r">
              <a:buClr>
                <a:schemeClr val="accent2"/>
              </a:buClr>
              <a:buFont typeface="Arial" pitchFamily="34" charset="0"/>
              <a:buChar char="•"/>
            </a:pPr>
            <a:r>
              <a:rPr lang="ru-RU" sz="1800" dirty="0">
                <a:latin typeface="+mj-lt"/>
              </a:rPr>
              <a:t>Читаемость логотипа фирмы-производителя.</a:t>
            </a:r>
            <a:endParaRPr lang="en-US" sz="1800" dirty="0">
              <a:latin typeface="+mj-lt"/>
            </a:endParaRPr>
          </a:p>
        </p:txBody>
      </p:sp>
      <p:pic>
        <p:nvPicPr>
          <p:cNvPr id="10242"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95407"/>
            <a:ext cx="6492657" cy="40579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FE35341-9E94-4D15-93F0-AEA82F900D21}"/>
              </a:ext>
            </a:extLst>
          </p:cNvPr>
          <p:cNvSpPr/>
          <p:nvPr/>
        </p:nvSpPr>
        <p:spPr>
          <a:xfrm>
            <a:off x="7217349" y="3961784"/>
            <a:ext cx="970137" cy="307777"/>
          </a:xfrm>
          <a:prstGeom prst="rect">
            <a:avLst/>
          </a:prstGeom>
        </p:spPr>
        <p:txBody>
          <a:bodyPr wrap="none">
            <a:spAutoFit/>
          </a:bodyPr>
          <a:lstStyle/>
          <a:p>
            <a:r>
              <a:rPr lang="en-US" b="1" dirty="0">
                <a:solidFill>
                  <a:srgbClr val="000000"/>
                </a:solidFill>
                <a:latin typeface="Arial" panose="020B0604020202020204" pitchFamily="34" charset="0"/>
              </a:rPr>
              <a:t>GUI tests</a:t>
            </a:r>
            <a:endParaRPr lang="en-US" dirty="0"/>
          </a:p>
        </p:txBody>
      </p:sp>
    </p:spTree>
    <p:extLst>
      <p:ext uri="{BB962C8B-B14F-4D97-AF65-F5344CB8AC3E}">
        <p14:creationId xmlns:p14="http://schemas.microsoft.com/office/powerpoint/2010/main" val="2376938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удобства использования</a:t>
            </a:r>
            <a:endParaRPr lang="en-US" dirty="0"/>
          </a:p>
        </p:txBody>
      </p:sp>
      <p:sp>
        <p:nvSpPr>
          <p:cNvPr id="2" name="Rectangle 1"/>
          <p:cNvSpPr/>
          <p:nvPr/>
        </p:nvSpPr>
        <p:spPr>
          <a:xfrm>
            <a:off x="716876" y="910229"/>
            <a:ext cx="5341513" cy="3539430"/>
          </a:xfrm>
          <a:prstGeom prst="rect">
            <a:avLst/>
          </a:prstGeom>
        </p:spPr>
        <p:txBody>
          <a:bodyPr wrap="square">
            <a:spAutoFit/>
          </a:bodyPr>
          <a:lstStyle/>
          <a:p>
            <a:pPr marL="349250" lvl="1" indent="-342900">
              <a:buClr>
                <a:schemeClr val="accent2"/>
              </a:buClr>
              <a:buFont typeface="Arial" pitchFamily="34" charset="0"/>
              <a:buChar char="•"/>
            </a:pPr>
            <a:r>
              <a:rPr lang="ru-RU" sz="1600" dirty="0">
                <a:latin typeface="+mj-lt"/>
              </a:rPr>
              <a:t>Есть ли у нас какие-либо замечания по юзабилити ручек от пользователей?</a:t>
            </a:r>
          </a:p>
          <a:p>
            <a:pPr marL="349250" lvl="1" indent="-342900">
              <a:buClr>
                <a:schemeClr val="accent2"/>
              </a:buClr>
              <a:buFont typeface="Arial" pitchFamily="34" charset="0"/>
              <a:buChar char="•"/>
            </a:pPr>
            <a:r>
              <a:rPr lang="ru-RU" sz="1600" dirty="0">
                <a:latin typeface="+mj-lt"/>
              </a:rPr>
              <a:t>Есть ли у нас представители целевых групп, чтобы привлечь их к тестированию?</a:t>
            </a:r>
            <a:endParaRPr lang="en-US" sz="1600" dirty="0">
              <a:latin typeface="+mj-lt"/>
            </a:endParaRPr>
          </a:p>
          <a:p>
            <a:pPr marL="349250" lvl="1" indent="-342900">
              <a:buClr>
                <a:schemeClr val="accent2"/>
              </a:buClr>
              <a:buFont typeface="Arial" pitchFamily="34" charset="0"/>
              <a:buChar char="•"/>
            </a:pPr>
            <a:r>
              <a:rPr lang="ru-RU" sz="1600" dirty="0">
                <a:latin typeface="+mj-lt"/>
              </a:rPr>
              <a:t>Как много времени у пользователя занимает переключение ручки из нерабочего положения в рабочее и обратно?</a:t>
            </a:r>
          </a:p>
          <a:p>
            <a:pPr marL="349250" lvl="1" indent="-342900">
              <a:buClr>
                <a:schemeClr val="accent2"/>
              </a:buClr>
              <a:buFont typeface="Arial" pitchFamily="34" charset="0"/>
              <a:buChar char="•"/>
            </a:pPr>
            <a:r>
              <a:rPr lang="ru-RU" sz="1600" dirty="0">
                <a:latin typeface="+mj-lt"/>
              </a:rPr>
              <a:t>Как быстро пользователь понимает, как пользоваться ручкой?</a:t>
            </a:r>
          </a:p>
          <a:p>
            <a:pPr marL="349250" lvl="1" indent="-342900">
              <a:buClr>
                <a:schemeClr val="accent2"/>
              </a:buClr>
              <a:buFont typeface="Arial" pitchFamily="34" charset="0"/>
              <a:buChar char="•"/>
            </a:pPr>
            <a:r>
              <a:rPr lang="ru-RU" sz="1600" dirty="0">
                <a:latin typeface="+mj-lt"/>
              </a:rPr>
              <a:t>Как быстро пользователь привыкает к этой ручке?</a:t>
            </a:r>
          </a:p>
          <a:p>
            <a:pPr marL="349250" lvl="1" indent="-342900">
              <a:buClr>
                <a:schemeClr val="accent2"/>
              </a:buClr>
              <a:buFont typeface="Arial" pitchFamily="34" charset="0"/>
              <a:buChar char="•"/>
            </a:pPr>
            <a:r>
              <a:rPr lang="ru-RU" sz="1600" dirty="0">
                <a:latin typeface="+mj-lt"/>
              </a:rPr>
              <a:t>Легко ли понять, какие стержни подходят к ручке?</a:t>
            </a:r>
          </a:p>
          <a:p>
            <a:pPr marL="349250" lvl="1" indent="-342900">
              <a:buClr>
                <a:schemeClr val="accent2"/>
              </a:buClr>
              <a:buFont typeface="Arial" pitchFamily="34" charset="0"/>
              <a:buChar char="•"/>
            </a:pPr>
            <a:r>
              <a:rPr lang="ru-RU" sz="1600" dirty="0">
                <a:latin typeface="+mj-lt"/>
              </a:rPr>
              <a:t>Легко ли заменить стержень?</a:t>
            </a:r>
          </a:p>
          <a:p>
            <a:pPr marL="349250" lvl="1" indent="-342900">
              <a:buClr>
                <a:schemeClr val="accent2"/>
              </a:buClr>
              <a:buFont typeface="Arial" pitchFamily="34" charset="0"/>
              <a:buChar char="•"/>
            </a:pPr>
            <a:r>
              <a:rPr lang="ru-RU" sz="1600" dirty="0">
                <a:latin typeface="+mj-lt"/>
              </a:rPr>
              <a:t>Может ли ручкой пользоваться левша?</a:t>
            </a:r>
            <a:endParaRPr lang="en-US" sz="1600" dirty="0">
              <a:latin typeface="+mj-lt"/>
            </a:endParaRPr>
          </a:p>
        </p:txBody>
      </p:sp>
      <p:sp>
        <p:nvSpPr>
          <p:cNvPr id="5" name="Rectangle 4">
            <a:extLst>
              <a:ext uri="{FF2B5EF4-FFF2-40B4-BE49-F238E27FC236}">
                <a16:creationId xmlns:a16="http://schemas.microsoft.com/office/drawing/2014/main" id="{5C4B335F-AC93-4F83-9E39-79018EC70E1C}"/>
              </a:ext>
            </a:extLst>
          </p:cNvPr>
          <p:cNvSpPr/>
          <p:nvPr/>
        </p:nvSpPr>
        <p:spPr>
          <a:xfrm>
            <a:off x="7051426" y="897349"/>
            <a:ext cx="1375698" cy="307777"/>
          </a:xfrm>
          <a:prstGeom prst="rect">
            <a:avLst/>
          </a:prstGeom>
        </p:spPr>
        <p:txBody>
          <a:bodyPr wrap="none">
            <a:spAutoFit/>
          </a:bodyPr>
          <a:lstStyle/>
          <a:p>
            <a:r>
              <a:rPr lang="en-US" b="1" dirty="0">
                <a:solidFill>
                  <a:srgbClr val="000000"/>
                </a:solidFill>
                <a:latin typeface="Arial" panose="020B0604020202020204" pitchFamily="34" charset="0"/>
              </a:rPr>
              <a:t>usability tests</a:t>
            </a:r>
            <a:endParaRPr lang="en-US" dirty="0"/>
          </a:p>
        </p:txBody>
      </p:sp>
    </p:spTree>
    <p:extLst>
      <p:ext uri="{BB962C8B-B14F-4D97-AF65-F5344CB8AC3E}">
        <p14:creationId xmlns:p14="http://schemas.microsoft.com/office/powerpoint/2010/main" val="1342350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упаковки и документации</a:t>
            </a:r>
            <a:endParaRPr lang="en-US" dirty="0"/>
          </a:p>
        </p:txBody>
      </p:sp>
      <p:sp>
        <p:nvSpPr>
          <p:cNvPr id="2" name="Rectangle 1"/>
          <p:cNvSpPr/>
          <p:nvPr/>
        </p:nvSpPr>
        <p:spPr>
          <a:xfrm>
            <a:off x="457200" y="906627"/>
            <a:ext cx="4572000" cy="3539430"/>
          </a:xfrm>
          <a:prstGeom prst="rect">
            <a:avLst/>
          </a:prstGeom>
        </p:spPr>
        <p:txBody>
          <a:bodyPr>
            <a:spAutoFit/>
          </a:bodyPr>
          <a:lstStyle/>
          <a:p>
            <a:pPr marL="285750" lvl="1" indent="-285750">
              <a:buClr>
                <a:schemeClr val="accent2"/>
              </a:buClr>
              <a:buFont typeface="Arial" pitchFamily="34" charset="0"/>
              <a:buChar char="•"/>
            </a:pPr>
            <a:r>
              <a:rPr lang="ru-RU" sz="1600" dirty="0"/>
              <a:t>Вложена ли в упаковку копия текста о гарантийных обязательствах?</a:t>
            </a:r>
            <a:endParaRPr lang="en-US" sz="1600" dirty="0"/>
          </a:p>
          <a:p>
            <a:pPr marL="285750" lvl="1" indent="-285750">
              <a:buClr>
                <a:schemeClr val="accent2"/>
              </a:buClr>
              <a:buFont typeface="Arial" pitchFamily="34" charset="0"/>
              <a:buChar char="•"/>
            </a:pPr>
            <a:r>
              <a:rPr lang="ru-RU" sz="1600" dirty="0"/>
              <a:t>Ясно ли видно на упаковке, что внутри?</a:t>
            </a:r>
            <a:endParaRPr lang="en-US" sz="1600" dirty="0"/>
          </a:p>
          <a:p>
            <a:pPr marL="285750" lvl="1" indent="-285750">
              <a:buClr>
                <a:schemeClr val="accent2"/>
              </a:buClr>
              <a:buFont typeface="Arial" pitchFamily="34" charset="0"/>
              <a:buChar char="•"/>
            </a:pPr>
            <a:r>
              <a:rPr lang="ru-RU" sz="1600" dirty="0"/>
              <a:t>Легко ли открыть упаковку?</a:t>
            </a:r>
            <a:endParaRPr lang="en-US" sz="1600" dirty="0"/>
          </a:p>
          <a:p>
            <a:pPr marL="285750" lvl="1" indent="-285750">
              <a:buClr>
                <a:schemeClr val="accent2"/>
              </a:buClr>
              <a:buFont typeface="Arial" pitchFamily="34" charset="0"/>
              <a:buChar char="•"/>
            </a:pPr>
            <a:r>
              <a:rPr lang="ru-RU" sz="1600" dirty="0"/>
              <a:t>Насколько материалы упаковки вредны для окружающей среды?</a:t>
            </a:r>
            <a:endParaRPr lang="en-US" sz="1600" dirty="0"/>
          </a:p>
          <a:p>
            <a:pPr marL="285750" lvl="1" indent="-285750">
              <a:buClr>
                <a:schemeClr val="accent2"/>
              </a:buClr>
              <a:buFont typeface="Arial" pitchFamily="34" charset="0"/>
              <a:buChar char="•"/>
            </a:pPr>
            <a:r>
              <a:rPr lang="ru-RU" sz="1600" dirty="0"/>
              <a:t>Есть ли какие-то особые требования к упаковке?</a:t>
            </a:r>
            <a:endParaRPr lang="en-US" sz="1600" dirty="0"/>
          </a:p>
          <a:p>
            <a:pPr marL="285750" lvl="1" indent="-285750">
              <a:buClr>
                <a:schemeClr val="accent2"/>
              </a:buClr>
              <a:buFont typeface="Arial" pitchFamily="34" charset="0"/>
              <a:buChar char="•"/>
            </a:pPr>
            <a:r>
              <a:rPr lang="ru-RU" sz="1600" dirty="0"/>
              <a:t>На сайте, в каталоге, на упаковке написано и нарисовано одно и то же?</a:t>
            </a:r>
            <a:endParaRPr lang="en-US" sz="1600" dirty="0"/>
          </a:p>
          <a:p>
            <a:pPr marL="285750" lvl="1" indent="-285750">
              <a:buClr>
                <a:schemeClr val="accent2"/>
              </a:buClr>
              <a:buFont typeface="Arial" pitchFamily="34" charset="0"/>
              <a:buChar char="•"/>
            </a:pPr>
            <a:r>
              <a:rPr lang="ru-RU" sz="1600" dirty="0"/>
              <a:t>Текст на упаковке и в гарантийном обязательстве – на одном и том же языке?</a:t>
            </a:r>
            <a:endParaRPr lang="en-US" sz="1600" dirty="0"/>
          </a:p>
          <a:p>
            <a:pPr marL="285750" lvl="1" indent="-285750">
              <a:buClr>
                <a:schemeClr val="accent2"/>
              </a:buClr>
              <a:buFont typeface="Arial" pitchFamily="34" charset="0"/>
              <a:buChar char="•"/>
            </a:pPr>
            <a:r>
              <a:rPr lang="ru-RU" sz="1600" dirty="0"/>
              <a:t>На упаковке и в документации нет грамматических ошибок, опечаток и т.д.?</a:t>
            </a:r>
            <a:endParaRPr lang="en-US" sz="1600" dirty="0"/>
          </a:p>
        </p:txBody>
      </p:sp>
      <p:sp>
        <p:nvSpPr>
          <p:cNvPr id="3" name="Rectangle 2">
            <a:extLst>
              <a:ext uri="{FF2B5EF4-FFF2-40B4-BE49-F238E27FC236}">
                <a16:creationId xmlns:a16="http://schemas.microsoft.com/office/drawing/2014/main" id="{3A70E416-FF61-45E9-A4D6-C1CE993943E2}"/>
              </a:ext>
            </a:extLst>
          </p:cNvPr>
          <p:cNvSpPr/>
          <p:nvPr/>
        </p:nvSpPr>
        <p:spPr>
          <a:xfrm>
            <a:off x="5647625" y="1068033"/>
            <a:ext cx="2864887" cy="307777"/>
          </a:xfrm>
          <a:prstGeom prst="rect">
            <a:avLst/>
          </a:prstGeom>
        </p:spPr>
        <p:txBody>
          <a:bodyPr wrap="none">
            <a:spAutoFit/>
          </a:bodyPr>
          <a:lstStyle/>
          <a:p>
            <a:r>
              <a:rPr lang="en-US" b="1" dirty="0">
                <a:solidFill>
                  <a:srgbClr val="000000"/>
                </a:solidFill>
                <a:latin typeface="Arial" panose="020B0604020202020204" pitchFamily="34" charset="0"/>
              </a:rPr>
              <a:t>packaging/documentation tests</a:t>
            </a:r>
            <a:endParaRPr lang="en-US" dirty="0"/>
          </a:p>
        </p:txBody>
      </p:sp>
    </p:spTree>
    <p:extLst>
      <p:ext uri="{BB962C8B-B14F-4D97-AF65-F5344CB8AC3E}">
        <p14:creationId xmlns:p14="http://schemas.microsoft.com/office/powerpoint/2010/main" val="2907078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Стрессовые тесты</a:t>
            </a:r>
            <a:endParaRPr lang="en-US" dirty="0"/>
          </a:p>
        </p:txBody>
      </p:sp>
      <p:pic>
        <p:nvPicPr>
          <p:cNvPr id="9218" name="Picture 2" descr="Image result for пингвины мадагаскара с документами"/>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970" y="2924410"/>
            <a:ext cx="8572500" cy="23431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22349" y="765270"/>
            <a:ext cx="4526924" cy="2062103"/>
          </a:xfrm>
          <a:prstGeom prst="rect">
            <a:avLst/>
          </a:prstGeom>
        </p:spPr>
        <p:txBody>
          <a:bodyPr wrap="square">
            <a:spAutoFit/>
          </a:bodyPr>
          <a:lstStyle/>
          <a:p>
            <a:pPr marL="349250" lvl="1" indent="-342900">
              <a:buClr>
                <a:schemeClr val="accent2"/>
              </a:buClr>
              <a:buFont typeface="Arial" pitchFamily="34" charset="0"/>
              <a:buChar char="•"/>
            </a:pPr>
            <a:r>
              <a:rPr lang="ru-RU" sz="1600" dirty="0">
                <a:latin typeface="+mj-lt"/>
              </a:rPr>
              <a:t>При какой температуре расплавится пластиковая часть ручки?</a:t>
            </a:r>
          </a:p>
          <a:p>
            <a:pPr marL="349250" lvl="1" indent="-342900">
              <a:buClr>
                <a:schemeClr val="accent2"/>
              </a:buClr>
              <a:buFont typeface="Arial" pitchFamily="34" charset="0"/>
              <a:buChar char="•"/>
            </a:pPr>
            <a:r>
              <a:rPr lang="ru-RU" sz="1600" dirty="0">
                <a:latin typeface="+mj-lt"/>
              </a:rPr>
              <a:t>При какой температуре потечёт стержень?</a:t>
            </a:r>
          </a:p>
          <a:p>
            <a:pPr marL="349250" lvl="1" indent="-342900">
              <a:buClr>
                <a:schemeClr val="accent2"/>
              </a:buClr>
              <a:buFont typeface="Arial" pitchFamily="34" charset="0"/>
              <a:buChar char="•"/>
            </a:pPr>
            <a:r>
              <a:rPr lang="ru-RU" sz="1600" dirty="0">
                <a:latin typeface="+mj-lt"/>
              </a:rPr>
              <a:t>При какой температуре ручка перестаёт писать?</a:t>
            </a:r>
            <a:endParaRPr lang="en-US" sz="1600" dirty="0">
              <a:latin typeface="+mj-lt"/>
            </a:endParaRPr>
          </a:p>
          <a:p>
            <a:pPr marL="349250" lvl="1" indent="-342900">
              <a:buClr>
                <a:schemeClr val="accent2"/>
              </a:buClr>
              <a:buFont typeface="Arial" pitchFamily="34" charset="0"/>
              <a:buChar char="•"/>
            </a:pPr>
            <a:r>
              <a:rPr lang="ru-RU" sz="1600" dirty="0">
                <a:latin typeface="+mj-lt"/>
              </a:rPr>
              <a:t>Какое воздействие необходимо применить к ручке, чтобы сломать её?</a:t>
            </a:r>
            <a:endParaRPr lang="en-US" sz="1600" dirty="0">
              <a:latin typeface="+mj-lt"/>
            </a:endParaRPr>
          </a:p>
        </p:txBody>
      </p:sp>
      <p:sp>
        <p:nvSpPr>
          <p:cNvPr id="3" name="Rectangle 2"/>
          <p:cNvSpPr/>
          <p:nvPr/>
        </p:nvSpPr>
        <p:spPr>
          <a:xfrm>
            <a:off x="4649273" y="822679"/>
            <a:ext cx="4572000" cy="1569660"/>
          </a:xfrm>
          <a:prstGeom prst="rect">
            <a:avLst/>
          </a:prstGeom>
        </p:spPr>
        <p:txBody>
          <a:bodyPr>
            <a:spAutoFit/>
          </a:bodyPr>
          <a:lstStyle/>
          <a:p>
            <a:pPr marL="349250" lvl="1" indent="-342900">
              <a:buClr>
                <a:schemeClr val="accent2"/>
              </a:buClr>
              <a:buFont typeface="Arial" pitchFamily="34" charset="0"/>
              <a:buChar char="•"/>
            </a:pPr>
            <a:r>
              <a:rPr lang="ru-RU" sz="1600" dirty="0"/>
              <a:t>Пишет ли ручка под водой? А по мокрой бумаге?</a:t>
            </a:r>
            <a:endParaRPr lang="en-US" sz="1600" dirty="0"/>
          </a:p>
          <a:p>
            <a:pPr marL="349250" lvl="1" indent="-342900">
              <a:buClr>
                <a:schemeClr val="accent2"/>
              </a:buClr>
              <a:buFont typeface="Arial" pitchFamily="34" charset="0"/>
              <a:buChar char="•"/>
            </a:pPr>
            <a:r>
              <a:rPr lang="ru-RU" sz="1600" dirty="0"/>
              <a:t>Если ручку уронить в песок – что произойдёт?</a:t>
            </a:r>
            <a:endParaRPr lang="en-US" sz="1600" dirty="0"/>
          </a:p>
          <a:p>
            <a:pPr marL="349250" lvl="1" indent="-342900">
              <a:buClr>
                <a:schemeClr val="accent2"/>
              </a:buClr>
              <a:buFont typeface="Arial" pitchFamily="34" charset="0"/>
              <a:buChar char="•"/>
            </a:pPr>
            <a:r>
              <a:rPr lang="ru-RU" sz="1600" dirty="0"/>
              <a:t>А если уронить со стола?</a:t>
            </a:r>
            <a:endParaRPr lang="en-US" sz="1600" dirty="0"/>
          </a:p>
          <a:p>
            <a:pPr marL="349250" lvl="1" indent="-342900">
              <a:buClr>
                <a:schemeClr val="accent2"/>
              </a:buClr>
              <a:buFont typeface="Arial" pitchFamily="34" charset="0"/>
              <a:buChar char="•"/>
            </a:pPr>
            <a:r>
              <a:rPr lang="ru-RU" sz="1600" dirty="0"/>
              <a:t>А если из окна офиса?</a:t>
            </a:r>
            <a:endParaRPr lang="en-US" sz="1600" dirty="0"/>
          </a:p>
        </p:txBody>
      </p:sp>
      <p:sp>
        <p:nvSpPr>
          <p:cNvPr id="4" name="Rectangle 3">
            <a:extLst>
              <a:ext uri="{FF2B5EF4-FFF2-40B4-BE49-F238E27FC236}">
                <a16:creationId xmlns:a16="http://schemas.microsoft.com/office/drawing/2014/main" id="{3AB56541-65F9-426C-866F-8AD0D8EAF3CF}"/>
              </a:ext>
            </a:extLst>
          </p:cNvPr>
          <p:cNvSpPr/>
          <p:nvPr/>
        </p:nvSpPr>
        <p:spPr>
          <a:xfrm>
            <a:off x="7196199" y="2710776"/>
            <a:ext cx="1178528" cy="307777"/>
          </a:xfrm>
          <a:prstGeom prst="rect">
            <a:avLst/>
          </a:prstGeom>
        </p:spPr>
        <p:txBody>
          <a:bodyPr wrap="none">
            <a:spAutoFit/>
          </a:bodyPr>
          <a:lstStyle/>
          <a:p>
            <a:r>
              <a:rPr lang="en-US" b="1" dirty="0">
                <a:solidFill>
                  <a:srgbClr val="000000"/>
                </a:solidFill>
                <a:latin typeface="Arial" panose="020B0604020202020204" pitchFamily="34" charset="0"/>
              </a:rPr>
              <a:t>stress tests</a:t>
            </a:r>
            <a:endParaRPr lang="en-US" dirty="0"/>
          </a:p>
        </p:txBody>
      </p:sp>
    </p:spTree>
    <p:extLst>
      <p:ext uri="{BB962C8B-B14F-4D97-AF65-F5344CB8AC3E}">
        <p14:creationId xmlns:p14="http://schemas.microsoft.com/office/powerpoint/2010/main" val="198866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Тесты производительности</a:t>
            </a:r>
            <a:endParaRPr lang="en-US" dirty="0"/>
          </a:p>
        </p:txBody>
      </p:sp>
      <p:sp>
        <p:nvSpPr>
          <p:cNvPr id="2" name="Rectangle 1"/>
          <p:cNvSpPr/>
          <p:nvPr/>
        </p:nvSpPr>
        <p:spPr>
          <a:xfrm>
            <a:off x="521593" y="1088415"/>
            <a:ext cx="4584879" cy="2862322"/>
          </a:xfrm>
          <a:prstGeom prst="rect">
            <a:avLst/>
          </a:prstGeom>
        </p:spPr>
        <p:txBody>
          <a:bodyPr wrap="square">
            <a:spAutoFit/>
          </a:bodyPr>
          <a:lstStyle/>
          <a:p>
            <a:pPr lvl="1" indent="-342900">
              <a:buClr>
                <a:schemeClr val="accent2"/>
              </a:buClr>
              <a:buFont typeface="Arial" pitchFamily="34" charset="0"/>
              <a:buChar char="•"/>
            </a:pPr>
            <a:r>
              <a:rPr lang="ru-RU" sz="1800" dirty="0">
                <a:latin typeface="+mj-lt"/>
              </a:rPr>
              <a:t>Сколько текста можно написать ручкой в единицу времени?</a:t>
            </a:r>
          </a:p>
          <a:p>
            <a:pPr lvl="1" indent="-342900">
              <a:buClr>
                <a:schemeClr val="accent2"/>
              </a:buClr>
              <a:buFont typeface="Arial" pitchFamily="34" charset="0"/>
              <a:buChar char="•"/>
            </a:pPr>
            <a:endParaRPr lang="en-US" sz="1800" dirty="0">
              <a:latin typeface="+mj-lt"/>
            </a:endParaRPr>
          </a:p>
          <a:p>
            <a:pPr lvl="1" indent="-342900">
              <a:buClr>
                <a:schemeClr val="accent2"/>
              </a:buClr>
              <a:buFont typeface="Arial" pitchFamily="34" charset="0"/>
              <a:buChar char="•"/>
            </a:pPr>
            <a:r>
              <a:rPr lang="ru-RU" sz="1800" dirty="0">
                <a:latin typeface="+mj-lt"/>
              </a:rPr>
              <a:t>Как быстро ручку можно привести в рабочее положение?</a:t>
            </a:r>
          </a:p>
          <a:p>
            <a:pPr lvl="1" indent="-342900">
              <a:buClr>
                <a:schemeClr val="accent2"/>
              </a:buClr>
              <a:buFont typeface="Arial" pitchFamily="34" charset="0"/>
              <a:buChar char="•"/>
            </a:pPr>
            <a:endParaRPr lang="en-US" sz="1800" dirty="0">
              <a:latin typeface="+mj-lt"/>
            </a:endParaRPr>
          </a:p>
          <a:p>
            <a:pPr lvl="1" indent="-342900">
              <a:buClr>
                <a:schemeClr val="accent2"/>
              </a:buClr>
              <a:buFont typeface="Arial" pitchFamily="34" charset="0"/>
              <a:buChar char="•"/>
            </a:pPr>
            <a:r>
              <a:rPr lang="ru-RU" sz="1800" dirty="0">
                <a:latin typeface="+mj-lt"/>
              </a:rPr>
              <a:t>Как много раз ручку можно переключить из нерабочего в рабочее положение, прежде чем её начнёт заедать?</a:t>
            </a:r>
            <a:endParaRPr lang="en-US" sz="1800" dirty="0">
              <a:latin typeface="+mj-lt"/>
            </a:endParaRPr>
          </a:p>
        </p:txBody>
      </p:sp>
      <p:sp>
        <p:nvSpPr>
          <p:cNvPr id="4" name="Rectangle 3">
            <a:extLst>
              <a:ext uri="{FF2B5EF4-FFF2-40B4-BE49-F238E27FC236}">
                <a16:creationId xmlns:a16="http://schemas.microsoft.com/office/drawing/2014/main" id="{E67826FA-AABF-4E24-A2EC-2C15A3987243}"/>
              </a:ext>
            </a:extLst>
          </p:cNvPr>
          <p:cNvSpPr/>
          <p:nvPr/>
        </p:nvSpPr>
        <p:spPr>
          <a:xfrm>
            <a:off x="6116087" y="1355416"/>
            <a:ext cx="1736373" cy="307777"/>
          </a:xfrm>
          <a:prstGeom prst="rect">
            <a:avLst/>
          </a:prstGeom>
        </p:spPr>
        <p:txBody>
          <a:bodyPr wrap="none">
            <a:spAutoFit/>
          </a:bodyPr>
          <a:lstStyle/>
          <a:p>
            <a:r>
              <a:rPr lang="en-US" b="1" dirty="0">
                <a:solidFill>
                  <a:srgbClr val="000000"/>
                </a:solidFill>
                <a:latin typeface="Arial" panose="020B0604020202020204" pitchFamily="34" charset="0"/>
              </a:rPr>
              <a:t>performance tests</a:t>
            </a:r>
            <a:endParaRPr lang="en-US" dirty="0"/>
          </a:p>
        </p:txBody>
      </p:sp>
    </p:spTree>
    <p:extLst>
      <p:ext uri="{BB962C8B-B14F-4D97-AF65-F5344CB8AC3E}">
        <p14:creationId xmlns:p14="http://schemas.microsoft.com/office/powerpoint/2010/main" val="169443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Конфигурациионные тесты</a:t>
            </a:r>
            <a:endParaRPr lang="en-US" dirty="0"/>
          </a:p>
        </p:txBody>
      </p:sp>
      <p:sp>
        <p:nvSpPr>
          <p:cNvPr id="2" name="Rectangle 1"/>
          <p:cNvSpPr/>
          <p:nvPr/>
        </p:nvSpPr>
        <p:spPr>
          <a:xfrm>
            <a:off x="526598" y="1917100"/>
            <a:ext cx="4116236" cy="1477328"/>
          </a:xfrm>
          <a:prstGeom prst="rect">
            <a:avLst/>
          </a:prstGeom>
        </p:spPr>
        <p:txBody>
          <a:bodyPr wrap="square">
            <a:spAutoFit/>
          </a:bodyPr>
          <a:lstStyle/>
          <a:p>
            <a:pPr lvl="1" indent="-342900" algn="ctr">
              <a:buClr>
                <a:schemeClr val="accent2"/>
              </a:buClr>
              <a:buFont typeface="Arial" pitchFamily="34" charset="0"/>
              <a:buChar char="•"/>
            </a:pPr>
            <a:r>
              <a:rPr lang="ru-RU" sz="1800" dirty="0">
                <a:latin typeface="+mj-lt"/>
              </a:rPr>
              <a:t>Какие стержни подходят к нашей ручке?</a:t>
            </a:r>
          </a:p>
          <a:p>
            <a:pPr lvl="1" indent="-342900" algn="ctr">
              <a:buClr>
                <a:schemeClr val="accent2"/>
              </a:buClr>
              <a:buFont typeface="Arial" pitchFamily="34" charset="0"/>
              <a:buChar char="•"/>
            </a:pPr>
            <a:endParaRPr lang="en-US" sz="1800" dirty="0">
              <a:latin typeface="+mj-lt"/>
            </a:endParaRPr>
          </a:p>
          <a:p>
            <a:pPr lvl="1" indent="-342900" algn="ctr">
              <a:buClr>
                <a:schemeClr val="accent2"/>
              </a:buClr>
              <a:buFont typeface="Arial" pitchFamily="34" charset="0"/>
              <a:buChar char="•"/>
            </a:pPr>
            <a:r>
              <a:rPr lang="ru-RU" sz="1800" dirty="0">
                <a:latin typeface="+mj-lt"/>
              </a:rPr>
              <a:t>На каких поверхностях она может писать?</a:t>
            </a:r>
            <a:endParaRPr lang="en-US" sz="1800" dirty="0">
              <a:latin typeface="+mj-lt"/>
            </a:endParaRPr>
          </a:p>
        </p:txBody>
      </p:sp>
      <p:sp>
        <p:nvSpPr>
          <p:cNvPr id="3" name="Rectangle 2">
            <a:extLst>
              <a:ext uri="{FF2B5EF4-FFF2-40B4-BE49-F238E27FC236}">
                <a16:creationId xmlns:a16="http://schemas.microsoft.com/office/drawing/2014/main" id="{C1C9152D-7DA2-4F0E-AF19-36838908E703}"/>
              </a:ext>
            </a:extLst>
          </p:cNvPr>
          <p:cNvSpPr/>
          <p:nvPr/>
        </p:nvSpPr>
        <p:spPr>
          <a:xfrm>
            <a:off x="5539395" y="1154419"/>
            <a:ext cx="1792478" cy="307777"/>
          </a:xfrm>
          <a:prstGeom prst="rect">
            <a:avLst/>
          </a:prstGeom>
        </p:spPr>
        <p:txBody>
          <a:bodyPr wrap="none">
            <a:spAutoFit/>
          </a:bodyPr>
          <a:lstStyle/>
          <a:p>
            <a:r>
              <a:rPr lang="en-US" b="1" dirty="0">
                <a:solidFill>
                  <a:srgbClr val="000000"/>
                </a:solidFill>
                <a:latin typeface="Arial" panose="020B0604020202020204" pitchFamily="34" charset="0"/>
              </a:rPr>
              <a:t>configuration tests</a:t>
            </a:r>
            <a:endParaRPr lang="en-US" dirty="0"/>
          </a:p>
        </p:txBody>
      </p:sp>
      <p:pic>
        <p:nvPicPr>
          <p:cNvPr id="36866" name="Picture 2">
            <a:extLst>
              <a:ext uri="{FF2B5EF4-FFF2-40B4-BE49-F238E27FC236}">
                <a16:creationId xmlns:a16="http://schemas.microsoft.com/office/drawing/2014/main" id="{E665BFFE-655D-4B53-B7B1-0F963AA32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873" y="2571750"/>
            <a:ext cx="1524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12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Разработка тестов. Законодательные тесты</a:t>
            </a:r>
            <a:endParaRPr lang="en-US" dirty="0"/>
          </a:p>
        </p:txBody>
      </p:sp>
      <p:sp>
        <p:nvSpPr>
          <p:cNvPr id="2" name="Rectangle 1"/>
          <p:cNvSpPr/>
          <p:nvPr/>
        </p:nvSpPr>
        <p:spPr>
          <a:xfrm>
            <a:off x="457199" y="949381"/>
            <a:ext cx="4675032" cy="3139321"/>
          </a:xfrm>
          <a:prstGeom prst="rect">
            <a:avLst/>
          </a:prstGeom>
        </p:spPr>
        <p:txBody>
          <a:bodyPr wrap="square">
            <a:spAutoFit/>
          </a:bodyPr>
          <a:lstStyle/>
          <a:p>
            <a:pPr lvl="1" indent="-342900">
              <a:buClr>
                <a:schemeClr val="accent2"/>
              </a:buClr>
              <a:buFont typeface="Arial" panose="020B0604020202020204" pitchFamily="34" charset="0"/>
              <a:buChar char="•"/>
            </a:pPr>
            <a:r>
              <a:rPr lang="ru-RU" sz="1800" dirty="0">
                <a:latin typeface="+mj-lt"/>
              </a:rPr>
              <a:t>Подлежит ли этот продукт какому-то виду лицензирования?</a:t>
            </a:r>
          </a:p>
          <a:p>
            <a:pPr lvl="1" indent="-342900">
              <a:buClr>
                <a:schemeClr val="accent2"/>
              </a:buClr>
              <a:buFont typeface="Arial" panose="020B0604020202020204" pitchFamily="34" charset="0"/>
              <a:buChar char="•"/>
            </a:pPr>
            <a:r>
              <a:rPr lang="ru-RU" sz="1800" dirty="0">
                <a:latin typeface="+mj-lt"/>
              </a:rPr>
              <a:t>Необходима ли какая-то особая сопроводительная документация?</a:t>
            </a:r>
          </a:p>
          <a:p>
            <a:pPr lvl="1" indent="-342900">
              <a:buClr>
                <a:schemeClr val="accent2"/>
              </a:buClr>
              <a:buFont typeface="Arial" panose="020B0604020202020204" pitchFamily="34" charset="0"/>
              <a:buChar char="•"/>
            </a:pPr>
            <a:r>
              <a:rPr lang="ru-RU" sz="1800" dirty="0">
                <a:latin typeface="+mj-lt"/>
              </a:rPr>
              <a:t>Ясно ли из документации ручки видно, в какой стране она произведена?</a:t>
            </a:r>
          </a:p>
          <a:p>
            <a:pPr lvl="1" indent="-342900">
              <a:buClr>
                <a:schemeClr val="accent2"/>
              </a:buClr>
              <a:buFont typeface="Arial" panose="020B0604020202020204" pitchFamily="34" charset="0"/>
              <a:buChar char="•"/>
            </a:pPr>
            <a:r>
              <a:rPr lang="ru-RU" sz="1800" dirty="0">
                <a:latin typeface="+mj-lt"/>
              </a:rPr>
              <a:t>Существуют ли какие-то законодательные особенности, препятствующие распространению нашего продукта?</a:t>
            </a:r>
            <a:endParaRPr lang="en-US" sz="1800" dirty="0">
              <a:latin typeface="+mj-lt"/>
            </a:endParaRPr>
          </a:p>
        </p:txBody>
      </p:sp>
      <p:sp>
        <p:nvSpPr>
          <p:cNvPr id="3" name="Rectangle 2">
            <a:extLst>
              <a:ext uri="{FF2B5EF4-FFF2-40B4-BE49-F238E27FC236}">
                <a16:creationId xmlns:a16="http://schemas.microsoft.com/office/drawing/2014/main" id="{E204C89F-6AD3-4DE4-84EF-5C4C06302D84}"/>
              </a:ext>
            </a:extLst>
          </p:cNvPr>
          <p:cNvSpPr/>
          <p:nvPr/>
        </p:nvSpPr>
        <p:spPr>
          <a:xfrm>
            <a:off x="6400866" y="1399917"/>
            <a:ext cx="1515158" cy="307777"/>
          </a:xfrm>
          <a:prstGeom prst="rect">
            <a:avLst/>
          </a:prstGeom>
        </p:spPr>
        <p:txBody>
          <a:bodyPr wrap="none">
            <a:spAutoFit/>
          </a:bodyPr>
          <a:lstStyle/>
          <a:p>
            <a:r>
              <a:rPr lang="en-US" b="1" dirty="0">
                <a:solidFill>
                  <a:srgbClr val="000000"/>
                </a:solidFill>
                <a:latin typeface="Arial" panose="020B0604020202020204" pitchFamily="34" charset="0"/>
              </a:rPr>
              <a:t>regulation tests</a:t>
            </a:r>
            <a:endParaRPr lang="en-US" dirty="0"/>
          </a:p>
        </p:txBody>
      </p:sp>
      <p:pic>
        <p:nvPicPr>
          <p:cNvPr id="37890" name="Picture 2">
            <a:extLst>
              <a:ext uri="{FF2B5EF4-FFF2-40B4-BE49-F238E27FC236}">
                <a16:creationId xmlns:a16="http://schemas.microsoft.com/office/drawing/2014/main" id="{0B51462B-7553-4595-8D4C-D0CB64396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3615" y="2820081"/>
            <a:ext cx="1771650" cy="141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189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Внимание!</a:t>
            </a:r>
            <a:endParaRPr lang="en-US" dirty="0"/>
          </a:p>
        </p:txBody>
      </p:sp>
      <p:sp>
        <p:nvSpPr>
          <p:cNvPr id="3" name="TextBox 2"/>
          <p:cNvSpPr txBox="1"/>
          <p:nvPr/>
        </p:nvSpPr>
        <p:spPr>
          <a:xfrm>
            <a:off x="2209263" y="1867436"/>
            <a:ext cx="4725473" cy="14465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ru-RU" sz="2200" dirty="0">
                <a:latin typeface="+mj-lt"/>
              </a:rPr>
              <a:t>Без </a:t>
            </a:r>
            <a:r>
              <a:rPr lang="ru-RU" sz="2200" b="1" dirty="0">
                <a:solidFill>
                  <a:srgbClr val="C00000"/>
                </a:solidFill>
                <a:latin typeface="+mj-lt"/>
              </a:rPr>
              <a:t>записанного чек-листа </a:t>
            </a:r>
            <a:r>
              <a:rPr lang="ru-RU" sz="2200" dirty="0">
                <a:latin typeface="+mj-lt"/>
              </a:rPr>
              <a:t>уже через несколько минут идеи начинают дублироваться, теряться, искажаться и т.п.</a:t>
            </a:r>
            <a:endParaRPr lang="en-US" sz="2200" dirty="0">
              <a:latin typeface="+mj-lt"/>
            </a:endParaRPr>
          </a:p>
        </p:txBody>
      </p:sp>
    </p:spTree>
    <p:extLst>
      <p:ext uri="{BB962C8B-B14F-4D97-AF65-F5344CB8AC3E}">
        <p14:creationId xmlns:p14="http://schemas.microsoft.com/office/powerpoint/2010/main" val="277215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6015749" cy="647100"/>
          </a:xfrm>
        </p:spPr>
        <p:txBody>
          <a:bodyPr/>
          <a:lstStyle/>
          <a:p>
            <a:r>
              <a:rPr lang="ru-RU" dirty="0"/>
              <a:t>Техники тест дизайна</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2262676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EECA22-CFEF-4632-B347-8617791B8381}"/>
              </a:ext>
            </a:extLst>
          </p:cNvPr>
          <p:cNvSpPr>
            <a:spLocks noGrp="1"/>
          </p:cNvSpPr>
          <p:nvPr>
            <p:ph type="body" sz="quarter" idx="10"/>
          </p:nvPr>
        </p:nvSpPr>
        <p:spPr/>
        <p:txBody>
          <a:bodyPr/>
          <a:lstStyle/>
          <a:p>
            <a:r>
              <a:rPr lang="ru-RU" dirty="0"/>
              <a:t>Наиболее распространенные техники тест дизайна</a:t>
            </a:r>
            <a:endParaRPr lang="en-US" dirty="0"/>
          </a:p>
        </p:txBody>
      </p:sp>
      <p:sp>
        <p:nvSpPr>
          <p:cNvPr id="3" name="Rectangle 2">
            <a:extLst>
              <a:ext uri="{FF2B5EF4-FFF2-40B4-BE49-F238E27FC236}">
                <a16:creationId xmlns:a16="http://schemas.microsoft.com/office/drawing/2014/main" id="{D72581B4-F077-436E-8577-ABEE2BB48EE6}"/>
              </a:ext>
            </a:extLst>
          </p:cNvPr>
          <p:cNvSpPr/>
          <p:nvPr/>
        </p:nvSpPr>
        <p:spPr>
          <a:xfrm>
            <a:off x="357051" y="742295"/>
            <a:ext cx="8429897" cy="4401205"/>
          </a:xfrm>
          <a:prstGeom prst="rect">
            <a:avLst/>
          </a:prstGeom>
        </p:spPr>
        <p:txBody>
          <a:bodyPr wrap="square">
            <a:spAutoFit/>
          </a:bodyPr>
          <a:lstStyle/>
          <a:p>
            <a:pPr>
              <a:buFont typeface="Arial" panose="020B0604020202020204" pitchFamily="34" charset="0"/>
              <a:buChar char="•"/>
            </a:pPr>
            <a:r>
              <a:rPr lang="ru-RU" b="1" dirty="0">
                <a:solidFill>
                  <a:srgbClr val="2A2A2A"/>
                </a:solidFill>
                <a:latin typeface="Georgia" panose="02040502050405020303" pitchFamily="18" charset="0"/>
              </a:rPr>
              <a:t>Эквивалентное Разделение</a:t>
            </a:r>
            <a:r>
              <a:rPr lang="ru-RU" dirty="0">
                <a:solidFill>
                  <a:srgbClr val="2A2A2A"/>
                </a:solidFill>
                <a:latin typeface="Georgia" panose="02040502050405020303" pitchFamily="18" charset="0"/>
              </a:rPr>
              <a:t> (</a:t>
            </a:r>
            <a:r>
              <a:rPr lang="ru-RU" b="1" dirty="0">
                <a:solidFill>
                  <a:srgbClr val="2A2A2A"/>
                </a:solidFill>
                <a:latin typeface="Georgia" panose="02040502050405020303" pitchFamily="18" charset="0"/>
              </a:rPr>
              <a:t>Equivalence Partitioning - EP</a:t>
            </a:r>
            <a:r>
              <a:rPr lang="ru-RU" dirty="0">
                <a:solidFill>
                  <a:srgbClr val="2A2A2A"/>
                </a:solidFill>
                <a:latin typeface="Georgia" panose="02040502050405020303" pitchFamily="18" charset="0"/>
              </a:rPr>
              <a:t>). Как пример, у вас есть диапазон допустимых значений от 1 до 10, вы должны выбрать одно верное значение внутри интервала, скажем, 5, и одно неверное значение вне интервала - 0.</a:t>
            </a:r>
            <a:br>
              <a:rPr lang="ru-RU" dirty="0">
                <a:solidFill>
                  <a:srgbClr val="2A2A2A"/>
                </a:solidFill>
                <a:latin typeface="Georgia" panose="02040502050405020303" pitchFamily="18" charset="0"/>
              </a:rPr>
            </a:br>
            <a:br>
              <a:rPr lang="ru-RU" dirty="0">
                <a:solidFill>
                  <a:srgbClr val="2A2A2A"/>
                </a:solidFill>
                <a:latin typeface="Georgia" panose="02040502050405020303" pitchFamily="18" charset="0"/>
              </a:rPr>
            </a:br>
            <a:endParaRPr lang="ru-RU" dirty="0">
              <a:solidFill>
                <a:srgbClr val="2A2A2A"/>
              </a:solidFill>
              <a:latin typeface="Georgia" panose="02040502050405020303" pitchFamily="18" charset="0"/>
            </a:endParaRPr>
          </a:p>
          <a:p>
            <a:pPr>
              <a:buFont typeface="Arial" panose="020B0604020202020204" pitchFamily="34" charset="0"/>
              <a:buChar char="•"/>
            </a:pPr>
            <a:r>
              <a:rPr lang="ru-RU" b="1" dirty="0">
                <a:solidFill>
                  <a:srgbClr val="2A2A2A"/>
                </a:solidFill>
                <a:latin typeface="Georgia" panose="02040502050405020303" pitchFamily="18" charset="0"/>
              </a:rPr>
              <a:t>Анализ Граничных Значений</a:t>
            </a:r>
            <a:r>
              <a:rPr lang="ru-RU" dirty="0">
                <a:solidFill>
                  <a:srgbClr val="2A2A2A"/>
                </a:solidFill>
                <a:latin typeface="Georgia" panose="02040502050405020303" pitchFamily="18" charset="0"/>
              </a:rPr>
              <a:t> (</a:t>
            </a:r>
            <a:r>
              <a:rPr lang="ru-RU" b="1" dirty="0">
                <a:solidFill>
                  <a:srgbClr val="2A2A2A"/>
                </a:solidFill>
                <a:latin typeface="Georgia" panose="02040502050405020303" pitchFamily="18" charset="0"/>
              </a:rPr>
              <a:t>Boundary Value Analysis - BVA</a:t>
            </a:r>
            <a:r>
              <a:rPr lang="ru-RU" dirty="0">
                <a:solidFill>
                  <a:srgbClr val="2A2A2A"/>
                </a:solidFill>
                <a:latin typeface="Georgia" panose="02040502050405020303" pitchFamily="18" charset="0"/>
              </a:rPr>
              <a:t>). Если взять пример выше, в качестве значений для позитивного тестирования выберем минимальную и максимальную границы (1 и 10), и значения больше и меньше границ (0 и 11). Анализ Граничный значений может быть применен к полям, записям, файлам, или к любого рода сущностям имеющим ограничения.</a:t>
            </a:r>
            <a:br>
              <a:rPr lang="ru-RU" dirty="0">
                <a:solidFill>
                  <a:srgbClr val="2A2A2A"/>
                </a:solidFill>
                <a:latin typeface="Georgia" panose="02040502050405020303" pitchFamily="18" charset="0"/>
              </a:rPr>
            </a:br>
            <a:br>
              <a:rPr lang="ru-RU" dirty="0">
                <a:solidFill>
                  <a:srgbClr val="2A2A2A"/>
                </a:solidFill>
                <a:latin typeface="Georgia" panose="02040502050405020303" pitchFamily="18" charset="0"/>
              </a:rPr>
            </a:br>
            <a:endParaRPr lang="ru-RU" dirty="0">
              <a:solidFill>
                <a:srgbClr val="2A2A2A"/>
              </a:solidFill>
              <a:latin typeface="Georgia" panose="02040502050405020303" pitchFamily="18" charset="0"/>
            </a:endParaRPr>
          </a:p>
          <a:p>
            <a:pPr>
              <a:buFont typeface="Arial" panose="020B0604020202020204" pitchFamily="34" charset="0"/>
              <a:buChar char="•"/>
            </a:pPr>
            <a:r>
              <a:rPr lang="ru-RU" b="1" dirty="0">
                <a:solidFill>
                  <a:srgbClr val="2A2A2A"/>
                </a:solidFill>
                <a:latin typeface="Georgia" panose="02040502050405020303" pitchFamily="18" charset="0"/>
              </a:rPr>
              <a:t>Причина / Следствие</a:t>
            </a:r>
            <a:r>
              <a:rPr lang="ru-RU" dirty="0">
                <a:solidFill>
                  <a:srgbClr val="2A2A2A"/>
                </a:solidFill>
                <a:latin typeface="Georgia" panose="02040502050405020303" pitchFamily="18" charset="0"/>
              </a:rPr>
              <a:t> (</a:t>
            </a:r>
            <a:r>
              <a:rPr lang="ru-RU" b="1" dirty="0">
                <a:solidFill>
                  <a:srgbClr val="2A2A2A"/>
                </a:solidFill>
                <a:latin typeface="Georgia" panose="02040502050405020303" pitchFamily="18" charset="0"/>
              </a:rPr>
              <a:t>Cause/Effect - CE</a:t>
            </a:r>
            <a:r>
              <a:rPr lang="ru-RU" dirty="0">
                <a:solidFill>
                  <a:srgbClr val="2A2A2A"/>
                </a:solidFill>
                <a:latin typeface="Georgia" panose="02040502050405020303" pitchFamily="18" charset="0"/>
              </a:rPr>
              <a:t>). Это, как правило, ввод комбинаций условий (причин), для получения ответа от системы (Следствие). Например, вы проверяете возможность добавлять клиента, используя определенную экранную форму. Для этого вам необходимо будет ввести несколько полей, таких как "Имя", "Адрес", "Номер Телефона" а затем, нажать кнопку "Добавить" - эта "Причина". После нажатия кнопки "Добавить", система добавляет клиента в базу данных и показывает его номер на экране - это "Следствие".</a:t>
            </a:r>
            <a:br>
              <a:rPr lang="ru-RU" dirty="0">
                <a:solidFill>
                  <a:srgbClr val="2A2A2A"/>
                </a:solidFill>
                <a:latin typeface="Georgia" panose="02040502050405020303" pitchFamily="18" charset="0"/>
              </a:rPr>
            </a:br>
            <a:br>
              <a:rPr lang="ru-RU" dirty="0">
                <a:solidFill>
                  <a:srgbClr val="2A2A2A"/>
                </a:solidFill>
                <a:latin typeface="Georgia" panose="02040502050405020303" pitchFamily="18" charset="0"/>
              </a:rPr>
            </a:br>
            <a:endParaRPr lang="ru-RU" b="0" i="0" dirty="0">
              <a:solidFill>
                <a:srgbClr val="2A2A2A"/>
              </a:solidFill>
              <a:effectLst/>
              <a:latin typeface="Georgia" panose="02040502050405020303" pitchFamily="18" charset="0"/>
            </a:endParaRPr>
          </a:p>
        </p:txBody>
      </p:sp>
    </p:spTree>
    <p:extLst>
      <p:ext uri="{BB962C8B-B14F-4D97-AF65-F5344CB8AC3E}">
        <p14:creationId xmlns:p14="http://schemas.microsoft.com/office/powerpoint/2010/main" val="3943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BB20BB-1921-4699-9A8C-C2E126AB949D}"/>
              </a:ext>
            </a:extLst>
          </p:cNvPr>
          <p:cNvSpPr>
            <a:spLocks noGrp="1"/>
          </p:cNvSpPr>
          <p:nvPr>
            <p:ph type="body" sz="quarter" idx="10"/>
          </p:nvPr>
        </p:nvSpPr>
        <p:spPr/>
        <p:txBody>
          <a:bodyPr/>
          <a:lstStyle/>
          <a:p>
            <a:r>
              <a:rPr lang="ru-RU" dirty="0"/>
              <a:t>Наиболее распространенные техники тест дизайна</a:t>
            </a:r>
            <a:endParaRPr lang="en-US" dirty="0"/>
          </a:p>
        </p:txBody>
      </p:sp>
      <p:sp>
        <p:nvSpPr>
          <p:cNvPr id="3" name="Rectangle 2">
            <a:extLst>
              <a:ext uri="{FF2B5EF4-FFF2-40B4-BE49-F238E27FC236}">
                <a16:creationId xmlns:a16="http://schemas.microsoft.com/office/drawing/2014/main" id="{742160DD-14F4-4F56-AACF-05E577469CD8}"/>
              </a:ext>
            </a:extLst>
          </p:cNvPr>
          <p:cNvSpPr/>
          <p:nvPr/>
        </p:nvSpPr>
        <p:spPr>
          <a:xfrm>
            <a:off x="322217" y="855608"/>
            <a:ext cx="8499566" cy="2893100"/>
          </a:xfrm>
          <a:prstGeom prst="rect">
            <a:avLst/>
          </a:prstGeom>
        </p:spPr>
        <p:txBody>
          <a:bodyPr wrap="square">
            <a:spAutoFit/>
          </a:bodyPr>
          <a:lstStyle/>
          <a:p>
            <a:pPr algn="just">
              <a:buFont typeface="Arial" panose="020B0604020202020204" pitchFamily="34" charset="0"/>
              <a:buChar char="•"/>
            </a:pPr>
            <a:endParaRPr lang="ru-RU" dirty="0">
              <a:solidFill>
                <a:srgbClr val="2A2A2A"/>
              </a:solidFill>
              <a:latin typeface="Georgia" panose="02040502050405020303" pitchFamily="18" charset="0"/>
            </a:endParaRPr>
          </a:p>
          <a:p>
            <a:pPr>
              <a:buFont typeface="Arial" panose="020B0604020202020204" pitchFamily="34" charset="0"/>
              <a:buChar char="•"/>
            </a:pPr>
            <a:r>
              <a:rPr lang="ru-RU" b="1" dirty="0">
                <a:solidFill>
                  <a:srgbClr val="2A2A2A"/>
                </a:solidFill>
                <a:latin typeface="Georgia" panose="02040502050405020303" pitchFamily="18" charset="0"/>
              </a:rPr>
              <a:t>Предугадывание ошибки</a:t>
            </a:r>
            <a:r>
              <a:rPr lang="ru-RU" dirty="0">
                <a:solidFill>
                  <a:srgbClr val="2A2A2A"/>
                </a:solidFill>
                <a:latin typeface="Georgia" panose="02040502050405020303" pitchFamily="18" charset="0"/>
              </a:rPr>
              <a:t> (</a:t>
            </a:r>
            <a:r>
              <a:rPr lang="ru-RU" b="1" dirty="0">
                <a:solidFill>
                  <a:srgbClr val="2A2A2A"/>
                </a:solidFill>
                <a:latin typeface="Georgia" panose="02040502050405020303" pitchFamily="18" charset="0"/>
              </a:rPr>
              <a:t>Error Guessing - EG</a:t>
            </a:r>
            <a:r>
              <a:rPr lang="ru-RU" dirty="0">
                <a:solidFill>
                  <a:srgbClr val="2A2A2A"/>
                </a:solidFill>
                <a:latin typeface="Georgia" panose="02040502050405020303" pitchFamily="18" charset="0"/>
              </a:rPr>
              <a:t>). Это когда тестировщик использует свои знания системы и способность к интерпретации спецификации на предмет того, чтобы "предугадать" при каких входных условиях система может выдать ошибку. Например, спецификация говорит: "пользователь должен ввести код". Тестировщик, будет думать: "Что, если я не введу код?", "Что, если я введу неправильный код? ", и так далее. Это и есть предугадывание ошибки.</a:t>
            </a:r>
            <a:br>
              <a:rPr lang="ru-RU" dirty="0">
                <a:solidFill>
                  <a:srgbClr val="2A2A2A"/>
                </a:solidFill>
                <a:latin typeface="Georgia" panose="02040502050405020303" pitchFamily="18" charset="0"/>
              </a:rPr>
            </a:br>
            <a:br>
              <a:rPr lang="ru-RU" dirty="0">
                <a:solidFill>
                  <a:srgbClr val="2A2A2A"/>
                </a:solidFill>
                <a:latin typeface="Georgia" panose="02040502050405020303" pitchFamily="18" charset="0"/>
              </a:rPr>
            </a:br>
            <a:endParaRPr lang="ru-RU" dirty="0">
              <a:solidFill>
                <a:srgbClr val="2A2A2A"/>
              </a:solidFill>
              <a:latin typeface="Georgia" panose="02040502050405020303" pitchFamily="18" charset="0"/>
            </a:endParaRPr>
          </a:p>
          <a:p>
            <a:pPr>
              <a:buFont typeface="Arial" panose="020B0604020202020204" pitchFamily="34" charset="0"/>
              <a:buChar char="•"/>
            </a:pPr>
            <a:r>
              <a:rPr lang="ru-RU" b="1" dirty="0">
                <a:solidFill>
                  <a:srgbClr val="2A2A2A"/>
                </a:solidFill>
                <a:latin typeface="Georgia" panose="02040502050405020303" pitchFamily="18" charset="0"/>
              </a:rPr>
              <a:t>Исчерпывающее тестирование</a:t>
            </a:r>
            <a:r>
              <a:rPr lang="ru-RU" dirty="0">
                <a:solidFill>
                  <a:srgbClr val="2A2A2A"/>
                </a:solidFill>
                <a:latin typeface="Georgia" panose="02040502050405020303" pitchFamily="18" charset="0"/>
              </a:rPr>
              <a:t> (</a:t>
            </a:r>
            <a:r>
              <a:rPr lang="ru-RU" b="1" dirty="0">
                <a:solidFill>
                  <a:srgbClr val="2A2A2A"/>
                </a:solidFill>
                <a:latin typeface="Georgia" panose="02040502050405020303" pitchFamily="18" charset="0"/>
              </a:rPr>
              <a:t>Exhaustive Testing - ET</a:t>
            </a:r>
            <a:r>
              <a:rPr lang="ru-RU" dirty="0">
                <a:solidFill>
                  <a:srgbClr val="2A2A2A"/>
                </a:solidFill>
                <a:latin typeface="Georgia" panose="02040502050405020303" pitchFamily="18" charset="0"/>
              </a:rPr>
              <a:t>) - это крайний случай. В пределах этой техники вы должны проверить все возможные комбинации входных значений, и в принципе, это должно найти все проблемы. На практике применение этого метода не представляется возможным, из-за огромного количества входных значений.</a:t>
            </a:r>
          </a:p>
        </p:txBody>
      </p:sp>
    </p:spTree>
    <p:extLst>
      <p:ext uri="{BB962C8B-B14F-4D97-AF65-F5344CB8AC3E}">
        <p14:creationId xmlns:p14="http://schemas.microsoft.com/office/powerpoint/2010/main" val="1856570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Эквивалентное Разделение. Классы эквивалентности</a:t>
            </a:r>
            <a:endParaRPr lang="en-US" dirty="0"/>
          </a:p>
        </p:txBody>
      </p:sp>
      <p:sp>
        <p:nvSpPr>
          <p:cNvPr id="8" name="Rectangle 7"/>
          <p:cNvSpPr/>
          <p:nvPr/>
        </p:nvSpPr>
        <p:spPr>
          <a:xfrm>
            <a:off x="587951" y="1168784"/>
            <a:ext cx="4254393" cy="132343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ru-RU" sz="1600" b="1" dirty="0">
                <a:solidFill>
                  <a:srgbClr val="C00000"/>
                </a:solidFill>
                <a:latin typeface="+mj-lt"/>
                <a:cs typeface="Arial" pitchFamily="34" charset="0"/>
              </a:rPr>
              <a:t>Класс эквивалентности</a:t>
            </a:r>
            <a:r>
              <a:rPr lang="ru-RU" sz="1600" dirty="0">
                <a:solidFill>
                  <a:srgbClr val="C00000"/>
                </a:solidFill>
                <a:latin typeface="+mj-lt"/>
                <a:cs typeface="Arial" pitchFamily="34" charset="0"/>
              </a:rPr>
              <a:t> </a:t>
            </a:r>
            <a:r>
              <a:rPr lang="en-US" sz="1600" dirty="0">
                <a:latin typeface="+mj-lt"/>
                <a:cs typeface="Arial" pitchFamily="34" charset="0"/>
              </a:rPr>
              <a:t>(equivalence class) </a:t>
            </a:r>
            <a:r>
              <a:rPr lang="ru-RU" sz="1600" dirty="0">
                <a:latin typeface="+mj-lt"/>
                <a:cs typeface="Arial" pitchFamily="34" charset="0"/>
              </a:rPr>
              <a:t>– набор тестов, полное выполнение которого является избыточным и не приводит к обнаружению новых дефектов.</a:t>
            </a:r>
          </a:p>
        </p:txBody>
      </p:sp>
      <p:pic>
        <p:nvPicPr>
          <p:cNvPr id="38914" name="Picture 2">
            <a:extLst>
              <a:ext uri="{FF2B5EF4-FFF2-40B4-BE49-F238E27FC236}">
                <a16:creationId xmlns:a16="http://schemas.microsoft.com/office/drawing/2014/main" id="{E207EAB3-7256-4B1E-A6FA-5E61DC16B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75" y="2733676"/>
            <a:ext cx="1952625"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665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Признаки эквивалентности</a:t>
            </a:r>
            <a:endParaRPr lang="en-US" dirty="0"/>
          </a:p>
        </p:txBody>
      </p:sp>
      <p:graphicFrame>
        <p:nvGraphicFramePr>
          <p:cNvPr id="3" name="Diagram 2"/>
          <p:cNvGraphicFramePr/>
          <p:nvPr>
            <p:extLst>
              <p:ext uri="{D42A27DB-BD31-4B8C-83A1-F6EECF244321}">
                <p14:modId xmlns:p14="http://schemas.microsoft.com/office/powerpoint/2010/main" val="692690065"/>
              </p:ext>
            </p:extLst>
          </p:nvPr>
        </p:nvGraphicFramePr>
        <p:xfrm>
          <a:off x="-1" y="699516"/>
          <a:ext cx="8571507" cy="40156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197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727FE31E-1F08-4AFA-B80E-0BED20A26FBE}"/>
                                            </p:graphicEl>
                                          </p:spTgt>
                                        </p:tgtEl>
                                        <p:attrNameLst>
                                          <p:attrName>style.visibility</p:attrName>
                                        </p:attrNameLst>
                                      </p:cBhvr>
                                      <p:to>
                                        <p:strVal val="visible"/>
                                      </p:to>
                                    </p:set>
                                    <p:animEffect transition="in" filter="fade">
                                      <p:cBhvr>
                                        <p:cTn id="7" dur="500"/>
                                        <p:tgtEl>
                                          <p:spTgt spid="3">
                                            <p:graphicEl>
                                              <a:dgm id="{727FE31E-1F08-4AFA-B80E-0BED20A26FBE}"/>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graphicEl>
                                              <a:dgm id="{BFBF620C-70D4-43EE-8217-EA274A755E5F}"/>
                                            </p:graphicEl>
                                          </p:spTgt>
                                        </p:tgtEl>
                                        <p:attrNameLst>
                                          <p:attrName>style.visibility</p:attrName>
                                        </p:attrNameLst>
                                      </p:cBhvr>
                                      <p:to>
                                        <p:strVal val="visible"/>
                                      </p:to>
                                    </p:set>
                                    <p:animEffect transition="in" filter="fade">
                                      <p:cBhvr>
                                        <p:cTn id="10" dur="500"/>
                                        <p:tgtEl>
                                          <p:spTgt spid="3">
                                            <p:graphicEl>
                                              <a:dgm id="{BFBF620C-70D4-43EE-8217-EA274A755E5F}"/>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graphicEl>
                                              <a:dgm id="{DAF7D0D3-9DF8-484A-BEA0-0F9D0DFBFB1D}"/>
                                            </p:graphicEl>
                                          </p:spTgt>
                                        </p:tgtEl>
                                        <p:attrNameLst>
                                          <p:attrName>style.visibility</p:attrName>
                                        </p:attrNameLst>
                                      </p:cBhvr>
                                      <p:to>
                                        <p:strVal val="visible"/>
                                      </p:to>
                                    </p:set>
                                    <p:animEffect transition="in" filter="fade">
                                      <p:cBhvr>
                                        <p:cTn id="13" dur="500"/>
                                        <p:tgtEl>
                                          <p:spTgt spid="3">
                                            <p:graphicEl>
                                              <a:dgm id="{DAF7D0D3-9DF8-484A-BEA0-0F9D0DFBFB1D}"/>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graphicEl>
                                              <a:dgm id="{E0F1897C-C95C-4353-8D2B-0D096F66F82F}"/>
                                            </p:graphicEl>
                                          </p:spTgt>
                                        </p:tgtEl>
                                        <p:attrNameLst>
                                          <p:attrName>style.visibility</p:attrName>
                                        </p:attrNameLst>
                                      </p:cBhvr>
                                      <p:to>
                                        <p:strVal val="visible"/>
                                      </p:to>
                                    </p:set>
                                    <p:animEffect transition="in" filter="fade">
                                      <p:cBhvr>
                                        <p:cTn id="18" dur="500"/>
                                        <p:tgtEl>
                                          <p:spTgt spid="3">
                                            <p:graphicEl>
                                              <a:dgm id="{E0F1897C-C95C-4353-8D2B-0D096F66F82F}"/>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graphicEl>
                                              <a:dgm id="{0AFC3E97-540C-4F9C-AA40-7B988E4CE402}"/>
                                            </p:graphicEl>
                                          </p:spTgt>
                                        </p:tgtEl>
                                        <p:attrNameLst>
                                          <p:attrName>style.visibility</p:attrName>
                                        </p:attrNameLst>
                                      </p:cBhvr>
                                      <p:to>
                                        <p:strVal val="visible"/>
                                      </p:to>
                                    </p:set>
                                    <p:animEffect transition="in" filter="fade">
                                      <p:cBhvr>
                                        <p:cTn id="21" dur="500"/>
                                        <p:tgtEl>
                                          <p:spTgt spid="3">
                                            <p:graphicEl>
                                              <a:dgm id="{0AFC3E97-540C-4F9C-AA40-7B988E4CE402}"/>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graphicEl>
                                              <a:dgm id="{87897D3B-C8E4-454E-9927-EDCD7851B349}"/>
                                            </p:graphicEl>
                                          </p:spTgt>
                                        </p:tgtEl>
                                        <p:attrNameLst>
                                          <p:attrName>style.visibility</p:attrName>
                                        </p:attrNameLst>
                                      </p:cBhvr>
                                      <p:to>
                                        <p:strVal val="visible"/>
                                      </p:to>
                                    </p:set>
                                    <p:animEffect transition="in" filter="fade">
                                      <p:cBhvr>
                                        <p:cTn id="26" dur="500"/>
                                        <p:tgtEl>
                                          <p:spTgt spid="3">
                                            <p:graphicEl>
                                              <a:dgm id="{87897D3B-C8E4-454E-9927-EDCD7851B349}"/>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graphicEl>
                                              <a:dgm id="{4DF29975-FFCC-4224-94DA-3B52233915F5}"/>
                                            </p:graphicEl>
                                          </p:spTgt>
                                        </p:tgtEl>
                                        <p:attrNameLst>
                                          <p:attrName>style.visibility</p:attrName>
                                        </p:attrNameLst>
                                      </p:cBhvr>
                                      <p:to>
                                        <p:strVal val="visible"/>
                                      </p:to>
                                    </p:set>
                                    <p:animEffect transition="in" filter="fade">
                                      <p:cBhvr>
                                        <p:cTn id="29" dur="500"/>
                                        <p:tgtEl>
                                          <p:spTgt spid="3">
                                            <p:graphicEl>
                                              <a:dgm id="{4DF29975-FFCC-4224-94DA-3B52233915F5}"/>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graphicEl>
                                              <a:dgm id="{C96E061C-BCD7-45F9-BA9C-78AF40B88B75}"/>
                                            </p:graphicEl>
                                          </p:spTgt>
                                        </p:tgtEl>
                                        <p:attrNameLst>
                                          <p:attrName>style.visibility</p:attrName>
                                        </p:attrNameLst>
                                      </p:cBhvr>
                                      <p:to>
                                        <p:strVal val="visible"/>
                                      </p:to>
                                    </p:set>
                                    <p:animEffect transition="in" filter="fade">
                                      <p:cBhvr>
                                        <p:cTn id="34" dur="500"/>
                                        <p:tgtEl>
                                          <p:spTgt spid="3">
                                            <p:graphicEl>
                                              <a:dgm id="{C96E061C-BCD7-45F9-BA9C-78AF40B88B75}"/>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graphicEl>
                                              <a:dgm id="{43C51388-9EBB-4D66-B79A-D7137F49D372}"/>
                                            </p:graphicEl>
                                          </p:spTgt>
                                        </p:tgtEl>
                                        <p:attrNameLst>
                                          <p:attrName>style.visibility</p:attrName>
                                        </p:attrNameLst>
                                      </p:cBhvr>
                                      <p:to>
                                        <p:strVal val="visible"/>
                                      </p:to>
                                    </p:set>
                                    <p:animEffect transition="in" filter="fade">
                                      <p:cBhvr>
                                        <p:cTn id="37" dur="500"/>
                                        <p:tgtEl>
                                          <p:spTgt spid="3">
                                            <p:graphicEl>
                                              <a:dgm id="{43C51388-9EBB-4D66-B79A-D7137F49D372}"/>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graphicEl>
                                              <a:dgm id="{CDFD5C97-56D7-4FCC-9182-ECBBCAFFC7E7}"/>
                                            </p:graphicEl>
                                          </p:spTgt>
                                        </p:tgtEl>
                                        <p:attrNameLst>
                                          <p:attrName>style.visibility</p:attrName>
                                        </p:attrNameLst>
                                      </p:cBhvr>
                                      <p:to>
                                        <p:strVal val="visible"/>
                                      </p:to>
                                    </p:set>
                                    <p:animEffect transition="in" filter="fade">
                                      <p:cBhvr>
                                        <p:cTn id="42" dur="500"/>
                                        <p:tgtEl>
                                          <p:spTgt spid="3">
                                            <p:graphicEl>
                                              <a:dgm id="{CDFD5C97-56D7-4FCC-9182-ECBBCAFFC7E7}"/>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graphicEl>
                                              <a:dgm id="{547ED57D-F25F-45D0-8BC4-FFF8C42E9294}"/>
                                            </p:graphicEl>
                                          </p:spTgt>
                                        </p:tgtEl>
                                        <p:attrNameLst>
                                          <p:attrName>style.visibility</p:attrName>
                                        </p:attrNameLst>
                                      </p:cBhvr>
                                      <p:to>
                                        <p:strVal val="visible"/>
                                      </p:to>
                                    </p:set>
                                    <p:animEffect transition="in" filter="fade">
                                      <p:cBhvr>
                                        <p:cTn id="45" dur="500"/>
                                        <p:tgtEl>
                                          <p:spTgt spid="3">
                                            <p:graphicEl>
                                              <a:dgm id="{547ED57D-F25F-45D0-8BC4-FFF8C42E9294}"/>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graphicEl>
                                              <a:dgm id="{A4A347E7-4249-4009-B3AC-91325942D75D}"/>
                                            </p:graphicEl>
                                          </p:spTgt>
                                        </p:tgtEl>
                                        <p:attrNameLst>
                                          <p:attrName>style.visibility</p:attrName>
                                        </p:attrNameLst>
                                      </p:cBhvr>
                                      <p:to>
                                        <p:strVal val="visible"/>
                                      </p:to>
                                    </p:set>
                                    <p:animEffect transition="in" filter="fade">
                                      <p:cBhvr>
                                        <p:cTn id="50" dur="500"/>
                                        <p:tgtEl>
                                          <p:spTgt spid="3">
                                            <p:graphicEl>
                                              <a:dgm id="{A4A347E7-4249-4009-B3AC-91325942D75D}"/>
                                            </p:graphic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
                                            <p:graphicEl>
                                              <a:dgm id="{65202B14-A835-41F9-8CA1-B95FE64097C1}"/>
                                            </p:graphicEl>
                                          </p:spTgt>
                                        </p:tgtEl>
                                        <p:attrNameLst>
                                          <p:attrName>style.visibility</p:attrName>
                                        </p:attrNameLst>
                                      </p:cBhvr>
                                      <p:to>
                                        <p:strVal val="visible"/>
                                      </p:to>
                                    </p:set>
                                    <p:animEffect transition="in" filter="fade">
                                      <p:cBhvr>
                                        <p:cTn id="53" dur="500"/>
                                        <p:tgtEl>
                                          <p:spTgt spid="3">
                                            <p:graphicEl>
                                              <a:dgm id="{65202B14-A835-41F9-8CA1-B95FE64097C1}"/>
                                            </p:graphic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graphicEl>
                                              <a:dgm id="{A93E8CF0-E14E-4D2F-9EE0-5A2F3126C70F}"/>
                                            </p:graphicEl>
                                          </p:spTgt>
                                        </p:tgtEl>
                                        <p:attrNameLst>
                                          <p:attrName>style.visibility</p:attrName>
                                        </p:attrNameLst>
                                      </p:cBhvr>
                                      <p:to>
                                        <p:strVal val="visible"/>
                                      </p:to>
                                    </p:set>
                                    <p:animEffect transition="in" filter="fade">
                                      <p:cBhvr>
                                        <p:cTn id="58" dur="500"/>
                                        <p:tgtEl>
                                          <p:spTgt spid="3">
                                            <p:graphicEl>
                                              <a:dgm id="{A93E8CF0-E14E-4D2F-9EE0-5A2F3126C70F}"/>
                                            </p:graphic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
                                            <p:graphicEl>
                                              <a:dgm id="{60F79C4C-CC69-4FE6-9F49-ACF29CC4E304}"/>
                                            </p:graphicEl>
                                          </p:spTgt>
                                        </p:tgtEl>
                                        <p:attrNameLst>
                                          <p:attrName>style.visibility</p:attrName>
                                        </p:attrNameLst>
                                      </p:cBhvr>
                                      <p:to>
                                        <p:strVal val="visible"/>
                                      </p:to>
                                    </p:set>
                                    <p:animEffect transition="in" filter="fade">
                                      <p:cBhvr>
                                        <p:cTn id="61" dur="500"/>
                                        <p:tgtEl>
                                          <p:spTgt spid="3">
                                            <p:graphicEl>
                                              <a:dgm id="{60F79C4C-CC69-4FE6-9F49-ACF29CC4E30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72602" y="912259"/>
            <a:ext cx="5554663" cy="93030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Tx/>
              <a:buNone/>
            </a:pPr>
            <a:r>
              <a:rPr lang="ru-RU" sz="1600" b="1" dirty="0">
                <a:solidFill>
                  <a:srgbClr val="C00000"/>
                </a:solidFill>
                <a:latin typeface="+mj-lt"/>
                <a:cs typeface="Arial" pitchFamily="34" charset="0"/>
              </a:rPr>
              <a:t>Граничные условия</a:t>
            </a:r>
            <a:r>
              <a:rPr lang="ru-RU" sz="1600" dirty="0">
                <a:solidFill>
                  <a:srgbClr val="C00000"/>
                </a:solidFill>
                <a:latin typeface="+mj-lt"/>
                <a:cs typeface="Arial" pitchFamily="34" charset="0"/>
              </a:rPr>
              <a:t> </a:t>
            </a:r>
            <a:r>
              <a:rPr lang="ru-RU" sz="1600" dirty="0">
                <a:latin typeface="+mj-lt"/>
                <a:cs typeface="Arial" pitchFamily="34" charset="0"/>
              </a:rPr>
              <a:t>(</a:t>
            </a:r>
            <a:r>
              <a:rPr lang="en-US" sz="1600" dirty="0">
                <a:latin typeface="+mj-lt"/>
                <a:cs typeface="Arial" pitchFamily="34" charset="0"/>
              </a:rPr>
              <a:t>border conditions</a:t>
            </a:r>
            <a:r>
              <a:rPr lang="ru-RU" sz="1600" dirty="0">
                <a:latin typeface="+mj-lt"/>
                <a:cs typeface="Arial" pitchFamily="34" charset="0"/>
              </a:rPr>
              <a:t>) – это те места, в которых один класс эквивалентности переходит в другой.</a:t>
            </a:r>
            <a:endParaRPr lang="ru-RU" sz="1600" b="1" dirty="0">
              <a:latin typeface="+mj-lt"/>
              <a:cs typeface="Arial" pitchFamily="34" charset="0"/>
            </a:endParaRPr>
          </a:p>
        </p:txBody>
      </p:sp>
      <p:sp>
        <p:nvSpPr>
          <p:cNvPr id="2" name="Text Placeholder 1"/>
          <p:cNvSpPr>
            <a:spLocks noGrp="1"/>
          </p:cNvSpPr>
          <p:nvPr>
            <p:ph type="body" sz="quarter" idx="10"/>
          </p:nvPr>
        </p:nvSpPr>
        <p:spPr/>
        <p:txBody>
          <a:bodyPr/>
          <a:lstStyle/>
          <a:p>
            <a:r>
              <a:rPr lang="ru-RU" dirty="0"/>
              <a:t>Классы эквивалентности. Граничные условия</a:t>
            </a:r>
            <a:endParaRPr lang="en-US" dirty="0"/>
          </a:p>
        </p:txBody>
      </p:sp>
      <p:sp>
        <p:nvSpPr>
          <p:cNvPr id="4" name="Text Box 6"/>
          <p:cNvSpPr txBox="1">
            <a:spLocks noChangeArrowheads="1"/>
          </p:cNvSpPr>
          <p:nvPr/>
        </p:nvSpPr>
        <p:spPr bwMode="auto">
          <a:xfrm>
            <a:off x="3823063" y="2346832"/>
            <a:ext cx="438116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ru-RU" i="1" dirty="0">
                <a:latin typeface="+mj-lt"/>
                <a:cs typeface="Arial" pitchFamily="34" charset="0"/>
              </a:rPr>
              <a:t>Граничные условия очень важны, и их обязательно следует проверять в тестах, т.к. именно в этом месте чаще всего и обнаруживаются ошибки.</a:t>
            </a:r>
          </a:p>
        </p:txBody>
      </p:sp>
    </p:spTree>
    <p:extLst>
      <p:ext uri="{BB962C8B-B14F-4D97-AF65-F5344CB8AC3E}">
        <p14:creationId xmlns:p14="http://schemas.microsoft.com/office/powerpoint/2010/main" val="1620732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Классы эквивалентности. Пример 1</a:t>
            </a:r>
            <a:endParaRPr lang="en-US" dirty="0"/>
          </a:p>
        </p:txBody>
      </p:sp>
      <p:sp>
        <p:nvSpPr>
          <p:cNvPr id="3" name="Rectangle 2"/>
          <p:cNvSpPr/>
          <p:nvPr/>
        </p:nvSpPr>
        <p:spPr>
          <a:xfrm>
            <a:off x="234562" y="973563"/>
            <a:ext cx="6301409" cy="781752"/>
          </a:xfrm>
          <a:prstGeom prst="rect">
            <a:avLst/>
          </a:prstGeom>
        </p:spPr>
        <p:txBody>
          <a:bodyPr wrap="square">
            <a:spAutoFit/>
          </a:bodyPr>
          <a:lstStyle/>
          <a:p>
            <a:pPr indent="363538" algn="just">
              <a:lnSpc>
                <a:spcPct val="80000"/>
              </a:lnSpc>
            </a:pPr>
            <a:r>
              <a:rPr lang="ru-RU" dirty="0"/>
              <a:t>Проверить реакцию приложения на ввод слишком короткого (менее трёх символов) или слишком длинного (более 20-ти символов) имени пользователя, которое может содержать только английские буквы, цифры и знак подчёркивания.</a:t>
            </a:r>
          </a:p>
        </p:txBody>
      </p:sp>
      <p:sp>
        <p:nvSpPr>
          <p:cNvPr id="4" name="Rectangle 3"/>
          <p:cNvSpPr/>
          <p:nvPr/>
        </p:nvSpPr>
        <p:spPr>
          <a:xfrm>
            <a:off x="234562" y="1861305"/>
            <a:ext cx="5442668" cy="1298817"/>
          </a:xfrm>
          <a:prstGeom prst="rect">
            <a:avLst/>
          </a:prstGeom>
        </p:spPr>
        <p:txBody>
          <a:bodyPr wrap="square">
            <a:spAutoFit/>
          </a:bodyPr>
          <a:lstStyle/>
          <a:p>
            <a:pPr indent="363538" algn="just">
              <a:lnSpc>
                <a:spcPct val="80000"/>
              </a:lnSpc>
            </a:pPr>
            <a:r>
              <a:rPr lang="ru-RU" b="1" dirty="0"/>
              <a:t>Классы эквивалентности:</a:t>
            </a:r>
          </a:p>
          <a:p>
            <a:pPr indent="363538" algn="just">
              <a:lnSpc>
                <a:spcPct val="80000"/>
              </a:lnSpc>
              <a:buFontTx/>
              <a:buAutoNum type="arabicPeriod"/>
            </a:pPr>
            <a:r>
              <a:rPr lang="ru-RU" b="1" dirty="0">
                <a:solidFill>
                  <a:schemeClr val="accent5"/>
                </a:solidFill>
              </a:rPr>
              <a:t>Позитивный тест:</a:t>
            </a:r>
            <a:r>
              <a:rPr lang="ru-RU" dirty="0">
                <a:solidFill>
                  <a:schemeClr val="accent5"/>
                </a:solidFill>
              </a:rPr>
              <a:t> </a:t>
            </a:r>
            <a:r>
              <a:rPr lang="ru-RU" dirty="0"/>
              <a:t>строка допустимых символов длиной от трёх до 20-ти символов.</a:t>
            </a:r>
          </a:p>
          <a:p>
            <a:pPr indent="363538" algn="just">
              <a:lnSpc>
                <a:spcPct val="80000"/>
              </a:lnSpc>
              <a:buFontTx/>
              <a:buAutoNum type="arabicPeriod"/>
            </a:pPr>
            <a:r>
              <a:rPr lang="ru-RU" b="1" dirty="0">
                <a:solidFill>
                  <a:srgbClr val="C00000"/>
                </a:solidFill>
              </a:rPr>
              <a:t>Негативный тест:</a:t>
            </a:r>
            <a:r>
              <a:rPr lang="ru-RU" dirty="0">
                <a:solidFill>
                  <a:srgbClr val="C00000"/>
                </a:solidFill>
              </a:rPr>
              <a:t> </a:t>
            </a:r>
            <a:r>
              <a:rPr lang="ru-RU" dirty="0"/>
              <a:t>строка короче трёх символов.</a:t>
            </a:r>
          </a:p>
          <a:p>
            <a:pPr indent="363538" algn="just">
              <a:lnSpc>
                <a:spcPct val="80000"/>
              </a:lnSpc>
              <a:buFontTx/>
              <a:buAutoNum type="arabicPeriod"/>
            </a:pPr>
            <a:r>
              <a:rPr lang="ru-RU" b="1" dirty="0">
                <a:solidFill>
                  <a:srgbClr val="C00000"/>
                </a:solidFill>
              </a:rPr>
              <a:t>Негативный тест:</a:t>
            </a:r>
            <a:r>
              <a:rPr lang="ru-RU" dirty="0">
                <a:solidFill>
                  <a:srgbClr val="C00000"/>
                </a:solidFill>
              </a:rPr>
              <a:t> </a:t>
            </a:r>
            <a:r>
              <a:rPr lang="ru-RU" dirty="0"/>
              <a:t>строка длиннее 20-ти символов.</a:t>
            </a:r>
          </a:p>
          <a:p>
            <a:pPr indent="363538">
              <a:lnSpc>
                <a:spcPct val="80000"/>
              </a:lnSpc>
              <a:buFontTx/>
              <a:buAutoNum type="arabicPeriod"/>
            </a:pPr>
            <a:r>
              <a:rPr lang="ru-RU" b="1" dirty="0">
                <a:solidFill>
                  <a:srgbClr val="C00000"/>
                </a:solidFill>
              </a:rPr>
              <a:t>Негативный</a:t>
            </a:r>
            <a:r>
              <a:rPr lang="en-US" b="1" dirty="0">
                <a:solidFill>
                  <a:srgbClr val="C00000"/>
                </a:solidFill>
              </a:rPr>
              <a:t> </a:t>
            </a:r>
            <a:r>
              <a:rPr lang="ru-RU" b="1" dirty="0">
                <a:solidFill>
                  <a:srgbClr val="C00000"/>
                </a:solidFill>
              </a:rPr>
              <a:t>тест:</a:t>
            </a:r>
            <a:r>
              <a:rPr lang="ru-RU" dirty="0">
                <a:solidFill>
                  <a:srgbClr val="C00000"/>
                </a:solidFill>
              </a:rPr>
              <a:t> </a:t>
            </a:r>
            <a:r>
              <a:rPr lang="ru-RU" dirty="0"/>
              <a:t>строка длиной от трёх до 20-ти символов, содержащая недопустимые символы.</a:t>
            </a:r>
          </a:p>
        </p:txBody>
      </p:sp>
      <p:sp>
        <p:nvSpPr>
          <p:cNvPr id="5" name="Rectangle 4"/>
          <p:cNvSpPr/>
          <p:nvPr/>
        </p:nvSpPr>
        <p:spPr>
          <a:xfrm>
            <a:off x="4353716" y="3388186"/>
            <a:ext cx="4572000" cy="954107"/>
          </a:xfrm>
          <a:prstGeom prst="rect">
            <a:avLst/>
          </a:prstGeom>
        </p:spPr>
        <p:txBody>
          <a:bodyPr>
            <a:spAutoFit/>
          </a:bodyPr>
          <a:lstStyle/>
          <a:p>
            <a:pPr indent="363538" algn="just">
              <a:lnSpc>
                <a:spcPct val="80000"/>
              </a:lnSpc>
            </a:pPr>
            <a:r>
              <a:rPr lang="ru-RU" b="1" dirty="0"/>
              <a:t>Тесты:</a:t>
            </a:r>
            <a:endParaRPr lang="en-US" b="1" dirty="0"/>
          </a:p>
          <a:p>
            <a:pPr indent="363538" algn="just">
              <a:lnSpc>
                <a:spcPct val="80000"/>
              </a:lnSpc>
              <a:buFontTx/>
              <a:buAutoNum type="arabicPeriod"/>
            </a:pPr>
            <a:r>
              <a:rPr lang="en-US" dirty="0"/>
              <a:t>ABC, ABCDEFGHIJKLMNOPQRST, abc_12_def</a:t>
            </a:r>
          </a:p>
          <a:p>
            <a:pPr indent="363538" algn="just">
              <a:lnSpc>
                <a:spcPct val="80000"/>
              </a:lnSpc>
              <a:buFontTx/>
              <a:buAutoNum type="arabicPeriod"/>
            </a:pPr>
            <a:r>
              <a:rPr lang="en-US" dirty="0"/>
              <a:t>AA</a:t>
            </a:r>
            <a:r>
              <a:rPr lang="ru-RU" dirty="0"/>
              <a:t>, </a:t>
            </a:r>
            <a:r>
              <a:rPr lang="en-US" dirty="0"/>
              <a:t>{</a:t>
            </a:r>
            <a:r>
              <a:rPr lang="ru-RU" dirty="0"/>
              <a:t>пустая строка</a:t>
            </a:r>
            <a:r>
              <a:rPr lang="en-US" dirty="0"/>
              <a:t>}</a:t>
            </a:r>
            <a:endParaRPr lang="ru-RU" dirty="0"/>
          </a:p>
          <a:p>
            <a:pPr indent="363538" algn="just">
              <a:lnSpc>
                <a:spcPct val="80000"/>
              </a:lnSpc>
              <a:buFontTx/>
              <a:buAutoNum type="arabicPeriod"/>
            </a:pPr>
            <a:r>
              <a:rPr lang="en-US" dirty="0"/>
              <a:t>AAAAAAAAAAAAAAAAAAAAA </a:t>
            </a:r>
            <a:r>
              <a:rPr lang="en-US" i="1" dirty="0"/>
              <a:t>(21 </a:t>
            </a:r>
            <a:r>
              <a:rPr lang="ru-RU" i="1" dirty="0"/>
              <a:t>символ</a:t>
            </a:r>
            <a:r>
              <a:rPr lang="en-US" i="1" dirty="0"/>
              <a:t>)</a:t>
            </a:r>
          </a:p>
          <a:p>
            <a:pPr indent="363538" algn="just">
              <a:lnSpc>
                <a:spcPct val="80000"/>
              </a:lnSpc>
              <a:buFontTx/>
              <a:buAutoNum type="arabicPeriod"/>
            </a:pPr>
            <a:r>
              <a:rPr lang="en-US" dirty="0"/>
              <a:t>Abcd#23456%@#&amp;#%^#</a:t>
            </a:r>
            <a:endParaRPr lang="ru-RU" dirty="0"/>
          </a:p>
        </p:txBody>
      </p:sp>
    </p:spTree>
    <p:extLst>
      <p:ext uri="{BB962C8B-B14F-4D97-AF65-F5344CB8AC3E}">
        <p14:creationId xmlns:p14="http://schemas.microsoft.com/office/powerpoint/2010/main" val="858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Классы эквивалентности. Пример 2</a:t>
            </a:r>
            <a:endParaRPr lang="en-US" dirty="0"/>
          </a:p>
        </p:txBody>
      </p:sp>
      <p:sp>
        <p:nvSpPr>
          <p:cNvPr id="3" name="Rectangle 2"/>
          <p:cNvSpPr/>
          <p:nvPr/>
        </p:nvSpPr>
        <p:spPr>
          <a:xfrm>
            <a:off x="2140888" y="1045125"/>
            <a:ext cx="4862223" cy="738664"/>
          </a:xfrm>
          <a:prstGeom prst="rect">
            <a:avLst/>
          </a:prstGeom>
        </p:spPr>
        <p:txBody>
          <a:bodyPr wrap="square">
            <a:spAutoFit/>
          </a:bodyPr>
          <a:lstStyle/>
          <a:p>
            <a:pPr algn="ctr"/>
            <a:r>
              <a:rPr lang="ru-RU" dirty="0"/>
              <a:t>«</a:t>
            </a:r>
            <a:r>
              <a:rPr lang="ru-RU" i="1" dirty="0"/>
              <a:t>Чтобы добавить файл в свою фотогалерею на сайте, пользователь должен кликнуть по кнопке Открыть, выбрать файл и кликнуть по кнопке </a:t>
            </a:r>
            <a:r>
              <a:rPr lang="en-US" i="1" dirty="0"/>
              <a:t>OK</a:t>
            </a:r>
            <a:r>
              <a:rPr lang="ru-RU" dirty="0"/>
              <a:t>»</a:t>
            </a:r>
            <a:r>
              <a:rPr lang="en-US" dirty="0"/>
              <a:t>. </a:t>
            </a:r>
            <a:endParaRPr lang="ru-RU" dirty="0"/>
          </a:p>
        </p:txBody>
      </p:sp>
      <p:sp>
        <p:nvSpPr>
          <p:cNvPr id="4" name="Rectangle 3"/>
          <p:cNvSpPr/>
          <p:nvPr/>
        </p:nvSpPr>
        <p:spPr>
          <a:xfrm>
            <a:off x="262393" y="2242267"/>
            <a:ext cx="8481014" cy="584775"/>
          </a:xfrm>
          <a:prstGeom prst="rect">
            <a:avLst/>
          </a:prstGeom>
        </p:spPr>
        <p:txBody>
          <a:bodyPr wrap="square">
            <a:spAutoFit/>
          </a:bodyPr>
          <a:lstStyle/>
          <a:p>
            <a:r>
              <a:rPr lang="ru-RU" sz="1600" dirty="0"/>
              <a:t>Давайте </a:t>
            </a:r>
            <a:r>
              <a:rPr lang="ru-RU" sz="1600" b="1" dirty="0"/>
              <a:t>абстрагируемся от пользовательского интерфейса</a:t>
            </a:r>
            <a:r>
              <a:rPr lang="ru-RU" sz="1600" dirty="0"/>
              <a:t> и подумаем о файле. </a:t>
            </a:r>
            <a:r>
              <a:rPr lang="ru-RU" sz="1600" dirty="0">
                <a:solidFill>
                  <a:srgbClr val="C00000"/>
                </a:solidFill>
              </a:rPr>
              <a:t>Какие случаи нам надо будет проверить?</a:t>
            </a:r>
          </a:p>
        </p:txBody>
      </p:sp>
    </p:spTree>
    <p:extLst>
      <p:ext uri="{BB962C8B-B14F-4D97-AF65-F5344CB8AC3E}">
        <p14:creationId xmlns:p14="http://schemas.microsoft.com/office/powerpoint/2010/main" val="2561909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Классы эквивалентности. Пример 3</a:t>
            </a:r>
            <a:endParaRPr lang="en-US" dirty="0"/>
          </a:p>
        </p:txBody>
      </p:sp>
      <p:graphicFrame>
        <p:nvGraphicFramePr>
          <p:cNvPr id="3" name="Group 29"/>
          <p:cNvGraphicFramePr>
            <a:graphicFrameLocks/>
          </p:cNvGraphicFramePr>
          <p:nvPr>
            <p:extLst>
              <p:ext uri="{D42A27DB-BD31-4B8C-83A1-F6EECF244321}">
                <p14:modId xmlns:p14="http://schemas.microsoft.com/office/powerpoint/2010/main" val="1261195716"/>
              </p:ext>
            </p:extLst>
          </p:nvPr>
        </p:nvGraphicFramePr>
        <p:xfrm>
          <a:off x="990600" y="1106487"/>
          <a:ext cx="2514600" cy="357188"/>
        </p:xfrm>
        <a:graphic>
          <a:graphicData uri="http://schemas.openxmlformats.org/drawingml/2006/table">
            <a:tbl>
              <a:tblPr/>
              <a:tblGrid>
                <a:gridCol w="1192561">
                  <a:extLst>
                    <a:ext uri="{9D8B030D-6E8A-4147-A177-3AD203B41FA5}">
                      <a16:colId xmlns:a16="http://schemas.microsoft.com/office/drawing/2014/main" val="20000"/>
                    </a:ext>
                  </a:extLst>
                </a:gridCol>
                <a:gridCol w="1322039">
                  <a:extLst>
                    <a:ext uri="{9D8B030D-6E8A-4147-A177-3AD203B41FA5}">
                      <a16:colId xmlns:a16="http://schemas.microsoft.com/office/drawing/2014/main" val="20001"/>
                    </a:ext>
                  </a:extLst>
                </a:gridCol>
              </a:tblGrid>
              <a:tr h="357188">
                <a:tc>
                  <a:txBody>
                    <a:bodyPr/>
                    <a:lstStyle/>
                    <a:p>
                      <a:pPr marL="0" marR="0" lvl="0" indent="0" algn="l" defTabSz="914400" rtl="0" eaLnBrk="1" fontAlgn="base" latinLnBrk="0" hangingPunct="1">
                        <a:lnSpc>
                          <a:spcPct val="100000"/>
                        </a:lnSpc>
                        <a:spcBef>
                          <a:spcPct val="20000"/>
                        </a:spcBef>
                        <a:spcAft>
                          <a:spcPct val="0"/>
                        </a:spcAft>
                        <a:buClrTx/>
                        <a:buSzTx/>
                        <a:buFont typeface="Verdana" pitchFamily="34" charset="0"/>
                        <a:buNone/>
                        <a:tabLst/>
                      </a:pPr>
                      <a:r>
                        <a:rPr kumimoji="0" lang="ru-RU" sz="1600" b="1" i="0" u="none" strike="noStrike" cap="none" normalizeH="0" baseline="0" dirty="0">
                          <a:ln>
                            <a:noFill/>
                          </a:ln>
                          <a:solidFill>
                            <a:srgbClr val="002B78"/>
                          </a:solidFill>
                          <a:effectLst/>
                          <a:latin typeface="Tahoma" pitchFamily="34" charset="0"/>
                        </a:rPr>
                        <a:t>Дата</a:t>
                      </a:r>
                      <a:r>
                        <a:rPr kumimoji="0" lang="en-US" sz="1600" b="1" i="0" u="none" strike="noStrike" cap="none" normalizeH="0" baseline="0" dirty="0">
                          <a:ln>
                            <a:noFill/>
                          </a:ln>
                          <a:solidFill>
                            <a:srgbClr val="002B78"/>
                          </a:solidFill>
                          <a:effectLst/>
                          <a:latin typeface="Tahoma" pitchFamily="34" charset="0"/>
                        </a:rPr>
                        <a:t>: </a:t>
                      </a:r>
                      <a:endParaRPr kumimoji="0" lang="ru-RU" sz="1600" b="1" i="0" u="none" strike="noStrike" cap="none" normalizeH="0" baseline="0" dirty="0">
                        <a:ln>
                          <a:noFill/>
                        </a:ln>
                        <a:solidFill>
                          <a:srgbClr val="002B78"/>
                        </a:solidFill>
                        <a:effectLst/>
                        <a:latin typeface="Tahoma" pitchFamily="34" charset="0"/>
                      </a:endParaRPr>
                    </a:p>
                  </a:txBody>
                  <a:tcPr horzOverflow="overflow">
                    <a:lnL cap="flat">
                      <a:noFill/>
                    </a:lnL>
                    <a:lnR w="1905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 </a:t>
                      </a:r>
                      <a:r>
                        <a:rPr kumimoji="0" lang="ru-RU" sz="1600" b="1" i="0" u="none" strike="noStrike" cap="none" normalizeH="0" baseline="0" dirty="0">
                          <a:ln>
                            <a:noFill/>
                          </a:ln>
                          <a:solidFill>
                            <a:srgbClr val="002B78"/>
                          </a:solidFill>
                          <a:effectLst/>
                          <a:latin typeface="Tahoma" pitchFamily="34" charset="0"/>
                        </a:rPr>
                        <a:t>0</a:t>
                      </a:r>
                      <a:r>
                        <a:rPr kumimoji="0" lang="en-US" sz="1600" b="1" i="0" u="none" strike="noStrike" cap="none" normalizeH="0" baseline="0" dirty="0">
                          <a:ln>
                            <a:noFill/>
                          </a:ln>
                          <a:solidFill>
                            <a:srgbClr val="002B78"/>
                          </a:solidFill>
                          <a:effectLst/>
                          <a:latin typeface="Tahoma" pitchFamily="34" charset="0"/>
                        </a:rPr>
                        <a:t>3/12/06</a:t>
                      </a:r>
                      <a:endParaRPr kumimoji="0" lang="ru-RU" sz="1400" b="0" i="0" u="none" strike="noStrike" cap="none" normalizeH="0" baseline="0" dirty="0">
                        <a:ln>
                          <a:noFill/>
                        </a:ln>
                        <a:solidFill>
                          <a:schemeClr val="tx1"/>
                        </a:solidFill>
                        <a:effectLst/>
                        <a:latin typeface="Tahoma" pitchFamily="34" charset="0"/>
                      </a:endParaRPr>
                    </a:p>
                  </a:txBody>
                  <a:tcP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 name="Rectangle 30"/>
          <p:cNvSpPr txBox="1">
            <a:spLocks noChangeArrowheads="1"/>
          </p:cNvSpPr>
          <p:nvPr/>
        </p:nvSpPr>
        <p:spPr>
          <a:xfrm>
            <a:off x="235889" y="1931849"/>
            <a:ext cx="4741628" cy="1406716"/>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ru-RU" sz="1800" dirty="0">
                <a:latin typeface="Arial" pitchFamily="34" charset="0"/>
                <a:cs typeface="Arial" pitchFamily="34" charset="0"/>
              </a:rPr>
              <a:t>Есть вопросы</a:t>
            </a:r>
            <a:r>
              <a:rPr lang="en-US" sz="1800" dirty="0">
                <a:latin typeface="Arial" pitchFamily="34" charset="0"/>
                <a:cs typeface="Arial" pitchFamily="34" charset="0"/>
              </a:rPr>
              <a:t>?</a:t>
            </a:r>
            <a:r>
              <a:rPr lang="ru-RU" sz="1800" dirty="0">
                <a:latin typeface="Arial" pitchFamily="34" charset="0"/>
                <a:cs typeface="Arial" pitchFamily="34" charset="0"/>
              </a:rPr>
              <a:t> </a:t>
            </a:r>
            <a:r>
              <a:rPr lang="ru-RU" sz="1800" dirty="0">
                <a:latin typeface="Arial" pitchFamily="34" charset="0"/>
                <a:cs typeface="Arial" pitchFamily="34" charset="0"/>
                <a:sym typeface="Wingdings" pitchFamily="2" charset="2"/>
              </a:rPr>
              <a:t></a:t>
            </a:r>
            <a:endParaRPr lang="en-US" sz="1800" dirty="0">
              <a:latin typeface="Arial" pitchFamily="34" charset="0"/>
              <a:cs typeface="Arial" pitchFamily="34" charset="0"/>
            </a:endParaRPr>
          </a:p>
          <a:p>
            <a:pPr marL="0" indent="0">
              <a:buNone/>
            </a:pPr>
            <a:r>
              <a:rPr lang="ru-RU" sz="1800" dirty="0">
                <a:latin typeface="Arial" pitchFamily="34" charset="0"/>
                <a:cs typeface="Arial" pitchFamily="34" charset="0"/>
              </a:rPr>
              <a:t>Какие здесь классы эквивалентности?</a:t>
            </a:r>
            <a:endParaRPr lang="en-US" sz="1800" dirty="0">
              <a:latin typeface="Arial" pitchFamily="34" charset="0"/>
              <a:cs typeface="Arial" pitchFamily="34" charset="0"/>
            </a:endParaRPr>
          </a:p>
          <a:p>
            <a:pPr marL="0" indent="0">
              <a:buNone/>
            </a:pPr>
            <a:r>
              <a:rPr lang="ru-RU" sz="1800" b="1" dirty="0">
                <a:latin typeface="Arial" pitchFamily="34" charset="0"/>
                <a:cs typeface="Arial" pitchFamily="34" charset="0"/>
              </a:rPr>
              <a:t>Допустимая дата, недопустимая дата</a:t>
            </a:r>
            <a:r>
              <a:rPr lang="en-US" sz="1800" b="1" dirty="0">
                <a:latin typeface="Arial" pitchFamily="34" charset="0"/>
                <a:cs typeface="Arial" pitchFamily="34" charset="0"/>
              </a:rPr>
              <a:t>.</a:t>
            </a:r>
          </a:p>
          <a:p>
            <a:pPr marL="0" indent="0">
              <a:buNone/>
            </a:pPr>
            <a:r>
              <a:rPr lang="ru-RU" sz="1800" dirty="0">
                <a:latin typeface="Arial" pitchFamily="34" charset="0"/>
                <a:cs typeface="Arial" pitchFamily="34" charset="0"/>
              </a:rPr>
              <a:t>Какая дата является допустимой</a:t>
            </a:r>
            <a:r>
              <a:rPr lang="en-US" sz="1800" dirty="0">
                <a:latin typeface="Arial" pitchFamily="34" charset="0"/>
                <a:cs typeface="Arial" pitchFamily="34" charset="0"/>
              </a:rPr>
              <a:t>?</a:t>
            </a:r>
          </a:p>
          <a:p>
            <a:pPr marL="0" indent="0"/>
            <a:endParaRPr lang="en-US" sz="1600" dirty="0">
              <a:latin typeface="Arial" pitchFamily="34" charset="0"/>
              <a:cs typeface="Arial" pitchFamily="34" charset="0"/>
            </a:endParaRPr>
          </a:p>
          <a:p>
            <a:pPr marL="0" indent="0"/>
            <a:endParaRPr lang="en-US" sz="1600" dirty="0">
              <a:latin typeface="Arial" pitchFamily="34" charset="0"/>
              <a:cs typeface="Arial" pitchFamily="34" charset="0"/>
            </a:endParaRPr>
          </a:p>
          <a:p>
            <a:pPr marL="0" indent="0"/>
            <a:endParaRPr lang="ru-RU" sz="1600" dirty="0">
              <a:latin typeface="Arial" pitchFamily="34" charset="0"/>
              <a:cs typeface="Arial" pitchFamily="34" charset="0"/>
            </a:endParaRPr>
          </a:p>
        </p:txBody>
      </p:sp>
      <p:sp>
        <p:nvSpPr>
          <p:cNvPr id="5" name="Text Box 31"/>
          <p:cNvSpPr txBox="1">
            <a:spLocks noChangeArrowheads="1"/>
          </p:cNvSpPr>
          <p:nvPr/>
        </p:nvSpPr>
        <p:spPr bwMode="auto">
          <a:xfrm>
            <a:off x="2192337" y="1476374"/>
            <a:ext cx="1008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1600" dirty="0">
                <a:latin typeface="Arial" pitchFamily="34" charset="0"/>
                <a:cs typeface="Arial" pitchFamily="34" charset="0"/>
              </a:rPr>
              <a:t>m/dd/</a:t>
            </a:r>
            <a:r>
              <a:rPr lang="en-US" sz="1600" dirty="0" err="1">
                <a:latin typeface="Arial" pitchFamily="34" charset="0"/>
                <a:cs typeface="Arial" pitchFamily="34" charset="0"/>
              </a:rPr>
              <a:t>yy</a:t>
            </a:r>
            <a:endParaRPr lang="ru-RU" sz="1600" dirty="0">
              <a:latin typeface="Arial" pitchFamily="34" charset="0"/>
              <a:cs typeface="Arial" pitchFamily="34" charset="0"/>
            </a:endParaRPr>
          </a:p>
        </p:txBody>
      </p:sp>
      <p:graphicFrame>
        <p:nvGraphicFramePr>
          <p:cNvPr id="6" name="Group 61"/>
          <p:cNvGraphicFramePr>
            <a:graphicFrameLocks noGrp="1"/>
          </p:cNvGraphicFramePr>
          <p:nvPr>
            <p:extLst>
              <p:ext uri="{D42A27DB-BD31-4B8C-83A1-F6EECF244321}">
                <p14:modId xmlns:p14="http://schemas.microsoft.com/office/powerpoint/2010/main" val="3818288221"/>
              </p:ext>
            </p:extLst>
          </p:nvPr>
        </p:nvGraphicFramePr>
        <p:xfrm>
          <a:off x="4977518" y="2615979"/>
          <a:ext cx="3878910" cy="1958729"/>
        </p:xfrm>
        <a:graphic>
          <a:graphicData uri="http://schemas.openxmlformats.org/drawingml/2006/table">
            <a:tbl>
              <a:tblPr/>
              <a:tblGrid>
                <a:gridCol w="1292970">
                  <a:extLst>
                    <a:ext uri="{9D8B030D-6E8A-4147-A177-3AD203B41FA5}">
                      <a16:colId xmlns:a16="http://schemas.microsoft.com/office/drawing/2014/main" val="20000"/>
                    </a:ext>
                  </a:extLst>
                </a:gridCol>
                <a:gridCol w="1292970">
                  <a:extLst>
                    <a:ext uri="{9D8B030D-6E8A-4147-A177-3AD203B41FA5}">
                      <a16:colId xmlns:a16="http://schemas.microsoft.com/office/drawing/2014/main" val="20001"/>
                    </a:ext>
                  </a:extLst>
                </a:gridCol>
                <a:gridCol w="1292970">
                  <a:extLst>
                    <a:ext uri="{9D8B030D-6E8A-4147-A177-3AD203B41FA5}">
                      <a16:colId xmlns:a16="http://schemas.microsoft.com/office/drawing/2014/main" val="20002"/>
                    </a:ext>
                  </a:extLst>
                </a:gridCol>
              </a:tblGrid>
              <a:tr h="1520639">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600" b="1" i="0" u="none" strike="noStrike" cap="none" normalizeH="0" baseline="0" dirty="0">
                          <a:ln>
                            <a:noFill/>
                          </a:ln>
                          <a:solidFill>
                            <a:srgbClr val="002B78"/>
                          </a:solidFill>
                          <a:effectLst/>
                          <a:latin typeface="Tahoma" pitchFamily="34" charset="0"/>
                        </a:rPr>
                        <a:t>Год</a:t>
                      </a:r>
                      <a:endParaRPr kumimoji="0" lang="en-US" sz="16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endParaRPr kumimoji="0" lang="en-US" sz="16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0-99</a:t>
                      </a:r>
                      <a:endParaRPr kumimoji="0" lang="ru-RU" sz="1600" b="1" i="0" u="none" strike="noStrike" cap="none" normalizeH="0" baseline="0" dirty="0">
                        <a:ln>
                          <a:noFill/>
                        </a:ln>
                        <a:solidFill>
                          <a:srgbClr val="002B78"/>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600" b="1" i="0" u="none" strike="noStrike" cap="none" normalizeH="0" baseline="0" dirty="0">
                          <a:ln>
                            <a:noFill/>
                          </a:ln>
                          <a:solidFill>
                            <a:srgbClr val="002B78"/>
                          </a:solidFill>
                          <a:effectLst/>
                          <a:latin typeface="Tahoma" pitchFamily="34" charset="0"/>
                        </a:rPr>
                        <a:t>Месяц</a:t>
                      </a:r>
                      <a:endParaRPr kumimoji="0" lang="en-US" sz="16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endParaRPr kumimoji="0" lang="en-US" sz="16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1-12</a:t>
                      </a:r>
                      <a:endParaRPr kumimoji="0" lang="ru-RU" sz="1600" b="1" i="0" u="none" strike="noStrike" cap="none" normalizeH="0" baseline="0" dirty="0">
                        <a:ln>
                          <a:noFill/>
                        </a:ln>
                        <a:solidFill>
                          <a:srgbClr val="002B78"/>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600" b="1" i="0" u="none" strike="noStrike" cap="none" normalizeH="0" baseline="0" dirty="0">
                          <a:ln>
                            <a:noFill/>
                          </a:ln>
                          <a:solidFill>
                            <a:srgbClr val="002B78"/>
                          </a:solidFill>
                          <a:effectLst/>
                          <a:latin typeface="Tahoma" pitchFamily="34" charset="0"/>
                        </a:rPr>
                        <a:t>День</a:t>
                      </a:r>
                      <a:endParaRPr kumimoji="0" lang="en-US" sz="16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1-28</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1-29</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1-30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600" b="1" i="0" u="none" strike="noStrike" cap="none" normalizeH="0" baseline="0" dirty="0">
                          <a:ln>
                            <a:noFill/>
                          </a:ln>
                          <a:solidFill>
                            <a:srgbClr val="002B78"/>
                          </a:solidFill>
                          <a:effectLst/>
                          <a:latin typeface="Tahoma" pitchFamily="34" charset="0"/>
                        </a:rPr>
                        <a:t>1-31</a:t>
                      </a:r>
                      <a:endParaRPr kumimoji="0" lang="ru-RU" sz="1600" b="1" i="0" u="none" strike="noStrike" cap="none" normalizeH="0" baseline="0" dirty="0">
                        <a:ln>
                          <a:noFill/>
                        </a:ln>
                        <a:solidFill>
                          <a:srgbClr val="002B78"/>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8090">
                <a:tc gridSpan="3">
                  <a:txBody>
                    <a:bodyPr/>
                    <a:lstStyle/>
                    <a:p>
                      <a:pPr marL="0" marR="0" lvl="0" indent="0" algn="l" defTabSz="914400" rtl="0" eaLnBrk="1" fontAlgn="base" latinLnBrk="0" hangingPunct="1">
                        <a:lnSpc>
                          <a:spcPct val="100000"/>
                        </a:lnSpc>
                        <a:spcBef>
                          <a:spcPct val="20000"/>
                        </a:spcBef>
                        <a:spcAft>
                          <a:spcPct val="0"/>
                        </a:spcAft>
                        <a:buClrTx/>
                        <a:buSzTx/>
                        <a:buFont typeface="Verdana" pitchFamily="34" charset="0"/>
                        <a:buNone/>
                        <a:tabLst/>
                      </a:pPr>
                      <a:r>
                        <a:rPr kumimoji="0" lang="ru-RU" sz="1600" b="1" i="0" u="none" strike="noStrike" cap="none" normalizeH="0" baseline="0" dirty="0">
                          <a:ln>
                            <a:noFill/>
                          </a:ln>
                          <a:solidFill>
                            <a:srgbClr val="002B78"/>
                          </a:solidFill>
                          <a:effectLst/>
                          <a:latin typeface="Tahoma" pitchFamily="34" charset="0"/>
                        </a:rPr>
                        <a:t>Разделитель</a:t>
                      </a:r>
                      <a:r>
                        <a:rPr kumimoji="0" lang="en-US" sz="1600" b="1" i="0" u="none" strike="noStrike" cap="none" normalizeH="0" baseline="0" dirty="0">
                          <a:ln>
                            <a:noFill/>
                          </a:ln>
                          <a:solidFill>
                            <a:srgbClr val="002B78"/>
                          </a:solidFill>
                          <a:effectLst/>
                          <a:latin typeface="Tahoma" pitchFamily="34" charset="0"/>
                        </a:rPr>
                        <a:t>       /</a:t>
                      </a:r>
                      <a:endParaRPr kumimoji="0" lang="ru-RU" sz="1600" b="1" i="0" u="none" strike="noStrike" cap="none" normalizeH="0" baseline="0" dirty="0">
                        <a:ln>
                          <a:noFill/>
                        </a:ln>
                        <a:solidFill>
                          <a:srgbClr val="002B78"/>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9323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heckerboard(across)">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checkerboard(across)">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Классы эквивалентности. Пример 3 </a:t>
            </a:r>
            <a:endParaRPr lang="en-US" dirty="0"/>
          </a:p>
        </p:txBody>
      </p:sp>
      <p:graphicFrame>
        <p:nvGraphicFramePr>
          <p:cNvPr id="3" name="Group 155"/>
          <p:cNvGraphicFramePr>
            <a:graphicFrameLocks/>
          </p:cNvGraphicFramePr>
          <p:nvPr>
            <p:extLst>
              <p:ext uri="{D42A27DB-BD31-4B8C-83A1-F6EECF244321}">
                <p14:modId xmlns:p14="http://schemas.microsoft.com/office/powerpoint/2010/main" val="915350052"/>
              </p:ext>
            </p:extLst>
          </p:nvPr>
        </p:nvGraphicFramePr>
        <p:xfrm>
          <a:off x="203021" y="2282287"/>
          <a:ext cx="2524125" cy="985838"/>
        </p:xfrm>
        <a:graphic>
          <a:graphicData uri="http://schemas.openxmlformats.org/drawingml/2006/table">
            <a:tbl>
              <a:tblPr/>
              <a:tblGrid>
                <a:gridCol w="86360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796925">
                  <a:extLst>
                    <a:ext uri="{9D8B030D-6E8A-4147-A177-3AD203B41FA5}">
                      <a16:colId xmlns:a16="http://schemas.microsoft.com/office/drawing/2014/main" val="20002"/>
                    </a:ext>
                  </a:extLst>
                </a:gridCol>
              </a:tblGrid>
              <a:tr h="985838">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000" b="1" i="0" u="none" strike="noStrike" cap="none" normalizeH="0" baseline="0" dirty="0">
                          <a:ln>
                            <a:noFill/>
                          </a:ln>
                          <a:solidFill>
                            <a:srgbClr val="002B78"/>
                          </a:solidFill>
                          <a:effectLst/>
                          <a:latin typeface="Tahoma" pitchFamily="34" charset="0"/>
                        </a:rPr>
                        <a:t>Год</a:t>
                      </a:r>
                      <a:endParaRPr kumimoji="0" lang="en-US" sz="10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endParaRPr kumimoji="0" lang="en-US" sz="10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0-99</a:t>
                      </a:r>
                      <a:endParaRPr kumimoji="0" lang="ru-RU" sz="1000" b="1" i="0" u="none" strike="noStrike" cap="none" normalizeH="0" baseline="0" dirty="0">
                        <a:ln>
                          <a:noFill/>
                        </a:ln>
                        <a:solidFill>
                          <a:srgbClr val="002B78"/>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000" b="1" i="0" u="none" strike="noStrike" cap="none" normalizeH="0" baseline="0" dirty="0">
                          <a:ln>
                            <a:noFill/>
                          </a:ln>
                          <a:solidFill>
                            <a:srgbClr val="002B78"/>
                          </a:solidFill>
                          <a:effectLst/>
                          <a:latin typeface="Tahoma" pitchFamily="34" charset="0"/>
                        </a:rPr>
                        <a:t>Месяц</a:t>
                      </a:r>
                      <a:endParaRPr kumimoji="0" lang="en-US" sz="10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endParaRPr kumimoji="0" lang="en-US" sz="10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1-12</a:t>
                      </a:r>
                      <a:endParaRPr kumimoji="0" lang="ru-RU" sz="1000" b="1" i="0" u="none" strike="noStrike" cap="none" normalizeH="0" baseline="0" dirty="0">
                        <a:ln>
                          <a:noFill/>
                        </a:ln>
                        <a:solidFill>
                          <a:srgbClr val="002B78"/>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000" b="1" i="0" u="none" strike="noStrike" cap="none" normalizeH="0" baseline="0" dirty="0">
                          <a:ln>
                            <a:noFill/>
                          </a:ln>
                          <a:solidFill>
                            <a:srgbClr val="002B78"/>
                          </a:solidFill>
                          <a:effectLst/>
                          <a:latin typeface="Tahoma" pitchFamily="34" charset="0"/>
                        </a:rPr>
                        <a:t>День</a:t>
                      </a:r>
                      <a:endParaRPr kumimoji="0" lang="en-US" sz="1000" b="1" i="0" u="none" strike="noStrike" cap="none" normalizeH="0" baseline="0" dirty="0">
                        <a:ln>
                          <a:noFill/>
                        </a:ln>
                        <a:solidFill>
                          <a:srgbClr val="002B78"/>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1-28</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1-29</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1-30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000" b="1" i="0" u="none" strike="noStrike" cap="none" normalizeH="0" baseline="0" dirty="0">
                          <a:ln>
                            <a:noFill/>
                          </a:ln>
                          <a:solidFill>
                            <a:srgbClr val="002B78"/>
                          </a:solidFill>
                          <a:effectLst/>
                          <a:latin typeface="Tahoma" pitchFamily="34" charset="0"/>
                        </a:rPr>
                        <a:t>1-31</a:t>
                      </a:r>
                      <a:endParaRPr kumimoji="0" lang="ru-RU" sz="1000" b="1" i="0" u="none" strike="noStrike" cap="none" normalizeH="0" baseline="0" dirty="0">
                        <a:ln>
                          <a:noFill/>
                        </a:ln>
                        <a:solidFill>
                          <a:srgbClr val="002B78"/>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 name="Group 156"/>
          <p:cNvGraphicFramePr>
            <a:graphicFrameLocks noGrp="1"/>
          </p:cNvGraphicFramePr>
          <p:nvPr>
            <p:extLst>
              <p:ext uri="{D42A27DB-BD31-4B8C-83A1-F6EECF244321}">
                <p14:modId xmlns:p14="http://schemas.microsoft.com/office/powerpoint/2010/main" val="25533919"/>
              </p:ext>
            </p:extLst>
          </p:nvPr>
        </p:nvGraphicFramePr>
        <p:xfrm>
          <a:off x="2898514" y="774414"/>
          <a:ext cx="6181876" cy="4001584"/>
        </p:xfrm>
        <a:graphic>
          <a:graphicData uri="http://schemas.openxmlformats.org/drawingml/2006/table">
            <a:tbl>
              <a:tblPr/>
              <a:tblGrid>
                <a:gridCol w="1975266">
                  <a:extLst>
                    <a:ext uri="{9D8B030D-6E8A-4147-A177-3AD203B41FA5}">
                      <a16:colId xmlns:a16="http://schemas.microsoft.com/office/drawing/2014/main" val="20000"/>
                    </a:ext>
                  </a:extLst>
                </a:gridCol>
                <a:gridCol w="1443226">
                  <a:extLst>
                    <a:ext uri="{9D8B030D-6E8A-4147-A177-3AD203B41FA5}">
                      <a16:colId xmlns:a16="http://schemas.microsoft.com/office/drawing/2014/main" val="20001"/>
                    </a:ext>
                  </a:extLst>
                </a:gridCol>
                <a:gridCol w="2763384">
                  <a:extLst>
                    <a:ext uri="{9D8B030D-6E8A-4147-A177-3AD203B41FA5}">
                      <a16:colId xmlns:a16="http://schemas.microsoft.com/office/drawing/2014/main" val="20002"/>
                    </a:ext>
                  </a:extLst>
                </a:gridCol>
              </a:tblGrid>
              <a:tr h="280041">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1" i="0" u="none" strike="noStrike" cap="none" normalizeH="0" baseline="0" dirty="0">
                          <a:ln>
                            <a:noFill/>
                          </a:ln>
                          <a:solidFill>
                            <a:schemeClr val="bg1"/>
                          </a:solidFill>
                          <a:effectLst/>
                          <a:latin typeface="+mj-lt"/>
                        </a:rPr>
                        <a:t>Тест</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002C78"/>
                        </a:gs>
                        <a:gs pos="100000">
                          <a:srgbClr val="002C78">
                            <a:gamma/>
                            <a:tint val="75294"/>
                            <a:invGamma/>
                          </a:srgbClr>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1" i="0" u="none" strike="noStrike" cap="none" normalizeH="0" baseline="0" dirty="0">
                          <a:ln>
                            <a:noFill/>
                          </a:ln>
                          <a:solidFill>
                            <a:schemeClr val="bg1"/>
                          </a:solidFill>
                          <a:effectLst/>
                          <a:latin typeface="+mj-lt"/>
                        </a:rPr>
                        <a:t>Допустимо</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002C78"/>
                        </a:gs>
                        <a:gs pos="100000">
                          <a:srgbClr val="002C78">
                            <a:gamma/>
                            <a:tint val="75294"/>
                            <a:invGamma/>
                          </a:srgbClr>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1" i="0" u="none" strike="noStrike" cap="none" normalizeH="0" baseline="0" dirty="0">
                          <a:ln>
                            <a:noFill/>
                          </a:ln>
                          <a:solidFill>
                            <a:schemeClr val="bg1"/>
                          </a:solidFill>
                          <a:effectLst/>
                          <a:latin typeface="+mj-lt"/>
                        </a:rPr>
                        <a:t>Недопустимо</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002C78"/>
                        </a:gs>
                        <a:gs pos="100000">
                          <a:srgbClr val="002C78">
                            <a:gamma/>
                            <a:tint val="75294"/>
                            <a:invGamma/>
                          </a:srgbClr>
                        </a:gs>
                      </a:gsLst>
                      <a:lin ang="5400000" scaled="1"/>
                    </a:gradFill>
                  </a:tcPr>
                </a:tc>
                <a:extLst>
                  <a:ext uri="{0D108BD9-81ED-4DB2-BD59-A6C34878D82A}">
                    <a16:rowId xmlns:a16="http://schemas.microsoft.com/office/drawing/2014/main" val="10000"/>
                  </a:ext>
                </a:extLst>
              </a:tr>
              <a:tr h="715192">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0" i="0" u="none" strike="noStrike" cap="none" normalizeH="0" baseline="0" dirty="0">
                          <a:ln>
                            <a:noFill/>
                          </a:ln>
                          <a:solidFill>
                            <a:schemeClr val="tx1"/>
                          </a:solidFill>
                          <a:effectLst/>
                          <a:latin typeface="+mj-lt"/>
                        </a:rPr>
                        <a:t>Минимальный день, месяц, год</a:t>
                      </a:r>
                      <a:endParaRPr kumimoji="0" lang="en-US" sz="1400" b="0" i="0" u="none" strike="noStrike" cap="none" normalizeH="0" baseline="0" dirty="0">
                        <a:ln>
                          <a:noFill/>
                        </a:ln>
                        <a:solidFill>
                          <a:schemeClr val="tx1"/>
                        </a:solidFill>
                        <a:effectLst/>
                        <a:latin typeface="+mj-lt"/>
                      </a:endParaRPr>
                    </a:p>
                  </a:txBody>
                  <a:tcPr horzOverflow="overflow">
                    <a:lnL cap="flat">
                      <a:noFill/>
                    </a:lnL>
                    <a:lnR>
                      <a:noFill/>
                    </a:lnR>
                    <a:lnT w="12700" cap="flat" cmpd="sng" algn="ctr">
                      <a:solidFill>
                        <a:schemeClr val="bg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1/1/0</a:t>
                      </a:r>
                    </a:p>
                  </a:txBody>
                  <a:tcPr horzOverflow="overflow">
                    <a:lnL>
                      <a:noFill/>
                    </a:lnL>
                    <a:lnR>
                      <a:noFill/>
                    </a:lnR>
                    <a:lnT w="12700" cap="flat" cmpd="sng" algn="ctr">
                      <a:solidFill>
                        <a:schemeClr val="bg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0/1/0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1/0/0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1/1/-1</a:t>
                      </a:r>
                    </a:p>
                  </a:txBody>
                  <a:tcPr horzOverflow="overflow">
                    <a:lnL>
                      <a:noFill/>
                    </a:lnL>
                    <a:lnR cap="flat">
                      <a:noFill/>
                    </a:lnR>
                    <a:lnT w="12700" cap="flat" cmpd="sng" algn="ctr">
                      <a:solidFill>
                        <a:schemeClr val="bg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715192">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0" i="0" u="none" strike="noStrike" cap="none" normalizeH="0" baseline="0" dirty="0">
                          <a:ln>
                            <a:noFill/>
                          </a:ln>
                          <a:solidFill>
                            <a:schemeClr val="tx1"/>
                          </a:solidFill>
                          <a:effectLst/>
                          <a:latin typeface="+mj-lt"/>
                        </a:rPr>
                        <a:t>Максимальный день, месяц, год</a:t>
                      </a:r>
                    </a:p>
                  </a:txBody>
                  <a:tcPr horzOverflow="overflow">
                    <a:lnL cap="flat">
                      <a:noFill/>
                    </a:lnL>
                    <a:lnR>
                      <a:noFill/>
                    </a:lnR>
                    <a:lnT>
                      <a:noFill/>
                    </a:lnT>
                    <a:lnB>
                      <a:noFill/>
                    </a:lnB>
                    <a:lnTlToBr>
                      <a:noFill/>
                    </a:lnTlToBr>
                    <a:lnBlToTr>
                      <a:noFill/>
                    </a:lnBlToTr>
                    <a:solidFill>
                      <a:srgbClr val="EAEAEA"/>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12/31/99</a:t>
                      </a:r>
                    </a:p>
                  </a:txBody>
                  <a:tcPr horzOverflow="overflow">
                    <a:lnL>
                      <a:noFill/>
                    </a:lnL>
                    <a:lnR>
                      <a:noFill/>
                    </a:lnR>
                    <a:lnT>
                      <a:noFill/>
                    </a:lnT>
                    <a:lnB>
                      <a:noFill/>
                    </a:lnB>
                    <a:lnTlToBr>
                      <a:noFill/>
                    </a:lnTlToBr>
                    <a:lnBlToTr>
                      <a:noFill/>
                    </a:lnBlToTr>
                    <a:solidFill>
                      <a:srgbClr val="EAEAEA"/>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13/31/99</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12/32/99</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12/31/100</a:t>
                      </a:r>
                    </a:p>
                  </a:txBody>
                  <a:tcPr horzOverflow="overflow">
                    <a:lnL>
                      <a:noFill/>
                    </a:lnL>
                    <a:lnR cap="flat">
                      <a:noFill/>
                    </a:lnR>
                    <a:lnT>
                      <a:noFill/>
                    </a:lnT>
                    <a:lnB>
                      <a:noFill/>
                    </a:lnB>
                    <a:lnTlToBr>
                      <a:noFill/>
                    </a:lnTlToBr>
                    <a:lnBlToTr>
                      <a:noFill/>
                    </a:lnBlToTr>
                    <a:solidFill>
                      <a:srgbClr val="EAEAEA"/>
                    </a:solidFill>
                  </a:tcPr>
                </a:tc>
                <a:extLst>
                  <a:ext uri="{0D108BD9-81ED-4DB2-BD59-A6C34878D82A}">
                    <a16:rowId xmlns:a16="http://schemas.microsoft.com/office/drawing/2014/main" val="10002"/>
                  </a:ext>
                </a:extLst>
              </a:tr>
              <a:tr h="715192">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0" i="0" u="none" strike="noStrike" cap="none" normalizeH="0" baseline="0" dirty="0">
                          <a:ln>
                            <a:noFill/>
                          </a:ln>
                          <a:solidFill>
                            <a:schemeClr val="tx1"/>
                          </a:solidFill>
                          <a:effectLst/>
                          <a:latin typeface="+mj-lt"/>
                        </a:rPr>
                        <a:t>Максимальный день</a:t>
                      </a:r>
                      <a:endParaRPr kumimoji="0" lang="en-US" sz="1400" b="0" i="0" u="none" strike="noStrike" cap="none" normalizeH="0" baseline="0" dirty="0">
                        <a:ln>
                          <a:noFill/>
                        </a:ln>
                        <a:solidFill>
                          <a:schemeClr val="tx1"/>
                        </a:solidFill>
                        <a:effectLst/>
                        <a:latin typeface="+mj-lt"/>
                      </a:endParaRP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2/29/20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2/28/01</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04/30/65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2/30/20</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2/2</a:t>
                      </a:r>
                      <a:r>
                        <a:rPr kumimoji="0" lang="ru-RU" sz="1400" b="0" i="0" u="none" strike="noStrike" cap="none" normalizeH="0" baseline="0" dirty="0">
                          <a:ln>
                            <a:noFill/>
                          </a:ln>
                          <a:solidFill>
                            <a:schemeClr val="tx1"/>
                          </a:solidFill>
                          <a:effectLst/>
                          <a:latin typeface="+mj-lt"/>
                        </a:rPr>
                        <a:t>9</a:t>
                      </a:r>
                      <a:r>
                        <a:rPr kumimoji="0" lang="en-US" sz="1400" b="0" i="0" u="none" strike="noStrike" cap="none" normalizeH="0" baseline="0" dirty="0">
                          <a:ln>
                            <a:noFill/>
                          </a:ln>
                          <a:solidFill>
                            <a:schemeClr val="tx1"/>
                          </a:solidFill>
                          <a:effectLst/>
                          <a:latin typeface="+mj-lt"/>
                        </a:rPr>
                        <a:t>/01</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04/31/65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15192">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0" i="0" u="none" strike="noStrike" cap="none" normalizeH="0" baseline="0" dirty="0">
                          <a:ln>
                            <a:noFill/>
                          </a:ln>
                          <a:solidFill>
                            <a:schemeClr val="tx1"/>
                          </a:solidFill>
                          <a:effectLst/>
                          <a:latin typeface="+mj-lt"/>
                        </a:rPr>
                        <a:t>Буквы, спецсимволы, некорректный разделитель</a:t>
                      </a:r>
                      <a:endParaRPr kumimoji="0" lang="en-US" sz="1400" b="0" i="0" u="none" strike="noStrike" cap="none" normalizeH="0" baseline="0" dirty="0">
                        <a:ln>
                          <a:noFill/>
                        </a:ln>
                        <a:solidFill>
                          <a:schemeClr val="tx1"/>
                        </a:solidFill>
                        <a:effectLst/>
                        <a:latin typeface="+mj-lt"/>
                      </a:endParaRPr>
                    </a:p>
                  </a:txBody>
                  <a:tcPr horzOverflow="overflow">
                    <a:lnL cap="flat">
                      <a:noFill/>
                    </a:lnL>
                    <a:lnR>
                      <a:noFill/>
                    </a:lnR>
                    <a:lnT>
                      <a:noFill/>
                    </a:lnT>
                    <a:lnB>
                      <a:noFill/>
                    </a:lnB>
                    <a:lnTlToBr>
                      <a:noFill/>
                    </a:lnTlToBr>
                    <a:lnBlToTr>
                      <a:noFill/>
                    </a:lnBlToTr>
                    <a:solidFill>
                      <a:srgbClr val="EAEAEA"/>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a:t>
                      </a:r>
                      <a:endParaRPr kumimoji="0" lang="ru-RU" sz="1400" b="0" i="0" u="none" strike="noStrike" cap="none" normalizeH="0" baseline="0" dirty="0">
                        <a:ln>
                          <a:noFill/>
                        </a:ln>
                        <a:solidFill>
                          <a:schemeClr val="tx1"/>
                        </a:solidFill>
                        <a:effectLst/>
                        <a:latin typeface="+mj-lt"/>
                      </a:endParaRPr>
                    </a:p>
                  </a:txBody>
                  <a:tcPr horzOverflow="overflow">
                    <a:lnL>
                      <a:noFill/>
                    </a:lnL>
                    <a:lnR>
                      <a:noFill/>
                    </a:lnR>
                    <a:lnT>
                      <a:noFill/>
                    </a:lnT>
                    <a:lnB>
                      <a:noFill/>
                    </a:lnB>
                    <a:lnTlToBr>
                      <a:noFill/>
                    </a:lnTlToBr>
                    <a:lnBlToTr>
                      <a:noFill/>
                    </a:lnBlToTr>
                    <a:solidFill>
                      <a:srgbClr val="EAEAEA"/>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March</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3.12.06</a:t>
                      </a:r>
                    </a:p>
                    <a:p>
                      <a:pPr marL="0" marR="0" lvl="0" indent="0" algn="ctr" defTabSz="914400" rtl="0" eaLnBrk="1" fontAlgn="base" latinLnBrk="0" hangingPunct="1">
                        <a:lnSpc>
                          <a:spcPct val="100000"/>
                        </a:lnSpc>
                        <a:spcBef>
                          <a:spcPct val="20000"/>
                        </a:spcBef>
                        <a:spcAft>
                          <a:spcPct val="0"/>
                        </a:spcAft>
                        <a:buClrTx/>
                        <a:buSzTx/>
                        <a:buFont typeface="Verdana" pitchFamily="34" charset="0"/>
                        <a:buNone/>
                        <a:tabLst/>
                      </a:pPr>
                      <a:r>
                        <a:rPr kumimoji="0" lang="en-US" sz="1400" b="0" i="0" u="none" strike="noStrike" cap="none" normalizeH="0" baseline="0" dirty="0">
                          <a:ln>
                            <a:noFill/>
                          </a:ln>
                          <a:solidFill>
                            <a:schemeClr val="tx1"/>
                          </a:solidFill>
                          <a:effectLst/>
                          <a:latin typeface="+mj-lt"/>
                        </a:rPr>
                        <a:t>!@#$%^&amp;*()_+|{}</a:t>
                      </a:r>
                    </a:p>
                  </a:txBody>
                  <a:tcPr horzOverflow="overflow">
                    <a:lnL>
                      <a:noFill/>
                    </a:lnL>
                    <a:lnR cap="flat">
                      <a:noFill/>
                    </a:lnR>
                    <a:lnT>
                      <a:noFill/>
                    </a:lnT>
                    <a:lnB>
                      <a:noFill/>
                    </a:lnB>
                    <a:lnTlToBr>
                      <a:noFill/>
                    </a:lnTlToBr>
                    <a:lnBlToTr>
                      <a:noFill/>
                    </a:lnBlToTr>
                    <a:solidFill>
                      <a:srgbClr val="EAEAEA"/>
                    </a:solidFill>
                  </a:tcPr>
                </a:tc>
                <a:extLst>
                  <a:ext uri="{0D108BD9-81ED-4DB2-BD59-A6C34878D82A}">
                    <a16:rowId xmlns:a16="http://schemas.microsoft.com/office/drawing/2014/main" val="10004"/>
                  </a:ext>
                </a:extLst>
              </a:tr>
              <a:tr h="429328">
                <a:tc gridSpan="3">
                  <a:txBody>
                    <a:bodyPr/>
                    <a:lstStyle/>
                    <a:p>
                      <a:pPr marL="0" marR="0" lvl="0" indent="0" algn="l" defTabSz="914400" rtl="0" eaLnBrk="1" fontAlgn="base" latinLnBrk="0" hangingPunct="1">
                        <a:lnSpc>
                          <a:spcPct val="100000"/>
                        </a:lnSpc>
                        <a:spcBef>
                          <a:spcPct val="20000"/>
                        </a:spcBef>
                        <a:spcAft>
                          <a:spcPct val="0"/>
                        </a:spcAft>
                        <a:buClrTx/>
                        <a:buSzTx/>
                        <a:buFont typeface="Verdana" pitchFamily="34" charset="0"/>
                        <a:buNone/>
                        <a:tabLst/>
                      </a:pPr>
                      <a:r>
                        <a:rPr kumimoji="0" lang="ru-RU" sz="1400" b="0" i="0" u="none" strike="noStrike" cap="none" normalizeH="0" baseline="0" dirty="0">
                          <a:ln>
                            <a:noFill/>
                          </a:ln>
                          <a:solidFill>
                            <a:schemeClr val="tx1"/>
                          </a:solidFill>
                          <a:effectLst/>
                          <a:latin typeface="Tahoma" pitchFamily="34" charset="0"/>
                        </a:rPr>
                        <a:t>Пустое поле</a:t>
                      </a:r>
                      <a:r>
                        <a:rPr kumimoji="0" lang="en-US" sz="1400" b="0" i="0" u="none" strike="noStrike" cap="none" normalizeH="0" baseline="0" dirty="0">
                          <a:ln>
                            <a:noFill/>
                          </a:ln>
                          <a:solidFill>
                            <a:schemeClr val="tx1"/>
                          </a:solidFill>
                          <a:effectLst/>
                          <a:latin typeface="Tahoma" pitchFamily="34" charset="0"/>
                        </a:rPr>
                        <a:t> (</a:t>
                      </a:r>
                      <a:r>
                        <a:rPr kumimoji="0" lang="ru-RU" sz="1400" b="0" i="0" u="none" strike="noStrike" cap="none" normalizeH="0" baseline="0" dirty="0">
                          <a:ln>
                            <a:noFill/>
                          </a:ln>
                          <a:solidFill>
                            <a:schemeClr val="tx1"/>
                          </a:solidFill>
                          <a:effectLst/>
                          <a:latin typeface="Tahoma" pitchFamily="34" charset="0"/>
                        </a:rPr>
                        <a:t>Допустимо или нет – зависит от требований</a:t>
                      </a:r>
                      <a:r>
                        <a:rPr kumimoji="0" lang="en-US" sz="1400" b="0" i="0" u="none" strike="noStrike" cap="none" normalizeH="0" baseline="0" dirty="0">
                          <a:ln>
                            <a:noFill/>
                          </a:ln>
                          <a:solidFill>
                            <a:schemeClr val="tx1"/>
                          </a:solidFill>
                          <a:effectLst/>
                          <a:latin typeface="Tahoma" pitchFamily="34" charset="0"/>
                        </a:rPr>
                        <a:t>)</a:t>
                      </a:r>
                      <a:endParaRPr kumimoji="0" lang="ru-RU" sz="1400" b="0" i="0" u="none" strike="noStrike" cap="none" normalizeH="0" baseline="0" dirty="0">
                        <a:ln>
                          <a:noFill/>
                        </a:ln>
                        <a:solidFill>
                          <a:schemeClr val="tx1"/>
                        </a:solidFill>
                        <a:effectLst/>
                        <a:latin typeface="Tahoma" pitchFamily="34" charset="0"/>
                      </a:endParaRPr>
                    </a:p>
                  </a:txBody>
                  <a:tcPr horzOverflow="overflow">
                    <a:lnL cap="flat">
                      <a:noFill/>
                    </a:lnL>
                    <a:lnR cap="flat">
                      <a:noFill/>
                    </a:lnR>
                    <a:lnT>
                      <a:noFill/>
                    </a:lnT>
                    <a:lnB cap="flat">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2437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Классы эквивалентности. Вывод </a:t>
            </a:r>
            <a:endParaRPr lang="en-US" dirty="0"/>
          </a:p>
        </p:txBody>
      </p:sp>
      <p:sp>
        <p:nvSpPr>
          <p:cNvPr id="3" name="Rectangle 2"/>
          <p:cNvSpPr/>
          <p:nvPr/>
        </p:nvSpPr>
        <p:spPr>
          <a:xfrm>
            <a:off x="0" y="1173310"/>
            <a:ext cx="8630194" cy="2031325"/>
          </a:xfrm>
          <a:prstGeom prst="rect">
            <a:avLst/>
          </a:prstGeom>
        </p:spPr>
        <p:txBody>
          <a:bodyPr wrap="square">
            <a:spAutoFit/>
          </a:bodyPr>
          <a:lstStyle/>
          <a:p>
            <a:pPr marL="1076325" lvl="1" indent="-533400">
              <a:buClr>
                <a:schemeClr val="accent2"/>
              </a:buClr>
              <a:buFont typeface="Arial" pitchFamily="34" charset="0"/>
              <a:buChar char="•"/>
            </a:pPr>
            <a:r>
              <a:rPr lang="ru-RU" sz="1800" b="1" dirty="0">
                <a:latin typeface="+mj-lt"/>
              </a:rPr>
              <a:t>Классы эквивалентности не всегда очевидны.</a:t>
            </a:r>
          </a:p>
          <a:p>
            <a:pPr marL="1076325" lvl="1" indent="-533400">
              <a:buClr>
                <a:schemeClr val="accent2"/>
              </a:buClr>
              <a:buFont typeface="Arial" pitchFamily="34" charset="0"/>
              <a:buChar char="•"/>
            </a:pPr>
            <a:endParaRPr lang="ru-RU" sz="1800" b="1" dirty="0">
              <a:latin typeface="+mj-lt"/>
            </a:endParaRPr>
          </a:p>
          <a:p>
            <a:pPr marL="1076325" lvl="1" indent="-533400">
              <a:buClr>
                <a:schemeClr val="accent2"/>
              </a:buClr>
              <a:buFont typeface="Arial" pitchFamily="34" charset="0"/>
              <a:buChar char="•"/>
            </a:pPr>
            <a:r>
              <a:rPr lang="ru-RU" sz="1800" dirty="0">
                <a:latin typeface="+mj-lt"/>
              </a:rPr>
              <a:t>Как правило, негативных тестов получается больше, чем позитивных.</a:t>
            </a:r>
          </a:p>
          <a:p>
            <a:pPr marL="1076325" lvl="1" indent="-533400">
              <a:buClr>
                <a:schemeClr val="accent2"/>
              </a:buClr>
              <a:buFont typeface="Arial" pitchFamily="34" charset="0"/>
              <a:buChar char="•"/>
            </a:pPr>
            <a:endParaRPr lang="en-US" sz="1800" dirty="0">
              <a:latin typeface="+mj-lt"/>
            </a:endParaRPr>
          </a:p>
          <a:p>
            <a:pPr marL="1076325" lvl="1" indent="-533400">
              <a:buClr>
                <a:schemeClr val="accent2"/>
              </a:buClr>
              <a:buFont typeface="Arial" pitchFamily="34" charset="0"/>
              <a:buChar char="•"/>
            </a:pPr>
            <a:r>
              <a:rPr lang="ru-RU" sz="1800" dirty="0">
                <a:latin typeface="+mj-lt"/>
              </a:rPr>
              <a:t>Принадлежность теста к позитивным или негативным зависит от требований.</a:t>
            </a:r>
          </a:p>
        </p:txBody>
      </p:sp>
    </p:spTree>
    <p:extLst>
      <p:ext uri="{BB962C8B-B14F-4D97-AF65-F5344CB8AC3E}">
        <p14:creationId xmlns:p14="http://schemas.microsoft.com/office/powerpoint/2010/main" val="71300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5036315" cy="1231876"/>
          </a:xfrm>
        </p:spPr>
        <p:txBody>
          <a:bodyPr/>
          <a:lstStyle/>
          <a:p>
            <a:r>
              <a:rPr lang="ru-RU" dirty="0"/>
              <a:t>Рекомендации по</a:t>
            </a:r>
            <a:br>
              <a:rPr lang="ru-RU" dirty="0"/>
            </a:br>
            <a:r>
              <a:rPr lang="ru-RU" dirty="0"/>
              <a:t>разработке тестов</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830627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Рекомендации по разработке тестов</a:t>
            </a:r>
            <a:endParaRPr lang="en-US" dirty="0"/>
          </a:p>
        </p:txBody>
      </p:sp>
      <p:sp>
        <p:nvSpPr>
          <p:cNvPr id="8" name="Rectangle 7"/>
          <p:cNvSpPr/>
          <p:nvPr/>
        </p:nvSpPr>
        <p:spPr>
          <a:xfrm>
            <a:off x="-283928" y="838200"/>
            <a:ext cx="8153400" cy="1077218"/>
          </a:xfrm>
          <a:prstGeom prst="rect">
            <a:avLst/>
          </a:prstGeom>
        </p:spPr>
        <p:txBody>
          <a:bodyPr wrap="square">
            <a:spAutoFit/>
          </a:bodyPr>
          <a:lstStyle/>
          <a:p>
            <a:pPr marL="1076325" lvl="1" indent="-533400">
              <a:buClr>
                <a:schemeClr val="accent2"/>
              </a:buClr>
              <a:buFont typeface="Arial" pitchFamily="34" charset="0"/>
              <a:buChar char="•"/>
            </a:pPr>
            <a:r>
              <a:rPr lang="ru-RU" sz="1600" dirty="0">
                <a:latin typeface="+mj-lt"/>
                <a:cs typeface="Arial" pitchFamily="34" charset="0"/>
              </a:rPr>
              <a:t>Начинайте с </a:t>
            </a:r>
            <a:r>
              <a:rPr lang="ru-RU" sz="1600" dirty="0">
                <a:solidFill>
                  <a:srgbClr val="C00000"/>
                </a:solidFill>
                <a:latin typeface="+mj-lt"/>
                <a:cs typeface="Arial" pitchFamily="34" charset="0"/>
              </a:rPr>
              <a:t>простых очевидных тестов</a:t>
            </a:r>
            <a:r>
              <a:rPr lang="ru-RU" sz="1600" dirty="0">
                <a:latin typeface="+mj-lt"/>
                <a:cs typeface="Arial" pitchFamily="34" charset="0"/>
              </a:rPr>
              <a:t>. </a:t>
            </a:r>
          </a:p>
          <a:p>
            <a:pPr marL="1076325" lvl="1" indent="-533400">
              <a:buClr>
                <a:schemeClr val="accent2"/>
              </a:buClr>
              <a:buFont typeface="Arial" pitchFamily="34" charset="0"/>
              <a:buChar char="•"/>
            </a:pPr>
            <a:r>
              <a:rPr lang="ru-RU" sz="1600" dirty="0">
                <a:latin typeface="+mj-lt"/>
                <a:cs typeface="Arial" pitchFamily="34" charset="0"/>
              </a:rPr>
              <a:t>Затем </a:t>
            </a:r>
            <a:r>
              <a:rPr lang="ru-RU" sz="1600" dirty="0">
                <a:solidFill>
                  <a:srgbClr val="C00000"/>
                </a:solidFill>
                <a:latin typeface="+mj-lt"/>
                <a:cs typeface="Arial" pitchFamily="34" charset="0"/>
              </a:rPr>
              <a:t>переходите к более сложным тестам</a:t>
            </a:r>
            <a:r>
              <a:rPr lang="ru-RU" sz="1600" dirty="0">
                <a:latin typeface="+mj-lt"/>
                <a:cs typeface="Arial" pitchFamily="34" charset="0"/>
              </a:rPr>
              <a:t>.</a:t>
            </a:r>
          </a:p>
          <a:p>
            <a:pPr marL="1076325" lvl="1" indent="-533400">
              <a:buClr>
                <a:schemeClr val="accent2"/>
              </a:buClr>
              <a:buFont typeface="Arial" pitchFamily="34" charset="0"/>
              <a:buChar char="•"/>
            </a:pPr>
            <a:r>
              <a:rPr lang="ru-RU" sz="1600" dirty="0">
                <a:latin typeface="+mj-lt"/>
                <a:cs typeface="Arial" pitchFamily="34" charset="0"/>
              </a:rPr>
              <a:t>Помните о граничных условиях.</a:t>
            </a:r>
          </a:p>
          <a:p>
            <a:pPr marL="1076325" lvl="1" indent="-533400">
              <a:buClr>
                <a:schemeClr val="accent2"/>
              </a:buClr>
              <a:buFont typeface="Arial" pitchFamily="34" charset="0"/>
              <a:buChar char="•"/>
            </a:pPr>
            <a:r>
              <a:rPr lang="ru-RU" sz="1600" dirty="0">
                <a:latin typeface="+mj-lt"/>
                <a:cs typeface="Arial" pitchFamily="34" charset="0"/>
              </a:rPr>
              <a:t>Если остаётся время, занимайтесь </a:t>
            </a:r>
            <a:r>
              <a:rPr lang="ru-RU" sz="1600" dirty="0">
                <a:solidFill>
                  <a:srgbClr val="C00000"/>
                </a:solidFill>
                <a:latin typeface="+mj-lt"/>
                <a:cs typeface="Arial" pitchFamily="34" charset="0"/>
              </a:rPr>
              <a:t>исследовательским тестированием</a:t>
            </a:r>
            <a:r>
              <a:rPr lang="ru-RU" sz="1600" dirty="0">
                <a:latin typeface="+mj-lt"/>
                <a:cs typeface="Arial" pitchFamily="34" charset="0"/>
              </a:rPr>
              <a:t>.</a:t>
            </a:r>
            <a:endParaRPr lang="en-US" sz="1600" dirty="0">
              <a:latin typeface="+mj-lt"/>
              <a:cs typeface="Arial" pitchFamily="34" charset="0"/>
            </a:endParaRPr>
          </a:p>
        </p:txBody>
      </p:sp>
      <p:sp>
        <p:nvSpPr>
          <p:cNvPr id="9" name="Rectangle 3"/>
          <p:cNvSpPr txBox="1">
            <a:spLocks noChangeArrowheads="1"/>
          </p:cNvSpPr>
          <p:nvPr/>
        </p:nvSpPr>
        <p:spPr bwMode="auto">
          <a:xfrm>
            <a:off x="2908663" y="2571750"/>
            <a:ext cx="5784574" cy="1569554"/>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Tx/>
              <a:buNone/>
            </a:pPr>
            <a:r>
              <a:rPr lang="ru-RU" sz="1600" b="1" dirty="0">
                <a:latin typeface="+mj-lt"/>
                <a:cs typeface="Arial" pitchFamily="34" charset="0"/>
              </a:rPr>
              <a:t>Последовательность разработки и выполнения тестов</a:t>
            </a:r>
          </a:p>
          <a:p>
            <a:pPr marL="885825" lvl="1" indent="-342900" algn="just">
              <a:buClr>
                <a:schemeClr val="accent2"/>
              </a:buClr>
              <a:buFont typeface="Arial" pitchFamily="34" charset="0"/>
              <a:buChar char="•"/>
            </a:pPr>
            <a:r>
              <a:rPr lang="ru-RU" sz="1600" dirty="0">
                <a:latin typeface="+mj-lt"/>
                <a:cs typeface="Arial" pitchFamily="34" charset="0"/>
              </a:rPr>
              <a:t>Простые позитивные.</a:t>
            </a:r>
          </a:p>
          <a:p>
            <a:pPr marL="885825" lvl="1" indent="-342900" algn="just">
              <a:buClr>
                <a:schemeClr val="accent2"/>
              </a:buClr>
              <a:buFont typeface="Arial" pitchFamily="34" charset="0"/>
              <a:buChar char="•"/>
            </a:pPr>
            <a:r>
              <a:rPr lang="ru-RU" sz="1600" dirty="0">
                <a:latin typeface="+mj-lt"/>
                <a:cs typeface="Arial" pitchFamily="34" charset="0"/>
              </a:rPr>
              <a:t>Простые негативные.</a:t>
            </a:r>
          </a:p>
          <a:p>
            <a:pPr marL="885825" lvl="1" indent="-342900" algn="just">
              <a:buClr>
                <a:schemeClr val="accent2"/>
              </a:buClr>
              <a:buFont typeface="Arial" pitchFamily="34" charset="0"/>
              <a:buChar char="•"/>
            </a:pPr>
            <a:r>
              <a:rPr lang="ru-RU" sz="1600" dirty="0">
                <a:latin typeface="+mj-lt"/>
                <a:cs typeface="Arial" pitchFamily="34" charset="0"/>
              </a:rPr>
              <a:t>Сложные позитивные.</a:t>
            </a:r>
          </a:p>
          <a:p>
            <a:pPr marL="885825" lvl="1" indent="-342900" algn="just">
              <a:buClr>
                <a:schemeClr val="accent2"/>
              </a:buClr>
              <a:buFont typeface="Arial" pitchFamily="34" charset="0"/>
              <a:buChar char="•"/>
            </a:pPr>
            <a:r>
              <a:rPr lang="ru-RU" sz="1600" dirty="0">
                <a:latin typeface="+mj-lt"/>
                <a:cs typeface="Arial" pitchFamily="34" charset="0"/>
              </a:rPr>
              <a:t>Сложные негативные.</a:t>
            </a:r>
          </a:p>
        </p:txBody>
      </p:sp>
    </p:spTree>
    <p:extLst>
      <p:ext uri="{BB962C8B-B14F-4D97-AF65-F5344CB8AC3E}">
        <p14:creationId xmlns:p14="http://schemas.microsoft.com/office/powerpoint/2010/main" val="345489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fade">
                                      <p:cBhvr>
                                        <p:cTn id="27" dur="500"/>
                                        <p:tgtEl>
                                          <p:spTgt spid="9">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fade">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Effect transition="in" filter="fade">
                                      <p:cBhvr>
                                        <p:cTn id="37" dur="500"/>
                                        <p:tgtEl>
                                          <p:spTgt spid="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xEl>
                                              <p:pRg st="2" end="2"/>
                                            </p:txEl>
                                          </p:spTgt>
                                        </p:tgtEl>
                                        <p:attrNameLst>
                                          <p:attrName>style.visibility</p:attrName>
                                        </p:attrNameLst>
                                      </p:cBhvr>
                                      <p:to>
                                        <p:strVal val="visible"/>
                                      </p:to>
                                    </p:set>
                                    <p:animEffect transition="in" filter="fade">
                                      <p:cBhvr>
                                        <p:cTn id="42" dur="500"/>
                                        <p:tgtEl>
                                          <p:spTgt spid="9">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animEffect transition="in" filter="fade">
                                      <p:cBhvr>
                                        <p:cTn id="47" dur="500"/>
                                        <p:tgtEl>
                                          <p:spTgt spid="9">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xEl>
                                              <p:pRg st="4" end="4"/>
                                            </p:txEl>
                                          </p:spTgt>
                                        </p:tgtEl>
                                        <p:attrNameLst>
                                          <p:attrName>style.visibility</p:attrName>
                                        </p:attrNameLst>
                                      </p:cBhvr>
                                      <p:to>
                                        <p:strVal val="visible"/>
                                      </p:to>
                                    </p:set>
                                    <p:animEffect transition="in" filter="fade">
                                      <p:cBhvr>
                                        <p:cTn id="5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9" grpId="0" uiExpand="1"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6693820" cy="647100"/>
          </a:xfrm>
        </p:spPr>
        <p:txBody>
          <a:bodyPr/>
          <a:lstStyle/>
          <a:p>
            <a:r>
              <a:rPr lang="ru-RU" dirty="0"/>
              <a:t>Оформление тест-кейсов</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15963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Оформление. Тест-кейсы в </a:t>
            </a:r>
            <a:r>
              <a:rPr lang="en-US" dirty="0"/>
              <a:t>Excel</a:t>
            </a:r>
          </a:p>
        </p:txBody>
      </p:sp>
      <p:graphicFrame>
        <p:nvGraphicFramePr>
          <p:cNvPr id="8" name="Group 3"/>
          <p:cNvGraphicFramePr>
            <a:graphicFrameLocks noGrp="1"/>
          </p:cNvGraphicFramePr>
          <p:nvPr>
            <p:extLst>
              <p:ext uri="{D42A27DB-BD31-4B8C-83A1-F6EECF244321}">
                <p14:modId xmlns:p14="http://schemas.microsoft.com/office/powerpoint/2010/main" val="2351608996"/>
              </p:ext>
            </p:extLst>
          </p:nvPr>
        </p:nvGraphicFramePr>
        <p:xfrm>
          <a:off x="1387297" y="800100"/>
          <a:ext cx="6412934" cy="3977640"/>
        </p:xfrm>
        <a:graphic>
          <a:graphicData uri="http://schemas.openxmlformats.org/drawingml/2006/table">
            <a:tbl>
              <a:tblPr/>
              <a:tblGrid>
                <a:gridCol w="503447">
                  <a:extLst>
                    <a:ext uri="{9D8B030D-6E8A-4147-A177-3AD203B41FA5}">
                      <a16:colId xmlns:a16="http://schemas.microsoft.com/office/drawing/2014/main" val="20000"/>
                    </a:ext>
                  </a:extLst>
                </a:gridCol>
                <a:gridCol w="218118">
                  <a:extLst>
                    <a:ext uri="{9D8B030D-6E8A-4147-A177-3AD203B41FA5}">
                      <a16:colId xmlns:a16="http://schemas.microsoft.com/office/drawing/2014/main" val="20001"/>
                    </a:ext>
                  </a:extLst>
                </a:gridCol>
                <a:gridCol w="460332">
                  <a:extLst>
                    <a:ext uri="{9D8B030D-6E8A-4147-A177-3AD203B41FA5}">
                      <a16:colId xmlns:a16="http://schemas.microsoft.com/office/drawing/2014/main" val="20002"/>
                    </a:ext>
                  </a:extLst>
                </a:gridCol>
                <a:gridCol w="429896">
                  <a:extLst>
                    <a:ext uri="{9D8B030D-6E8A-4147-A177-3AD203B41FA5}">
                      <a16:colId xmlns:a16="http://schemas.microsoft.com/office/drawing/2014/main" val="20003"/>
                    </a:ext>
                  </a:extLst>
                </a:gridCol>
                <a:gridCol w="668305">
                  <a:extLst>
                    <a:ext uri="{9D8B030D-6E8A-4147-A177-3AD203B41FA5}">
                      <a16:colId xmlns:a16="http://schemas.microsoft.com/office/drawing/2014/main" val="20004"/>
                    </a:ext>
                  </a:extLst>
                </a:gridCol>
                <a:gridCol w="2102560">
                  <a:extLst>
                    <a:ext uri="{9D8B030D-6E8A-4147-A177-3AD203B41FA5}">
                      <a16:colId xmlns:a16="http://schemas.microsoft.com/office/drawing/2014/main" val="20005"/>
                    </a:ext>
                  </a:extLst>
                </a:gridCol>
                <a:gridCol w="2030276">
                  <a:extLst>
                    <a:ext uri="{9D8B030D-6E8A-4147-A177-3AD203B41FA5}">
                      <a16:colId xmlns:a16="http://schemas.microsoft.com/office/drawing/2014/main" val="20006"/>
                    </a:ext>
                  </a:extLst>
                </a:gridCol>
              </a:tblGrid>
              <a:tr h="3141897">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Times New Roman" pitchFamily="18" charset="0"/>
                        </a:rPr>
                        <a:t>UG_U1.12</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Times New Roman" pitchFamily="18" charset="0"/>
                        </a:rPr>
                        <a:t> A</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Times New Roman" pitchFamily="18" charset="0"/>
                        </a:rPr>
                        <a:t>R97</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Галерея</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Загрузка файла</a:t>
                      </a:r>
                    </a:p>
                    <a:p>
                      <a:pPr marL="0" marR="0" lvl="0" indent="0" algn="l" defTabSz="914400" rtl="0" eaLnBrk="1" fontAlgn="t" latinLnBrk="0" hangingPunct="1">
                        <a:lnSpc>
                          <a:spcPct val="100000"/>
                        </a:lnSpc>
                        <a:spcBef>
                          <a:spcPct val="0"/>
                        </a:spcBef>
                        <a:spcAft>
                          <a:spcPct val="0"/>
                        </a:spcAft>
                        <a:buClrTx/>
                        <a:buSzTx/>
                        <a:buFontTx/>
                        <a:buNone/>
                        <a:tabLst/>
                      </a:pPr>
                      <a:endParaRPr kumimoji="0" lang="ru-RU" sz="1500" b="0" i="0" u="none" strike="noStrike" cap="none" normalizeH="0" baseline="0" dirty="0">
                        <a:ln>
                          <a:noFill/>
                        </a:ln>
                        <a:solidFill>
                          <a:schemeClr val="tx1"/>
                        </a:solidFill>
                        <a:effectLst/>
                        <a:latin typeface="Arial" charset="0"/>
                      </a:endParaRPr>
                    </a:p>
                    <a:p>
                      <a:pPr marL="0" marR="0" lvl="0" indent="0" algn="l" defTabSz="914400" rtl="0" eaLnBrk="1" fontAlgn="t" latinLnBrk="0" hangingPunct="1">
                        <a:lnSpc>
                          <a:spcPct val="100000"/>
                        </a:lnSpc>
                        <a:spcBef>
                          <a:spcPct val="0"/>
                        </a:spcBef>
                        <a:spcAft>
                          <a:spcPct val="0"/>
                        </a:spcAft>
                        <a:buClrTx/>
                        <a:buSzTx/>
                        <a:buFontTx/>
                        <a:buNone/>
                        <a:tabLst/>
                      </a:pPr>
                      <a:endParaRPr kumimoji="0" lang="ru-RU" sz="1500" b="0" i="0" u="none" strike="noStrike" cap="none" normalizeH="0" baseline="0" dirty="0">
                        <a:ln>
                          <a:noFill/>
                        </a:ln>
                        <a:solidFill>
                          <a:schemeClr val="tx1"/>
                        </a:solidFill>
                        <a:effectLst/>
                        <a:latin typeface="Arial" charset="0"/>
                      </a:endParaRPr>
                    </a:p>
                    <a:p>
                      <a:pPr marL="0" marR="0" lvl="0" indent="0" algn="l" defTabSz="914400" rtl="0" eaLnBrk="1" fontAlgn="t" latinLnBrk="0" hangingPunct="1">
                        <a:lnSpc>
                          <a:spcPct val="100000"/>
                        </a:lnSpc>
                        <a:spcBef>
                          <a:spcPct val="0"/>
                        </a:spcBef>
                        <a:spcAft>
                          <a:spcPct val="0"/>
                        </a:spcAft>
                        <a:buClrTx/>
                        <a:buSzTx/>
                        <a:buFontTx/>
                        <a:buNone/>
                        <a:tabLst/>
                      </a:pP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ru-RU" sz="1500" b="1" i="0" u="none" strike="noStrike" cap="none" normalizeH="0" baseline="0" dirty="0">
                          <a:ln>
                            <a:noFill/>
                          </a:ln>
                          <a:solidFill>
                            <a:schemeClr val="tx1"/>
                          </a:solidFill>
                          <a:effectLst/>
                          <a:latin typeface="Arial" charset="0"/>
                        </a:rPr>
                        <a:t>Галерея, загрузка файла, имя со спецсимволами</a:t>
                      </a:r>
                      <a:br>
                        <a:rPr kumimoji="0" lang="en-US" sz="1500" b="0" i="0" u="none" strike="noStrike" cap="none" normalizeH="0" baseline="0" dirty="0">
                          <a:ln>
                            <a:noFill/>
                          </a:ln>
                          <a:solidFill>
                            <a:schemeClr val="tx1"/>
                          </a:solidFill>
                          <a:effectLst/>
                          <a:latin typeface="Arial" charset="0"/>
                          <a:cs typeface="Times New Roman" pitchFamily="18" charset="0"/>
                        </a:rPr>
                      </a:br>
                      <a:r>
                        <a:rPr kumimoji="0" lang="ru-RU" sz="1500" b="0" i="0" u="none" strike="noStrike" cap="none" normalizeH="0" baseline="0" dirty="0">
                          <a:ln>
                            <a:noFill/>
                          </a:ln>
                          <a:solidFill>
                            <a:schemeClr val="tx1"/>
                          </a:solidFill>
                          <a:effectLst/>
                          <a:latin typeface="Arial" charset="0"/>
                        </a:rPr>
                        <a:t>Приготовления: создать непустой файл с именем </a:t>
                      </a:r>
                      <a:r>
                        <a:rPr kumimoji="0" lang="en-US" sz="1500" b="0" i="0" u="none" strike="noStrike" cap="none" normalizeH="0" baseline="0" dirty="0">
                          <a:ln>
                            <a:noFill/>
                          </a:ln>
                          <a:solidFill>
                            <a:schemeClr val="tx1"/>
                          </a:solidFill>
                          <a:effectLst/>
                          <a:latin typeface="Arial" charset="0"/>
                        </a:rPr>
                        <a:t>#$%^&amp;.jpg</a:t>
                      </a:r>
                      <a:r>
                        <a:rPr kumimoji="0" lang="en-US" sz="1500" b="1" i="0" u="none" strike="noStrike" cap="none" normalizeH="0" baseline="0" dirty="0">
                          <a:ln>
                            <a:noFill/>
                          </a:ln>
                          <a:solidFill>
                            <a:schemeClr val="tx1"/>
                          </a:solidFill>
                          <a:effectLst/>
                          <a:latin typeface="Arial" charset="0"/>
                          <a:cs typeface="Times New Roman" pitchFamily="18" charset="0"/>
                        </a:rPr>
                        <a:t> </a:t>
                      </a:r>
                      <a:br>
                        <a:rPr kumimoji="0" lang="en-US" sz="1500" b="1" i="0" u="none" strike="noStrike" cap="none" normalizeH="0" baseline="0" dirty="0">
                          <a:ln>
                            <a:noFill/>
                          </a:ln>
                          <a:solidFill>
                            <a:schemeClr val="tx1"/>
                          </a:solidFill>
                          <a:effectLst/>
                          <a:latin typeface="Arial" charset="0"/>
                          <a:cs typeface="Times New Roman" pitchFamily="18" charset="0"/>
                        </a:rPr>
                      </a:br>
                      <a:r>
                        <a:rPr kumimoji="0" lang="ru-RU" sz="1500" b="0" i="0" u="none" strike="noStrike" cap="none" normalizeH="0" baseline="0" dirty="0">
                          <a:ln>
                            <a:noFill/>
                          </a:ln>
                          <a:solidFill>
                            <a:schemeClr val="tx1"/>
                          </a:solidFill>
                          <a:effectLst/>
                          <a:latin typeface="Arial" charset="0"/>
                          <a:cs typeface="Times New Roman" pitchFamily="18" charset="0"/>
                        </a:rPr>
                        <a:t>1</a:t>
                      </a:r>
                      <a:r>
                        <a:rPr kumimoji="0" lang="en-US" sz="1500" b="0" i="0" u="none" strike="noStrike" cap="none" normalizeH="0" baseline="0" dirty="0">
                          <a:ln>
                            <a:noFill/>
                          </a:ln>
                          <a:solidFill>
                            <a:schemeClr val="tx1"/>
                          </a:solidFill>
                          <a:effectLst/>
                          <a:latin typeface="Arial" charset="0"/>
                          <a:cs typeface="Times New Roman" pitchFamily="18" charset="0"/>
                        </a:rPr>
                        <a:t>.</a:t>
                      </a:r>
                      <a:r>
                        <a:rPr kumimoji="0" lang="ru-RU" sz="1500" b="0" i="0" u="none" strike="noStrike" cap="none" normalizeH="0" baseline="0" dirty="0">
                          <a:ln>
                            <a:noFill/>
                          </a:ln>
                          <a:solidFill>
                            <a:schemeClr val="tx1"/>
                          </a:solidFill>
                          <a:effectLst/>
                          <a:latin typeface="Arial" charset="0"/>
                          <a:cs typeface="Times New Roman" pitchFamily="18" charset="0"/>
                        </a:rPr>
                        <a:t> </a:t>
                      </a:r>
                      <a:r>
                        <a:rPr kumimoji="0" lang="ru-RU" sz="1500" b="0" i="0" u="none" strike="noStrike" cap="none" normalizeH="0" baseline="0" dirty="0">
                          <a:ln>
                            <a:noFill/>
                          </a:ln>
                          <a:solidFill>
                            <a:schemeClr val="tx1"/>
                          </a:solidFill>
                          <a:effectLst/>
                          <a:latin typeface="Arial" charset="0"/>
                        </a:rPr>
                        <a:t>Нажать кнопку «Загрузить картинку»</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2. Нажать кнопку «Выбрать»</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3. Выбрать из списка приготовленный файл</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4. Нажать кнопку «</a:t>
                      </a:r>
                      <a:r>
                        <a:rPr kumimoji="0" lang="en-US" sz="1500" b="0" i="0" u="none" strike="noStrike" cap="none" normalizeH="0" baseline="0" dirty="0">
                          <a:ln>
                            <a:noFill/>
                          </a:ln>
                          <a:solidFill>
                            <a:schemeClr val="tx1"/>
                          </a:solidFill>
                          <a:effectLst/>
                          <a:latin typeface="Arial" charset="0"/>
                        </a:rPr>
                        <a:t>OK</a:t>
                      </a:r>
                      <a:r>
                        <a:rPr kumimoji="0" lang="ru-RU" sz="1500" b="0" i="0" u="none" strike="noStrike" cap="none" normalizeH="0" baseline="0" dirty="0">
                          <a:ln>
                            <a:noFill/>
                          </a:ln>
                          <a:solidFill>
                            <a:schemeClr val="tx1"/>
                          </a:solidFill>
                          <a:effectLst/>
                          <a:latin typeface="Arial" charset="0"/>
                        </a:rPr>
                        <a:t>»</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5. Нажать кнопку «Добавить в галерею»</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1. Появляется окно загрузки картинки</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2. Появляется диалоговое окно браузера выбора файла для загрузки</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3. Имя выбранного файла появляется в поле «Файл»</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4. Диалоговое окно файла закрывается, в поле «Файл» появляется полное имя файла</a:t>
                      </a:r>
                    </a:p>
                    <a:p>
                      <a:pPr marL="0" marR="0" lvl="0" indent="0" algn="l" defTabSz="914400" rtl="0" eaLnBrk="1" fontAlgn="t" latinLnBrk="0" hangingPunct="1">
                        <a:lnSpc>
                          <a:spcPct val="100000"/>
                        </a:lnSpc>
                        <a:spcBef>
                          <a:spcPct val="0"/>
                        </a:spcBef>
                        <a:spcAft>
                          <a:spcPct val="0"/>
                        </a:spcAft>
                        <a:buClrTx/>
                        <a:buSzTx/>
                        <a:buFontTx/>
                        <a:buNone/>
                        <a:tabLst/>
                      </a:pPr>
                      <a:r>
                        <a:rPr kumimoji="0" lang="ru-RU" sz="1500" b="0" i="0" u="none" strike="noStrike" cap="none" normalizeH="0" baseline="0" dirty="0">
                          <a:ln>
                            <a:noFill/>
                          </a:ln>
                          <a:solidFill>
                            <a:schemeClr val="tx1"/>
                          </a:solidFill>
                          <a:effectLst/>
                          <a:latin typeface="Arial" charset="0"/>
                        </a:rPr>
                        <a:t>5. Выбранный файл появляется в списке файлов галереи</a:t>
                      </a:r>
                      <a:endParaRPr kumimoji="0" lang="en-US" sz="1500" b="0" i="0" u="none" strike="noStrike" cap="none" normalizeH="0" baseline="0" dirty="0">
                        <a:ln>
                          <a:noFill/>
                        </a:ln>
                        <a:solidFill>
                          <a:schemeClr val="tx1"/>
                        </a:solidFill>
                        <a:effectLst/>
                        <a:latin typeface="Arial" charset="0"/>
                      </a:endParaRPr>
                    </a:p>
                  </a:txBody>
                  <a:tcPr marL="0" marR="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 name="AutoShape 21"/>
          <p:cNvSpPr>
            <a:spLocks noChangeArrowheads="1"/>
          </p:cNvSpPr>
          <p:nvPr/>
        </p:nvSpPr>
        <p:spPr bwMode="auto">
          <a:xfrm>
            <a:off x="199207" y="1955925"/>
            <a:ext cx="1480013" cy="286343"/>
          </a:xfrm>
          <a:prstGeom prst="wedgeRectCallout">
            <a:avLst>
              <a:gd name="adj1" fmla="val 37185"/>
              <a:gd name="adj2" fmla="val -192447"/>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Идентификатор</a:t>
            </a:r>
            <a:endParaRPr lang="en-US" sz="1200" dirty="0">
              <a:solidFill>
                <a:schemeClr val="bg1"/>
              </a:solidFill>
              <a:latin typeface="+mj-lt"/>
            </a:endParaRPr>
          </a:p>
        </p:txBody>
      </p:sp>
      <p:sp>
        <p:nvSpPr>
          <p:cNvPr id="10" name="AutoShape 22"/>
          <p:cNvSpPr>
            <a:spLocks noChangeArrowheads="1"/>
          </p:cNvSpPr>
          <p:nvPr/>
        </p:nvSpPr>
        <p:spPr bwMode="auto">
          <a:xfrm>
            <a:off x="199207" y="800101"/>
            <a:ext cx="1033245" cy="1015663"/>
          </a:xfrm>
          <a:prstGeom prst="wedgeRectCallout">
            <a:avLst>
              <a:gd name="adj1" fmla="val 119733"/>
              <a:gd name="adj2" fmla="val -13271"/>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Приоритет</a:t>
            </a:r>
          </a:p>
          <a:p>
            <a:pPr eaLnBrk="0" hangingPunct="0"/>
            <a:endParaRPr lang="ru-RU" sz="1200" dirty="0">
              <a:solidFill>
                <a:schemeClr val="bg1"/>
              </a:solidFill>
              <a:latin typeface="+mj-lt"/>
            </a:endParaRPr>
          </a:p>
          <a:p>
            <a:pPr eaLnBrk="0" hangingPunct="0"/>
            <a:r>
              <a:rPr lang="en-US" sz="1200" dirty="0">
                <a:solidFill>
                  <a:schemeClr val="bg1"/>
                </a:solidFill>
                <a:latin typeface="+mj-lt"/>
              </a:rPr>
              <a:t>Smoke</a:t>
            </a:r>
          </a:p>
          <a:p>
            <a:pPr eaLnBrk="0" hangingPunct="0"/>
            <a:r>
              <a:rPr lang="en-US" sz="1200" dirty="0">
                <a:solidFill>
                  <a:schemeClr val="bg1"/>
                </a:solidFill>
                <a:latin typeface="+mj-lt"/>
              </a:rPr>
              <a:t>Critical Path</a:t>
            </a:r>
          </a:p>
          <a:p>
            <a:pPr eaLnBrk="0" hangingPunct="0"/>
            <a:r>
              <a:rPr lang="en-US" sz="1200" dirty="0">
                <a:solidFill>
                  <a:schemeClr val="bg1"/>
                </a:solidFill>
                <a:latin typeface="+mj-lt"/>
              </a:rPr>
              <a:t>Extended</a:t>
            </a:r>
          </a:p>
        </p:txBody>
      </p:sp>
      <p:sp>
        <p:nvSpPr>
          <p:cNvPr id="11" name="AutoShape 23"/>
          <p:cNvSpPr>
            <a:spLocks noChangeArrowheads="1"/>
          </p:cNvSpPr>
          <p:nvPr/>
        </p:nvSpPr>
        <p:spPr bwMode="auto">
          <a:xfrm>
            <a:off x="1834065" y="1683841"/>
            <a:ext cx="1728119" cy="461665"/>
          </a:xfrm>
          <a:prstGeom prst="wedgeRectCallout">
            <a:avLst>
              <a:gd name="adj1" fmla="val -24162"/>
              <a:gd name="adj2" fmla="val -157450"/>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Связанное с тестом требование</a:t>
            </a:r>
            <a:endParaRPr lang="en-US" sz="1200" dirty="0">
              <a:solidFill>
                <a:schemeClr val="bg1"/>
              </a:solidFill>
              <a:latin typeface="+mj-lt"/>
            </a:endParaRPr>
          </a:p>
        </p:txBody>
      </p:sp>
      <p:sp>
        <p:nvSpPr>
          <p:cNvPr id="12" name="AutoShape 24"/>
          <p:cNvSpPr>
            <a:spLocks noChangeArrowheads="1"/>
          </p:cNvSpPr>
          <p:nvPr/>
        </p:nvSpPr>
        <p:spPr bwMode="auto">
          <a:xfrm>
            <a:off x="2308977" y="3490913"/>
            <a:ext cx="1085339" cy="461665"/>
          </a:xfrm>
          <a:prstGeom prst="wedgeRectCallout">
            <a:avLst>
              <a:gd name="adj1" fmla="val 30981"/>
              <a:gd name="adj2" fmla="val -280375"/>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Модуль и подмодуль</a:t>
            </a:r>
            <a:endParaRPr lang="en-US" sz="1200" dirty="0">
              <a:solidFill>
                <a:schemeClr val="bg1"/>
              </a:solidFill>
              <a:latin typeface="+mj-lt"/>
            </a:endParaRPr>
          </a:p>
        </p:txBody>
      </p:sp>
      <p:sp>
        <p:nvSpPr>
          <p:cNvPr id="13" name="AutoShape 25"/>
          <p:cNvSpPr>
            <a:spLocks noChangeArrowheads="1"/>
          </p:cNvSpPr>
          <p:nvPr/>
        </p:nvSpPr>
        <p:spPr bwMode="auto">
          <a:xfrm>
            <a:off x="5524129" y="318269"/>
            <a:ext cx="1729160" cy="276999"/>
          </a:xfrm>
          <a:prstGeom prst="wedgeRectCallout">
            <a:avLst>
              <a:gd name="adj1" fmla="val -61938"/>
              <a:gd name="adj2" fmla="val 213293"/>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Заглавие (суть) теста</a:t>
            </a:r>
            <a:endParaRPr lang="en-US" sz="1200" dirty="0">
              <a:solidFill>
                <a:schemeClr val="bg1"/>
              </a:solidFill>
              <a:latin typeface="+mj-lt"/>
            </a:endParaRPr>
          </a:p>
        </p:txBody>
      </p:sp>
      <p:sp>
        <p:nvSpPr>
          <p:cNvPr id="14" name="AutoShape 26"/>
          <p:cNvSpPr>
            <a:spLocks noChangeArrowheads="1"/>
          </p:cNvSpPr>
          <p:nvPr/>
        </p:nvSpPr>
        <p:spPr bwMode="auto">
          <a:xfrm>
            <a:off x="5509381" y="2016125"/>
            <a:ext cx="1414768" cy="1015663"/>
          </a:xfrm>
          <a:prstGeom prst="wedgeRectCallout">
            <a:avLst>
              <a:gd name="adj1" fmla="val -107394"/>
              <a:gd name="adj2" fmla="val -77935"/>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Исходные данные, необходимые для выполнения теста</a:t>
            </a:r>
            <a:endParaRPr lang="en-US" sz="1200" dirty="0">
              <a:solidFill>
                <a:schemeClr val="bg1"/>
              </a:solidFill>
              <a:latin typeface="+mj-lt"/>
            </a:endParaRPr>
          </a:p>
        </p:txBody>
      </p:sp>
      <p:sp>
        <p:nvSpPr>
          <p:cNvPr id="15" name="AutoShape 27"/>
          <p:cNvSpPr>
            <a:spLocks noChangeArrowheads="1"/>
          </p:cNvSpPr>
          <p:nvPr/>
        </p:nvSpPr>
        <p:spPr bwMode="auto">
          <a:xfrm>
            <a:off x="4380703" y="4568826"/>
            <a:ext cx="1217016" cy="276999"/>
          </a:xfrm>
          <a:prstGeom prst="wedgeRectCallout">
            <a:avLst>
              <a:gd name="adj1" fmla="val -45004"/>
              <a:gd name="adj2" fmla="val -578609"/>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Шаги</a:t>
            </a:r>
            <a:endParaRPr lang="en-US" sz="1200" dirty="0">
              <a:solidFill>
                <a:schemeClr val="bg1"/>
              </a:solidFill>
              <a:latin typeface="+mj-lt"/>
            </a:endParaRPr>
          </a:p>
        </p:txBody>
      </p:sp>
      <p:sp>
        <p:nvSpPr>
          <p:cNvPr id="16" name="AutoShape 28"/>
          <p:cNvSpPr>
            <a:spLocks noChangeArrowheads="1"/>
          </p:cNvSpPr>
          <p:nvPr/>
        </p:nvSpPr>
        <p:spPr bwMode="auto">
          <a:xfrm>
            <a:off x="7554265" y="1004555"/>
            <a:ext cx="1589735" cy="646331"/>
          </a:xfrm>
          <a:prstGeom prst="wedgeRectCallout">
            <a:avLst>
              <a:gd name="adj1" fmla="val -43208"/>
              <a:gd name="adj2" fmla="val 189245"/>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eaLnBrk="0" hangingPunct="0"/>
            <a:r>
              <a:rPr lang="ru-RU" sz="1200" dirty="0">
                <a:solidFill>
                  <a:schemeClr val="bg1"/>
                </a:solidFill>
                <a:latin typeface="+mj-lt"/>
              </a:rPr>
              <a:t>Ожидаемый результат по каждому шагу</a:t>
            </a:r>
            <a:endParaRPr lang="en-US" sz="1200" dirty="0">
              <a:solidFill>
                <a:schemeClr val="bg1"/>
              </a:solidFill>
              <a:latin typeface="+mj-lt"/>
            </a:endParaRPr>
          </a:p>
        </p:txBody>
      </p:sp>
    </p:spTree>
    <p:extLst>
      <p:ext uri="{BB962C8B-B14F-4D97-AF65-F5344CB8AC3E}">
        <p14:creationId xmlns:p14="http://schemas.microsoft.com/office/powerpoint/2010/main" val="50040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Оформление тест-кейсов</a:t>
            </a:r>
            <a:endParaRPr lang="en-US" dirty="0"/>
          </a:p>
        </p:txBody>
      </p:sp>
      <p:sp>
        <p:nvSpPr>
          <p:cNvPr id="4" name="TextBox 3"/>
          <p:cNvSpPr txBox="1"/>
          <p:nvPr/>
        </p:nvSpPr>
        <p:spPr>
          <a:xfrm>
            <a:off x="332913" y="968616"/>
            <a:ext cx="6433269" cy="1615827"/>
          </a:xfrm>
          <a:prstGeom prst="rect">
            <a:avLst/>
          </a:prstGeom>
          <a:noFill/>
        </p:spPr>
        <p:txBody>
          <a:bodyPr wrap="square" rtlCol="0">
            <a:spAutoFit/>
          </a:bodyPr>
          <a:lstStyle/>
          <a:p>
            <a:pPr marL="0" lvl="1">
              <a:spcBef>
                <a:spcPts val="600"/>
              </a:spcBef>
            </a:pPr>
            <a:r>
              <a:rPr lang="ru-RU" dirty="0">
                <a:solidFill>
                  <a:srgbClr val="C00000"/>
                </a:solidFill>
                <a:latin typeface="+mj-lt"/>
              </a:rPr>
              <a:t>Краткое описание </a:t>
            </a:r>
            <a:r>
              <a:rPr lang="ru-RU" dirty="0">
                <a:latin typeface="+mj-lt"/>
              </a:rPr>
              <a:t>(</a:t>
            </a:r>
            <a:r>
              <a:rPr lang="en-US" dirty="0">
                <a:latin typeface="+mj-lt"/>
              </a:rPr>
              <a:t>summary</a:t>
            </a:r>
            <a:r>
              <a:rPr lang="ru-RU" dirty="0">
                <a:latin typeface="+mj-lt"/>
              </a:rPr>
              <a:t>)</a:t>
            </a:r>
            <a:r>
              <a:rPr lang="en-US" dirty="0">
                <a:latin typeface="+mj-lt"/>
              </a:rPr>
              <a:t> – </a:t>
            </a:r>
            <a:r>
              <a:rPr lang="ru-RU" dirty="0">
                <a:latin typeface="+mj-lt"/>
              </a:rPr>
              <a:t>предельно сжатое изложение сути теста.</a:t>
            </a:r>
          </a:p>
          <a:p>
            <a:pPr marL="0" lvl="1">
              <a:spcBef>
                <a:spcPts val="600"/>
              </a:spcBef>
            </a:pPr>
            <a:r>
              <a:rPr lang="ru-RU" dirty="0">
                <a:solidFill>
                  <a:srgbClr val="C00000"/>
                </a:solidFill>
                <a:latin typeface="+mj-lt"/>
              </a:rPr>
              <a:t>Пререквизиты</a:t>
            </a:r>
            <a:r>
              <a:rPr lang="ru-RU" dirty="0">
                <a:solidFill>
                  <a:srgbClr val="7030A0"/>
                </a:solidFill>
                <a:latin typeface="+mj-lt"/>
              </a:rPr>
              <a:t> </a:t>
            </a:r>
            <a:r>
              <a:rPr lang="ru-RU" dirty="0">
                <a:latin typeface="+mj-lt"/>
              </a:rPr>
              <a:t>(</a:t>
            </a:r>
            <a:r>
              <a:rPr lang="en-US" dirty="0">
                <a:latin typeface="+mj-lt"/>
              </a:rPr>
              <a:t>preconditions</a:t>
            </a:r>
            <a:r>
              <a:rPr lang="ru-RU" dirty="0">
                <a:latin typeface="+mj-lt"/>
              </a:rPr>
              <a:t>)</a:t>
            </a:r>
            <a:r>
              <a:rPr lang="en-US" dirty="0">
                <a:latin typeface="+mj-lt"/>
              </a:rPr>
              <a:t> – </a:t>
            </a:r>
            <a:r>
              <a:rPr lang="ru-RU" dirty="0">
                <a:latin typeface="+mj-lt"/>
              </a:rPr>
              <a:t>ситуация и/или условие, предшествующее тесту.</a:t>
            </a:r>
          </a:p>
          <a:p>
            <a:pPr marL="0" lvl="1">
              <a:spcBef>
                <a:spcPts val="600"/>
              </a:spcBef>
            </a:pPr>
            <a:r>
              <a:rPr lang="ru-RU" dirty="0">
                <a:solidFill>
                  <a:srgbClr val="C00000"/>
                </a:solidFill>
                <a:latin typeface="+mj-lt"/>
              </a:rPr>
              <a:t>Данные</a:t>
            </a:r>
            <a:r>
              <a:rPr lang="ru-RU" dirty="0">
                <a:solidFill>
                  <a:srgbClr val="7030A0"/>
                </a:solidFill>
                <a:latin typeface="+mj-lt"/>
              </a:rPr>
              <a:t> </a:t>
            </a:r>
            <a:r>
              <a:rPr lang="ru-RU" dirty="0">
                <a:latin typeface="+mj-lt"/>
              </a:rPr>
              <a:t>(</a:t>
            </a:r>
            <a:r>
              <a:rPr lang="en-US" dirty="0">
                <a:latin typeface="+mj-lt"/>
              </a:rPr>
              <a:t>test data</a:t>
            </a:r>
            <a:r>
              <a:rPr lang="ru-RU" dirty="0">
                <a:latin typeface="+mj-lt"/>
              </a:rPr>
              <a:t>)</a:t>
            </a:r>
            <a:r>
              <a:rPr lang="en-US" dirty="0">
                <a:latin typeface="+mj-lt"/>
              </a:rPr>
              <a:t> – </a:t>
            </a:r>
            <a:r>
              <a:rPr lang="ru-RU" dirty="0">
                <a:latin typeface="+mj-lt"/>
              </a:rPr>
              <a:t>информация, необходимая для выполнения теста.</a:t>
            </a:r>
          </a:p>
          <a:p>
            <a:pPr marL="0" lvl="1">
              <a:spcBef>
                <a:spcPts val="600"/>
              </a:spcBef>
            </a:pPr>
            <a:r>
              <a:rPr lang="ru-RU" dirty="0">
                <a:solidFill>
                  <a:srgbClr val="C00000"/>
                </a:solidFill>
                <a:latin typeface="+mj-lt"/>
              </a:rPr>
              <a:t>Ссылка на требования </a:t>
            </a:r>
            <a:r>
              <a:rPr lang="ru-RU" dirty="0">
                <a:latin typeface="+mj-lt"/>
              </a:rPr>
              <a:t>(</a:t>
            </a:r>
            <a:r>
              <a:rPr lang="en-US" dirty="0">
                <a:latin typeface="+mj-lt"/>
              </a:rPr>
              <a:t>bind to requirement</a:t>
            </a:r>
            <a:r>
              <a:rPr lang="ru-RU" dirty="0">
                <a:latin typeface="+mj-lt"/>
              </a:rPr>
              <a:t>)</a:t>
            </a:r>
            <a:r>
              <a:rPr lang="en-US" dirty="0">
                <a:latin typeface="+mj-lt"/>
              </a:rPr>
              <a:t> – </a:t>
            </a:r>
            <a:r>
              <a:rPr lang="ru-RU" dirty="0">
                <a:latin typeface="+mj-lt"/>
              </a:rPr>
              <a:t>ссылка на требования, которые покрывает данный тест.</a:t>
            </a:r>
          </a:p>
        </p:txBody>
      </p:sp>
      <p:sp>
        <p:nvSpPr>
          <p:cNvPr id="11" name="Rectangle 10">
            <a:extLst>
              <a:ext uri="{FF2B5EF4-FFF2-40B4-BE49-F238E27FC236}">
                <a16:creationId xmlns:a16="http://schemas.microsoft.com/office/drawing/2014/main" id="{6ED5CA77-7633-409E-BDB8-7938D4472478}"/>
              </a:ext>
            </a:extLst>
          </p:cNvPr>
          <p:cNvSpPr/>
          <p:nvPr/>
        </p:nvSpPr>
        <p:spPr>
          <a:xfrm>
            <a:off x="332912" y="2584443"/>
            <a:ext cx="6529441" cy="1031051"/>
          </a:xfrm>
          <a:prstGeom prst="rect">
            <a:avLst/>
          </a:prstGeom>
        </p:spPr>
        <p:txBody>
          <a:bodyPr wrap="square">
            <a:spAutoFit/>
          </a:bodyPr>
          <a:lstStyle/>
          <a:p>
            <a:pPr marL="0" lvl="1">
              <a:spcBef>
                <a:spcPts val="600"/>
              </a:spcBef>
            </a:pPr>
            <a:r>
              <a:rPr lang="ru-RU" dirty="0">
                <a:solidFill>
                  <a:srgbClr val="C00000"/>
                </a:solidFill>
              </a:rPr>
              <a:t>Описание</a:t>
            </a:r>
            <a:r>
              <a:rPr lang="ru-RU" dirty="0">
                <a:solidFill>
                  <a:srgbClr val="7030A0"/>
                </a:solidFill>
              </a:rPr>
              <a:t> </a:t>
            </a:r>
            <a:r>
              <a:rPr lang="ru-RU" dirty="0"/>
              <a:t>(</a:t>
            </a:r>
            <a:r>
              <a:rPr lang="en-US" dirty="0"/>
              <a:t>Test description/Test Steps</a:t>
            </a:r>
            <a:r>
              <a:rPr lang="ru-RU" dirty="0"/>
              <a:t>)</a:t>
            </a:r>
            <a:r>
              <a:rPr lang="en-US" dirty="0"/>
              <a:t> – </a:t>
            </a:r>
            <a:r>
              <a:rPr lang="ru-RU" dirty="0"/>
              <a:t>описание действия, выполняемого на данном шаге.</a:t>
            </a:r>
          </a:p>
          <a:p>
            <a:pPr marL="0" lvl="1">
              <a:spcBef>
                <a:spcPts val="600"/>
              </a:spcBef>
            </a:pPr>
            <a:r>
              <a:rPr lang="ru-RU" dirty="0">
                <a:solidFill>
                  <a:srgbClr val="C00000"/>
                </a:solidFill>
              </a:rPr>
              <a:t>Ожидаемый результат </a:t>
            </a:r>
            <a:r>
              <a:rPr lang="ru-RU" dirty="0"/>
              <a:t>(</a:t>
            </a:r>
            <a:r>
              <a:rPr lang="en-US" dirty="0"/>
              <a:t>expected result</a:t>
            </a:r>
            <a:r>
              <a:rPr lang="ru-RU" dirty="0"/>
              <a:t>)</a:t>
            </a:r>
            <a:r>
              <a:rPr lang="en-US" dirty="0"/>
              <a:t> – </a:t>
            </a:r>
            <a:r>
              <a:rPr lang="ru-RU" dirty="0"/>
              <a:t>результат выполнения действия, который будет получен в случае корректной работы приложения.</a:t>
            </a:r>
          </a:p>
        </p:txBody>
      </p:sp>
    </p:spTree>
    <p:extLst>
      <p:ext uri="{BB962C8B-B14F-4D97-AF65-F5344CB8AC3E}">
        <p14:creationId xmlns:p14="http://schemas.microsoft.com/office/powerpoint/2010/main" val="1705757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6878165" cy="647100"/>
          </a:xfrm>
        </p:spPr>
        <p:txBody>
          <a:bodyPr/>
          <a:lstStyle/>
          <a:p>
            <a:r>
              <a:rPr lang="ru-RU" dirty="0"/>
              <a:t>Свойства хорошего теста</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1729555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Специфичность или общность?</a:t>
            </a:r>
            <a:endParaRPr lang="en-US" dirty="0"/>
          </a:p>
        </p:txBody>
      </p:sp>
      <p:sp>
        <p:nvSpPr>
          <p:cNvPr id="8" name="Rectangle 3"/>
          <p:cNvSpPr txBox="1">
            <a:spLocks noChangeArrowheads="1"/>
          </p:cNvSpPr>
          <p:nvPr/>
        </p:nvSpPr>
        <p:spPr bwMode="auto">
          <a:xfrm>
            <a:off x="166315" y="851398"/>
            <a:ext cx="4329485" cy="59767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Tx/>
              <a:buNone/>
            </a:pPr>
            <a:r>
              <a:rPr lang="ru-RU" sz="1400" dirty="0">
                <a:latin typeface="+mj-lt"/>
                <a:cs typeface="Arial" pitchFamily="34" charset="0"/>
              </a:rPr>
              <a:t>Оба тест-кейса делают одну и ту же проверку.</a:t>
            </a:r>
          </a:p>
          <a:p>
            <a:pPr marL="0" indent="0" algn="just">
              <a:buFontTx/>
              <a:buNone/>
            </a:pPr>
            <a:r>
              <a:rPr lang="ru-RU" sz="1400" b="1" dirty="0">
                <a:solidFill>
                  <a:srgbClr val="C00000"/>
                </a:solidFill>
                <a:latin typeface="+mj-lt"/>
                <a:cs typeface="Arial" pitchFamily="34" charset="0"/>
              </a:rPr>
              <a:t>Какой из них лучше?</a:t>
            </a:r>
          </a:p>
          <a:p>
            <a:pPr marL="0" indent="363538" algn="just">
              <a:buFontTx/>
              <a:buNone/>
            </a:pPr>
            <a:endParaRPr lang="ru-RU" sz="1400" dirty="0">
              <a:latin typeface="+mj-lt"/>
              <a:cs typeface="Arial" pitchFamily="34" charset="0"/>
            </a:endParaRPr>
          </a:p>
        </p:txBody>
      </p:sp>
      <p:graphicFrame>
        <p:nvGraphicFramePr>
          <p:cNvPr id="9" name="Group 68"/>
          <p:cNvGraphicFramePr>
            <a:graphicFrameLocks noGrp="1"/>
          </p:cNvGraphicFramePr>
          <p:nvPr>
            <p:extLst>
              <p:ext uri="{D42A27DB-BD31-4B8C-83A1-F6EECF244321}">
                <p14:modId xmlns:p14="http://schemas.microsoft.com/office/powerpoint/2010/main" val="1022738004"/>
              </p:ext>
            </p:extLst>
          </p:nvPr>
        </p:nvGraphicFramePr>
        <p:xfrm>
          <a:off x="423697" y="1449071"/>
          <a:ext cx="3929062" cy="1499616"/>
        </p:xfrm>
        <a:graphic>
          <a:graphicData uri="http://schemas.openxmlformats.org/drawingml/2006/table">
            <a:tbl>
              <a:tblPr/>
              <a:tblGrid>
                <a:gridCol w="1989137">
                  <a:extLst>
                    <a:ext uri="{9D8B030D-6E8A-4147-A177-3AD203B41FA5}">
                      <a16:colId xmlns:a16="http://schemas.microsoft.com/office/drawing/2014/main" val="20000"/>
                    </a:ext>
                  </a:extLst>
                </a:gridCol>
                <a:gridCol w="1939925">
                  <a:extLst>
                    <a:ext uri="{9D8B030D-6E8A-4147-A177-3AD203B41FA5}">
                      <a16:colId xmlns:a16="http://schemas.microsoft.com/office/drawing/2014/main" val="20001"/>
                    </a:ext>
                  </a:extLst>
                </a:gridCol>
              </a:tblGrid>
              <a:tr h="1144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1.</a:t>
                      </a:r>
                      <a:r>
                        <a:rPr kumimoji="0" lang="ru-RU" sz="1400" b="0" i="0" u="none" strike="noStrike" cap="none" normalizeH="0" baseline="0" dirty="0">
                          <a:ln>
                            <a:noFill/>
                          </a:ln>
                          <a:solidFill>
                            <a:schemeClr val="tx1"/>
                          </a:solidFill>
                          <a:effectLst/>
                          <a:latin typeface="+mj-lt"/>
                        </a:rPr>
                        <a:t>В поле </a:t>
                      </a:r>
                      <a:r>
                        <a:rPr kumimoji="0" lang="en-US" sz="1400" b="0" i="0" u="none" strike="noStrike" cap="none" normalizeH="0" baseline="0" dirty="0">
                          <a:ln>
                            <a:noFill/>
                          </a:ln>
                          <a:solidFill>
                            <a:schemeClr val="tx1"/>
                          </a:solidFill>
                          <a:effectLst/>
                          <a:latin typeface="+mj-lt"/>
                        </a:rPr>
                        <a:t>A </a:t>
                      </a:r>
                      <a:r>
                        <a:rPr kumimoji="0" lang="ru-RU" sz="1400" b="0" i="0" u="none" strike="noStrike" cap="none" normalizeH="0" baseline="0" dirty="0">
                          <a:ln>
                            <a:noFill/>
                          </a:ln>
                          <a:solidFill>
                            <a:schemeClr val="tx1"/>
                          </a:solidFill>
                          <a:effectLst/>
                          <a:latin typeface="+mj-lt"/>
                        </a:rPr>
                        <a:t>ввести 10</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2.</a:t>
                      </a:r>
                      <a:r>
                        <a:rPr kumimoji="0" lang="ru-RU" sz="1400" b="0" i="0" u="none" strike="noStrike" cap="none" normalizeH="0" baseline="0" dirty="0">
                          <a:ln>
                            <a:noFill/>
                          </a:ln>
                          <a:solidFill>
                            <a:schemeClr val="tx1"/>
                          </a:solidFill>
                          <a:effectLst/>
                          <a:latin typeface="+mj-lt"/>
                        </a:rPr>
                        <a:t>В поле </a:t>
                      </a:r>
                      <a:r>
                        <a:rPr kumimoji="0" lang="en-US" sz="1400" b="0" i="0" u="none" strike="noStrike" cap="none" normalizeH="0" baseline="0" dirty="0">
                          <a:ln>
                            <a:noFill/>
                          </a:ln>
                          <a:solidFill>
                            <a:schemeClr val="tx1"/>
                          </a:solidFill>
                          <a:effectLst/>
                          <a:latin typeface="+mj-lt"/>
                        </a:rPr>
                        <a:t>B </a:t>
                      </a:r>
                      <a:r>
                        <a:rPr kumimoji="0" lang="ru-RU" sz="1400" b="0" i="0" u="none" strike="noStrike" cap="none" normalizeH="0" baseline="0" dirty="0">
                          <a:ln>
                            <a:noFill/>
                          </a:ln>
                          <a:solidFill>
                            <a:schemeClr val="tx1"/>
                          </a:solidFill>
                          <a:effectLst/>
                          <a:latin typeface="+mj-lt"/>
                        </a:rPr>
                        <a:t>ввести 15</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3.</a:t>
                      </a:r>
                      <a:r>
                        <a:rPr kumimoji="0" lang="ru-RU" sz="1400" b="0" i="0" u="none" strike="noStrike" cap="none" normalizeH="0" baseline="0" dirty="0">
                          <a:ln>
                            <a:noFill/>
                          </a:ln>
                          <a:solidFill>
                            <a:schemeClr val="tx1"/>
                          </a:solidFill>
                          <a:effectLst/>
                          <a:latin typeface="+mj-lt"/>
                        </a:rPr>
                        <a:t>Нажать кнопку «Сложить»</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4.</a:t>
                      </a:r>
                      <a:r>
                        <a:rPr kumimoji="0" lang="ru-RU" sz="1400" b="0" i="0" u="none" strike="noStrike" cap="none" normalizeH="0" baseline="0" dirty="0">
                          <a:ln>
                            <a:noFill/>
                          </a:ln>
                          <a:solidFill>
                            <a:schemeClr val="tx1"/>
                          </a:solidFill>
                          <a:effectLst/>
                          <a:latin typeface="+mj-lt"/>
                        </a:rPr>
                        <a:t>Проверить значение в поле </a:t>
                      </a:r>
                      <a:r>
                        <a:rPr kumimoji="0" lang="en-US" sz="1400" b="0" i="0" u="none" strike="noStrike" cap="none" normalizeH="0" baseline="0" dirty="0">
                          <a:ln>
                            <a:noFill/>
                          </a:ln>
                          <a:solidFill>
                            <a:schemeClr val="tx1"/>
                          </a:solidFill>
                          <a:effectLst/>
                          <a:latin typeface="+mj-lt"/>
                        </a:rPr>
                        <a:t>C</a:t>
                      </a:r>
                      <a:endParaRPr kumimoji="0" lang="ru-RU" sz="1400" b="0" i="0" u="none" strike="noStrike" cap="none" normalizeH="0" baseline="0" dirty="0">
                        <a:ln>
                          <a:noFill/>
                        </a:ln>
                        <a:solidFill>
                          <a:schemeClr val="tx1"/>
                        </a:solidFill>
                        <a:effectLst/>
                        <a:latin typeface="+mj-lt"/>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4. </a:t>
                      </a:r>
                      <a:r>
                        <a:rPr kumimoji="0" lang="ru-RU" sz="1400" b="0" i="0" u="none" strike="noStrike" cap="none" normalizeH="0" baseline="0" dirty="0">
                          <a:ln>
                            <a:noFill/>
                          </a:ln>
                          <a:solidFill>
                            <a:schemeClr val="tx1"/>
                          </a:solidFill>
                          <a:effectLst/>
                          <a:latin typeface="+mj-lt"/>
                        </a:rPr>
                        <a:t>Значение в поле </a:t>
                      </a:r>
                      <a:r>
                        <a:rPr kumimoji="0" lang="en-US" sz="1400" b="0" i="0" u="none" strike="noStrike" cap="none" normalizeH="0" baseline="0" dirty="0">
                          <a:ln>
                            <a:noFill/>
                          </a:ln>
                          <a:solidFill>
                            <a:schemeClr val="tx1"/>
                          </a:solidFill>
                          <a:effectLst/>
                          <a:latin typeface="+mj-lt"/>
                        </a:rPr>
                        <a:t>C </a:t>
                      </a:r>
                      <a:r>
                        <a:rPr kumimoji="0" lang="ru-RU" sz="1400" b="0" i="0" u="none" strike="noStrike" cap="none" normalizeH="0" baseline="0" dirty="0">
                          <a:ln>
                            <a:noFill/>
                          </a:ln>
                          <a:solidFill>
                            <a:schemeClr val="tx1"/>
                          </a:solidFill>
                          <a:effectLst/>
                          <a:latin typeface="+mj-lt"/>
                        </a:rPr>
                        <a:t>равно 25</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0" name="Group 88"/>
          <p:cNvGraphicFramePr>
            <a:graphicFrameLocks noGrp="1"/>
          </p:cNvGraphicFramePr>
          <p:nvPr>
            <p:extLst>
              <p:ext uri="{D42A27DB-BD31-4B8C-83A1-F6EECF244321}">
                <p14:modId xmlns:p14="http://schemas.microsoft.com/office/powerpoint/2010/main" val="1643287494"/>
              </p:ext>
            </p:extLst>
          </p:nvPr>
        </p:nvGraphicFramePr>
        <p:xfrm>
          <a:off x="4825883" y="1449071"/>
          <a:ext cx="3929062" cy="1144588"/>
        </p:xfrm>
        <a:graphic>
          <a:graphicData uri="http://schemas.openxmlformats.org/drawingml/2006/table">
            <a:tbl>
              <a:tblPr/>
              <a:tblGrid>
                <a:gridCol w="1989137">
                  <a:extLst>
                    <a:ext uri="{9D8B030D-6E8A-4147-A177-3AD203B41FA5}">
                      <a16:colId xmlns:a16="http://schemas.microsoft.com/office/drawing/2014/main" val="20000"/>
                    </a:ext>
                  </a:extLst>
                </a:gridCol>
                <a:gridCol w="1939925">
                  <a:extLst>
                    <a:ext uri="{9D8B030D-6E8A-4147-A177-3AD203B41FA5}">
                      <a16:colId xmlns:a16="http://schemas.microsoft.com/office/drawing/2014/main" val="20001"/>
                    </a:ext>
                  </a:extLst>
                </a:gridCol>
              </a:tblGrid>
              <a:tr h="1144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1.</a:t>
                      </a:r>
                      <a:r>
                        <a:rPr kumimoji="0" lang="ru-RU" sz="1400" b="0" i="0" u="none" strike="noStrike" cap="none" normalizeH="0" baseline="0" dirty="0">
                          <a:ln>
                            <a:noFill/>
                          </a:ln>
                          <a:solidFill>
                            <a:schemeClr val="tx1"/>
                          </a:solidFill>
                          <a:effectLst/>
                          <a:latin typeface="+mj-lt"/>
                        </a:rPr>
                        <a:t>Проверить, что программа суммирует два числа корректно</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4. </a:t>
                      </a:r>
                      <a:r>
                        <a:rPr kumimoji="0" lang="ru-RU" sz="1400" b="0" i="0" u="none" strike="noStrike" cap="none" normalizeH="0" baseline="0" dirty="0">
                          <a:ln>
                            <a:noFill/>
                          </a:ln>
                          <a:solidFill>
                            <a:schemeClr val="tx1"/>
                          </a:solidFill>
                          <a:effectLst/>
                          <a:latin typeface="+mj-lt"/>
                        </a:rPr>
                        <a:t>Суммирует корректно</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11" name="Rectangle 91"/>
          <p:cNvSpPr>
            <a:spLocks noChangeArrowheads="1"/>
          </p:cNvSpPr>
          <p:nvPr/>
        </p:nvSpPr>
        <p:spPr bwMode="auto">
          <a:xfrm>
            <a:off x="1361392" y="3640302"/>
            <a:ext cx="4148303" cy="3275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ct val="20000"/>
              </a:spcBef>
            </a:pPr>
            <a:r>
              <a:rPr lang="ru-RU" dirty="0">
                <a:latin typeface="+mj-lt"/>
                <a:cs typeface="Arial" pitchFamily="34" charset="0"/>
              </a:rPr>
              <a:t>Оказывается, оба варианта – плохие. </a:t>
            </a:r>
            <a:r>
              <a:rPr lang="ru-RU" b="1" dirty="0">
                <a:solidFill>
                  <a:srgbClr val="C00000"/>
                </a:solidFill>
                <a:latin typeface="+mj-lt"/>
                <a:cs typeface="Arial" pitchFamily="34" charset="0"/>
              </a:rPr>
              <a:t>Почему?</a:t>
            </a:r>
          </a:p>
        </p:txBody>
      </p:sp>
    </p:spTree>
    <p:extLst>
      <p:ext uri="{BB962C8B-B14F-4D97-AF65-F5344CB8AC3E}">
        <p14:creationId xmlns:p14="http://schemas.microsoft.com/office/powerpoint/2010/main" val="84368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Специфичность или общность?</a:t>
            </a:r>
            <a:endParaRPr lang="en-US" dirty="0"/>
          </a:p>
        </p:txBody>
      </p:sp>
      <p:sp>
        <p:nvSpPr>
          <p:cNvPr id="3" name="Rectangle 3"/>
          <p:cNvSpPr txBox="1">
            <a:spLocks noChangeArrowheads="1"/>
          </p:cNvSpPr>
          <p:nvPr/>
        </p:nvSpPr>
        <p:spPr bwMode="auto">
          <a:xfrm>
            <a:off x="258420" y="973124"/>
            <a:ext cx="4146604" cy="206427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buNone/>
            </a:pPr>
            <a:r>
              <a:rPr lang="ru-RU" sz="1800" dirty="0">
                <a:latin typeface="+mj-lt"/>
                <a:cs typeface="Arial" pitchFamily="34" charset="0"/>
              </a:rPr>
              <a:t>Когда все детали прописаны до мелочей:</a:t>
            </a:r>
          </a:p>
          <a:p>
            <a:pPr marL="287338" lvl="1" indent="-287338" algn="just">
              <a:buClr>
                <a:schemeClr val="accent2"/>
              </a:buClr>
              <a:buFont typeface="Arial" pitchFamily="34" charset="0"/>
              <a:buChar char="•"/>
            </a:pPr>
            <a:r>
              <a:rPr lang="ru-RU" sz="1800" dirty="0">
                <a:solidFill>
                  <a:srgbClr val="C00000"/>
                </a:solidFill>
                <a:latin typeface="+mj-lt"/>
                <a:cs typeface="Arial" pitchFamily="34" charset="0"/>
              </a:rPr>
              <a:t>при повторных выполнениях теста всегда будут выполняться строго одни и те же действия</a:t>
            </a:r>
            <a:r>
              <a:rPr lang="ru-RU" sz="1800" dirty="0">
                <a:latin typeface="+mj-lt"/>
                <a:cs typeface="Arial" pitchFamily="34" charset="0"/>
              </a:rPr>
              <a:t>, что снижает вероятность обнаружить ошибку;</a:t>
            </a:r>
          </a:p>
          <a:p>
            <a:pPr marL="287338" lvl="1" indent="-287338" algn="just">
              <a:buClr>
                <a:schemeClr val="accent2"/>
              </a:buClr>
              <a:buFont typeface="Arial" pitchFamily="34" charset="0"/>
              <a:buChar char="•"/>
            </a:pPr>
            <a:r>
              <a:rPr lang="ru-RU" sz="1800" dirty="0">
                <a:solidFill>
                  <a:srgbClr val="C00000"/>
                </a:solidFill>
                <a:latin typeface="+mj-lt"/>
                <a:cs typeface="Arial" pitchFamily="34" charset="0"/>
              </a:rPr>
              <a:t>возрастает время </a:t>
            </a:r>
            <a:r>
              <a:rPr lang="ru-RU" sz="1800" dirty="0">
                <a:latin typeface="+mj-lt"/>
                <a:cs typeface="Arial" pitchFamily="34" charset="0"/>
              </a:rPr>
              <a:t>создания и поддержки теста.</a:t>
            </a:r>
          </a:p>
        </p:txBody>
      </p:sp>
      <p:sp>
        <p:nvSpPr>
          <p:cNvPr id="5" name="Rectangle 3"/>
          <p:cNvSpPr txBox="1">
            <a:spLocks noChangeArrowheads="1"/>
          </p:cNvSpPr>
          <p:nvPr/>
        </p:nvSpPr>
        <p:spPr bwMode="auto">
          <a:xfrm>
            <a:off x="4727052" y="973124"/>
            <a:ext cx="4146604" cy="1587197"/>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buNone/>
            </a:pPr>
            <a:r>
              <a:rPr lang="ru-RU" sz="1800" dirty="0">
                <a:solidFill>
                  <a:srgbClr val="C00000"/>
                </a:solidFill>
                <a:latin typeface="+mj-lt"/>
                <a:cs typeface="Arial" pitchFamily="34" charset="0"/>
              </a:rPr>
              <a:t>Общий тест-кейс сложно выполнять </a:t>
            </a:r>
            <a:r>
              <a:rPr lang="ru-RU" sz="1800" dirty="0">
                <a:latin typeface="+mj-lt"/>
                <a:cs typeface="Arial" pitchFamily="34" charset="0"/>
              </a:rPr>
              <a:t>по многим объективным и субъективным причинам, а потому:</a:t>
            </a:r>
          </a:p>
          <a:p>
            <a:pPr marL="287338" lvl="1" indent="-287338" algn="just">
              <a:buClr>
                <a:schemeClr val="accent2"/>
              </a:buClr>
              <a:buFont typeface="Arial" panose="020B0604020202020204" pitchFamily="34" charset="0"/>
              <a:buChar char="•"/>
            </a:pPr>
            <a:r>
              <a:rPr lang="ru-RU" sz="1800" dirty="0">
                <a:latin typeface="+mj-lt"/>
                <a:cs typeface="Arial" pitchFamily="34" charset="0"/>
              </a:rPr>
              <a:t>он </a:t>
            </a:r>
            <a:r>
              <a:rPr lang="ru-RU" sz="1800" dirty="0">
                <a:solidFill>
                  <a:srgbClr val="C00000"/>
                </a:solidFill>
                <a:latin typeface="+mj-lt"/>
                <a:cs typeface="Arial" pitchFamily="34" charset="0"/>
              </a:rPr>
              <a:t>сложен для начинающих </a:t>
            </a:r>
            <a:r>
              <a:rPr lang="ru-RU" sz="1800" dirty="0">
                <a:latin typeface="+mj-lt"/>
                <a:cs typeface="Arial" pitchFamily="34" charset="0"/>
              </a:rPr>
              <a:t>тестировщиков;</a:t>
            </a:r>
          </a:p>
          <a:p>
            <a:pPr marL="287338" lvl="1" indent="-287338" algn="just">
              <a:buClr>
                <a:schemeClr val="accent2"/>
              </a:buClr>
              <a:buFont typeface="Arial" panose="020B0604020202020204" pitchFamily="34" charset="0"/>
              <a:buChar char="•"/>
            </a:pPr>
            <a:r>
              <a:rPr lang="ru-RU" sz="1800" dirty="0">
                <a:latin typeface="+mj-lt"/>
                <a:cs typeface="Arial" pitchFamily="34" charset="0"/>
              </a:rPr>
              <a:t>он вполне </a:t>
            </a:r>
            <a:r>
              <a:rPr lang="ru-RU" sz="1800" dirty="0">
                <a:solidFill>
                  <a:srgbClr val="C00000"/>
                </a:solidFill>
                <a:latin typeface="+mj-lt"/>
                <a:cs typeface="Arial" pitchFamily="34" charset="0"/>
              </a:rPr>
              <a:t>может остаться невыполненным</a:t>
            </a:r>
            <a:r>
              <a:rPr lang="ru-RU" sz="1800" dirty="0">
                <a:latin typeface="+mj-lt"/>
                <a:cs typeface="Arial" pitchFamily="34" charset="0"/>
              </a:rPr>
              <a:t>.</a:t>
            </a:r>
          </a:p>
        </p:txBody>
      </p:sp>
    </p:spTree>
    <p:extLst>
      <p:ext uri="{BB962C8B-B14F-4D97-AF65-F5344CB8AC3E}">
        <p14:creationId xmlns:p14="http://schemas.microsoft.com/office/powerpoint/2010/main" val="2878052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Специфичность или общность?</a:t>
            </a:r>
            <a:endParaRPr lang="en-US" dirty="0"/>
          </a:p>
        </p:txBody>
      </p:sp>
      <p:graphicFrame>
        <p:nvGraphicFramePr>
          <p:cNvPr id="3" name="Group 35"/>
          <p:cNvGraphicFramePr>
            <a:graphicFrameLocks noGrp="1"/>
          </p:cNvGraphicFramePr>
          <p:nvPr>
            <p:extLst>
              <p:ext uri="{D42A27DB-BD31-4B8C-83A1-F6EECF244321}">
                <p14:modId xmlns:p14="http://schemas.microsoft.com/office/powerpoint/2010/main" val="72210160"/>
              </p:ext>
            </p:extLst>
          </p:nvPr>
        </p:nvGraphicFramePr>
        <p:xfrm>
          <a:off x="259469" y="809045"/>
          <a:ext cx="7564616" cy="2148840"/>
        </p:xfrm>
        <a:graphic>
          <a:graphicData uri="http://schemas.openxmlformats.org/drawingml/2006/table">
            <a:tbl>
              <a:tblPr/>
              <a:tblGrid>
                <a:gridCol w="3847972">
                  <a:extLst>
                    <a:ext uri="{9D8B030D-6E8A-4147-A177-3AD203B41FA5}">
                      <a16:colId xmlns:a16="http://schemas.microsoft.com/office/drawing/2014/main" val="20000"/>
                    </a:ext>
                  </a:extLst>
                </a:gridCol>
                <a:gridCol w="3716644">
                  <a:extLst>
                    <a:ext uri="{9D8B030D-6E8A-4147-A177-3AD203B41FA5}">
                      <a16:colId xmlns:a16="http://schemas.microsoft.com/office/drawing/2014/main" val="20001"/>
                    </a:ext>
                  </a:extLst>
                </a:gridCol>
              </a:tblGrid>
              <a:tr h="2148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400" b="1" i="0" u="none" strike="noStrike" cap="none" normalizeH="0" baseline="0" dirty="0">
                          <a:ln>
                            <a:noFill/>
                          </a:ln>
                          <a:solidFill>
                            <a:schemeClr val="tx1"/>
                          </a:solidFill>
                          <a:effectLst/>
                          <a:latin typeface="+mj-lt"/>
                        </a:rPr>
                        <a:t>Сложение </a:t>
                      </a:r>
                      <a:r>
                        <a:rPr kumimoji="0" lang="en-US" sz="1400" b="1" i="0" u="none" strike="noStrike" cap="none" normalizeH="0" baseline="0" dirty="0">
                          <a:ln>
                            <a:noFill/>
                          </a:ln>
                          <a:solidFill>
                            <a:schemeClr val="tx1"/>
                          </a:solidFill>
                          <a:effectLst/>
                          <a:latin typeface="+mj-lt"/>
                        </a:rPr>
                        <a:t>A </a:t>
                      </a:r>
                      <a:r>
                        <a:rPr kumimoji="0" lang="ru-RU" sz="1400" b="1" i="0" u="none" strike="noStrike" cap="none" normalizeH="0" baseline="0" dirty="0">
                          <a:ln>
                            <a:noFill/>
                          </a:ln>
                          <a:solidFill>
                            <a:schemeClr val="tx1"/>
                          </a:solidFill>
                          <a:effectLst/>
                          <a:latin typeface="+mj-lt"/>
                        </a:rPr>
                        <a:t>и </a:t>
                      </a:r>
                      <a:r>
                        <a:rPr kumimoji="0" lang="en-US" sz="1400" b="1" i="0" u="none" strike="noStrike" cap="none" normalizeH="0" baseline="0" dirty="0">
                          <a:ln>
                            <a:noFill/>
                          </a:ln>
                          <a:solidFill>
                            <a:schemeClr val="tx1"/>
                          </a:solidFill>
                          <a:effectLst/>
                          <a:latin typeface="+mj-lt"/>
                        </a:rPr>
                        <a:t>B</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1. </a:t>
                      </a:r>
                      <a:r>
                        <a:rPr kumimoji="0" lang="ru-RU" sz="1400" b="0" i="0" u="none" strike="noStrike" cap="none" normalizeH="0" baseline="0" dirty="0">
                          <a:ln>
                            <a:noFill/>
                          </a:ln>
                          <a:solidFill>
                            <a:schemeClr val="tx1"/>
                          </a:solidFill>
                          <a:effectLst/>
                          <a:latin typeface="+mj-lt"/>
                        </a:rPr>
                        <a:t>В поле </a:t>
                      </a:r>
                      <a:r>
                        <a:rPr kumimoji="0" lang="en-US" sz="1400" b="0" i="0" u="none" strike="noStrike" cap="none" normalizeH="0" baseline="0" dirty="0">
                          <a:ln>
                            <a:noFill/>
                          </a:ln>
                          <a:solidFill>
                            <a:schemeClr val="tx1"/>
                          </a:solidFill>
                          <a:effectLst/>
                          <a:latin typeface="+mj-lt"/>
                        </a:rPr>
                        <a:t>A </a:t>
                      </a:r>
                      <a:r>
                        <a:rPr kumimoji="0" lang="ru-RU" sz="1400" b="0" i="0" u="none" strike="noStrike" cap="none" normalizeH="0" baseline="0" dirty="0">
                          <a:ln>
                            <a:noFill/>
                          </a:ln>
                          <a:solidFill>
                            <a:schemeClr val="tx1"/>
                          </a:solidFill>
                          <a:effectLst/>
                          <a:latin typeface="+mj-lt"/>
                        </a:rPr>
                        <a:t>ввести корректное целое число</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2. </a:t>
                      </a:r>
                      <a:r>
                        <a:rPr kumimoji="0" lang="ru-RU" sz="1400" b="0" i="0" u="none" strike="noStrike" cap="none" normalizeH="0" baseline="0" dirty="0">
                          <a:ln>
                            <a:noFill/>
                          </a:ln>
                          <a:solidFill>
                            <a:schemeClr val="tx1"/>
                          </a:solidFill>
                          <a:effectLst/>
                          <a:latin typeface="+mj-lt"/>
                        </a:rPr>
                        <a:t>В поле </a:t>
                      </a:r>
                      <a:r>
                        <a:rPr kumimoji="0" lang="en-US" sz="1400" b="0" i="0" u="none" strike="noStrike" cap="none" normalizeH="0" baseline="0" dirty="0">
                          <a:ln>
                            <a:noFill/>
                          </a:ln>
                          <a:solidFill>
                            <a:schemeClr val="tx1"/>
                          </a:solidFill>
                          <a:effectLst/>
                          <a:latin typeface="+mj-lt"/>
                        </a:rPr>
                        <a:t>B </a:t>
                      </a:r>
                      <a:r>
                        <a:rPr kumimoji="0" lang="ru-RU" sz="1400" b="0" i="0" u="none" strike="noStrike" cap="none" normalizeH="0" baseline="0" dirty="0">
                          <a:ln>
                            <a:noFill/>
                          </a:ln>
                          <a:solidFill>
                            <a:schemeClr val="tx1"/>
                          </a:solidFill>
                          <a:effectLst/>
                          <a:latin typeface="+mj-lt"/>
                        </a:rPr>
                        <a:t>ввести корректное целое число</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3. </a:t>
                      </a:r>
                      <a:r>
                        <a:rPr kumimoji="0" lang="ru-RU" sz="1400" b="0" i="0" u="none" strike="noStrike" cap="none" normalizeH="0" baseline="0" dirty="0">
                          <a:ln>
                            <a:noFill/>
                          </a:ln>
                          <a:solidFill>
                            <a:schemeClr val="tx1"/>
                          </a:solidFill>
                          <a:effectLst/>
                          <a:latin typeface="+mj-lt"/>
                        </a:rPr>
                        <a:t>Нажать кнопку «Сложить»</a:t>
                      </a:r>
                      <a:endParaRPr kumimoji="0" lang="en-US" sz="1400" b="0" i="0" u="none" strike="noStrike" cap="none" normalizeH="0" baseline="0" dirty="0">
                        <a:ln>
                          <a:noFill/>
                        </a:ln>
                        <a:solidFill>
                          <a:schemeClr val="tx1"/>
                        </a:solidFill>
                        <a:effectLst/>
                        <a:latin typeface="+mj-l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4.</a:t>
                      </a:r>
                      <a:r>
                        <a:rPr kumimoji="0" lang="ru-RU" sz="1400" b="0" i="0" u="none" strike="noStrike" cap="none" normalizeH="0" baseline="0" dirty="0">
                          <a:ln>
                            <a:noFill/>
                          </a:ln>
                          <a:solidFill>
                            <a:schemeClr val="tx1"/>
                          </a:solidFill>
                          <a:effectLst/>
                          <a:latin typeface="+mj-lt"/>
                        </a:rPr>
                        <a:t> Проверить значение поля </a:t>
                      </a:r>
                      <a:r>
                        <a:rPr kumimoji="0" lang="en-US" sz="1400" b="0" i="0" u="none" strike="noStrike" cap="none" normalizeH="0" baseline="0" dirty="0">
                          <a:ln>
                            <a:noFill/>
                          </a:ln>
                          <a:solidFill>
                            <a:schemeClr val="tx1"/>
                          </a:solidFill>
                          <a:effectLst/>
                          <a:latin typeface="+mj-lt"/>
                        </a:rPr>
                        <a:t>C</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5. </a:t>
                      </a:r>
                      <a:r>
                        <a:rPr kumimoji="0" lang="ru-RU" sz="1400" b="0" i="0" u="none" strike="noStrike" cap="none" normalizeH="0" baseline="0" dirty="0">
                          <a:ln>
                            <a:noFill/>
                          </a:ln>
                          <a:solidFill>
                            <a:schemeClr val="tx1"/>
                          </a:solidFill>
                          <a:effectLst/>
                          <a:latin typeface="+mj-lt"/>
                        </a:rPr>
                        <a:t>Повторить шаги</a:t>
                      </a:r>
                      <a:r>
                        <a:rPr kumimoji="0" lang="en-US" sz="1400" b="0" i="0" u="none" strike="noStrike" cap="none" normalizeH="0" baseline="0" dirty="0">
                          <a:ln>
                            <a:noFill/>
                          </a:ln>
                          <a:solidFill>
                            <a:schemeClr val="tx1"/>
                          </a:solidFill>
                          <a:effectLst/>
                          <a:latin typeface="+mj-lt"/>
                        </a:rPr>
                        <a:t> 1-4 </a:t>
                      </a:r>
                      <a:r>
                        <a:rPr kumimoji="0" lang="ru-RU" sz="1400" b="0" i="0" u="none" strike="noStrike" cap="none" normalizeH="0" baseline="0" dirty="0">
                          <a:ln>
                            <a:noFill/>
                          </a:ln>
                          <a:solidFill>
                            <a:schemeClr val="tx1"/>
                          </a:solidFill>
                          <a:effectLst/>
                          <a:latin typeface="+mj-lt"/>
                        </a:rPr>
                        <a:t>для значений:</a:t>
                      </a:r>
                      <a:r>
                        <a:rPr kumimoji="0" lang="en-US" sz="1400" b="0" i="0" u="none" strike="noStrike" cap="none" normalizeH="0" baseline="0" dirty="0">
                          <a:ln>
                            <a:noFill/>
                          </a:ln>
                          <a:solidFill>
                            <a:schemeClr val="tx1"/>
                          </a:solidFill>
                          <a:effectLst/>
                          <a:latin typeface="+mj-lt"/>
                        </a:rPr>
                        <a:t> 0, </a:t>
                      </a:r>
                      <a:r>
                        <a:rPr kumimoji="0" lang="ru-RU" sz="1400" b="0" i="0" u="none" strike="noStrike" cap="none" normalizeH="0" baseline="0" dirty="0">
                          <a:ln>
                            <a:noFill/>
                          </a:ln>
                          <a:solidFill>
                            <a:schemeClr val="tx1"/>
                          </a:solidFill>
                          <a:effectLst/>
                          <a:latin typeface="+mj-lt"/>
                        </a:rPr>
                        <a:t>максимального и минимального допустимого значений.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mj-lt"/>
                        </a:rPr>
                        <a:t>4. </a:t>
                      </a:r>
                      <a:r>
                        <a:rPr kumimoji="0" lang="ru-RU" sz="1400" b="0" i="0" u="none" strike="noStrike" cap="none" normalizeH="0" baseline="0" dirty="0">
                          <a:ln>
                            <a:noFill/>
                          </a:ln>
                          <a:solidFill>
                            <a:schemeClr val="tx1"/>
                          </a:solidFill>
                          <a:effectLst/>
                          <a:latin typeface="+mj-lt"/>
                        </a:rPr>
                        <a:t>Значение поля </a:t>
                      </a:r>
                      <a:r>
                        <a:rPr kumimoji="0" lang="en-US" sz="1400" b="0" i="0" u="none" strike="noStrike" cap="none" normalizeH="0" baseline="0" dirty="0">
                          <a:ln>
                            <a:noFill/>
                          </a:ln>
                          <a:solidFill>
                            <a:schemeClr val="tx1"/>
                          </a:solidFill>
                          <a:effectLst/>
                          <a:latin typeface="+mj-lt"/>
                        </a:rPr>
                        <a:t>C </a:t>
                      </a:r>
                      <a:r>
                        <a:rPr kumimoji="0" lang="ru-RU" sz="1400" b="0" i="0" u="none" strike="noStrike" cap="none" normalizeH="0" baseline="0" dirty="0">
                          <a:ln>
                            <a:noFill/>
                          </a:ln>
                          <a:solidFill>
                            <a:schemeClr val="tx1"/>
                          </a:solidFill>
                          <a:effectLst/>
                          <a:latin typeface="+mj-lt"/>
                        </a:rPr>
                        <a:t>равно сумме </a:t>
                      </a:r>
                      <a:r>
                        <a:rPr kumimoji="0" lang="en-US" sz="1400" b="0" i="0" u="none" strike="noStrike" cap="none" normalizeH="0" baseline="0" dirty="0">
                          <a:ln>
                            <a:noFill/>
                          </a:ln>
                          <a:solidFill>
                            <a:schemeClr val="tx1"/>
                          </a:solidFill>
                          <a:effectLst/>
                          <a:latin typeface="+mj-lt"/>
                        </a:rPr>
                        <a:t>A </a:t>
                      </a:r>
                      <a:r>
                        <a:rPr kumimoji="0" lang="ru-RU" sz="1400" b="0" i="0" u="none" strike="noStrike" cap="none" normalizeH="0" baseline="0" dirty="0">
                          <a:ln>
                            <a:noFill/>
                          </a:ln>
                          <a:solidFill>
                            <a:schemeClr val="tx1"/>
                          </a:solidFill>
                          <a:effectLst/>
                          <a:latin typeface="+mj-lt"/>
                        </a:rPr>
                        <a:t>и </a:t>
                      </a:r>
                      <a:r>
                        <a:rPr kumimoji="0" lang="en-US" sz="1400" b="0" i="0" u="none" strike="noStrike" cap="none" normalizeH="0" baseline="0" dirty="0">
                          <a:ln>
                            <a:noFill/>
                          </a:ln>
                          <a:solidFill>
                            <a:schemeClr val="tx1"/>
                          </a:solidFill>
                          <a:effectLst/>
                          <a:latin typeface="+mj-lt"/>
                        </a:rPr>
                        <a:t>B</a:t>
                      </a:r>
                      <a:endParaRPr kumimoji="0" lang="ru-RU" sz="1400" b="0" i="0" u="none" strike="noStrike" cap="none" normalizeH="0" baseline="0" dirty="0">
                        <a:ln>
                          <a:noFill/>
                        </a:ln>
                        <a:solidFill>
                          <a:schemeClr val="tx1"/>
                        </a:solidFill>
                        <a:effectLst/>
                        <a:latin typeface="+mj-lt"/>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bl>
          </a:graphicData>
        </a:graphic>
      </p:graphicFrame>
      <p:sp>
        <p:nvSpPr>
          <p:cNvPr id="6" name="Rectangle 3"/>
          <p:cNvSpPr txBox="1">
            <a:spLocks noChangeArrowheads="1"/>
          </p:cNvSpPr>
          <p:nvPr/>
        </p:nvSpPr>
        <p:spPr bwMode="auto">
          <a:xfrm>
            <a:off x="259469" y="3067414"/>
            <a:ext cx="5362103" cy="1368287"/>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8138" lvl="1" indent="-338138">
              <a:spcBef>
                <a:spcPts val="200"/>
              </a:spcBef>
              <a:buClr>
                <a:schemeClr val="accent2"/>
              </a:buClr>
              <a:buFont typeface="Arial" pitchFamily="34" charset="0"/>
              <a:buChar char="•"/>
            </a:pPr>
            <a:r>
              <a:rPr lang="ru-RU" sz="1400" dirty="0">
                <a:latin typeface="+mj-lt"/>
                <a:cs typeface="Arial" pitchFamily="34" charset="0"/>
              </a:rPr>
              <a:t>Здесь мы </a:t>
            </a:r>
            <a:r>
              <a:rPr lang="ru-RU" sz="1400" dirty="0">
                <a:solidFill>
                  <a:srgbClr val="C00000"/>
                </a:solidFill>
                <a:latin typeface="+mj-lt"/>
                <a:cs typeface="Arial" pitchFamily="34" charset="0"/>
              </a:rPr>
              <a:t>не привязаны к конкретным значениям</a:t>
            </a:r>
            <a:r>
              <a:rPr lang="en-US" sz="1400" dirty="0">
                <a:latin typeface="+mj-lt"/>
                <a:cs typeface="Arial" pitchFamily="34" charset="0"/>
              </a:rPr>
              <a:t>.</a:t>
            </a:r>
          </a:p>
          <a:p>
            <a:pPr marL="338138" lvl="1" indent="-338138">
              <a:spcBef>
                <a:spcPts val="200"/>
              </a:spcBef>
              <a:buClr>
                <a:schemeClr val="accent2"/>
              </a:buClr>
              <a:buFont typeface="Arial" pitchFamily="34" charset="0"/>
              <a:buChar char="•"/>
            </a:pPr>
            <a:r>
              <a:rPr lang="ru-RU" sz="1400" dirty="0">
                <a:latin typeface="+mj-lt"/>
                <a:cs typeface="Arial" pitchFamily="34" charset="0"/>
              </a:rPr>
              <a:t>Мы знаем, как </a:t>
            </a:r>
            <a:r>
              <a:rPr lang="ru-RU" sz="1400" dirty="0">
                <a:solidFill>
                  <a:srgbClr val="C00000"/>
                </a:solidFill>
                <a:latin typeface="+mj-lt"/>
                <a:cs typeface="Arial" pitchFamily="34" charset="0"/>
              </a:rPr>
              <a:t>проверить результат</a:t>
            </a:r>
            <a:r>
              <a:rPr lang="en-US" sz="1400" dirty="0">
                <a:latin typeface="+mj-lt"/>
                <a:cs typeface="Arial" pitchFamily="34" charset="0"/>
              </a:rPr>
              <a:t>.</a:t>
            </a:r>
          </a:p>
          <a:p>
            <a:pPr marL="338138" lvl="1" indent="-338138">
              <a:spcBef>
                <a:spcPts val="200"/>
              </a:spcBef>
              <a:buClr>
                <a:schemeClr val="accent2"/>
              </a:buClr>
              <a:buFont typeface="Arial" pitchFamily="34" charset="0"/>
              <a:buChar char="•"/>
            </a:pPr>
            <a:r>
              <a:rPr lang="ru-RU" sz="1400" dirty="0">
                <a:latin typeface="+mj-lt"/>
                <a:cs typeface="Arial" pitchFamily="34" charset="0"/>
              </a:rPr>
              <a:t>Мы </a:t>
            </a:r>
            <a:r>
              <a:rPr lang="ru-RU" sz="1400" dirty="0">
                <a:solidFill>
                  <a:srgbClr val="C00000"/>
                </a:solidFill>
                <a:latin typeface="+mj-lt"/>
                <a:cs typeface="Arial" pitchFamily="34" charset="0"/>
              </a:rPr>
              <a:t>сокращаем время </a:t>
            </a:r>
            <a:r>
              <a:rPr lang="ru-RU" sz="1400" dirty="0">
                <a:latin typeface="+mj-lt"/>
                <a:cs typeface="Arial" pitchFamily="34" charset="0"/>
              </a:rPr>
              <a:t>написания и поддержки теста ссылкой на шаги 1-4</a:t>
            </a:r>
            <a:r>
              <a:rPr lang="en-US" sz="1400" dirty="0">
                <a:latin typeface="+mj-lt"/>
                <a:cs typeface="Arial" pitchFamily="34" charset="0"/>
              </a:rPr>
              <a:t>.</a:t>
            </a:r>
          </a:p>
          <a:p>
            <a:pPr marL="338138" lvl="1" indent="-338138">
              <a:spcBef>
                <a:spcPts val="200"/>
              </a:spcBef>
              <a:buClr>
                <a:schemeClr val="accent2"/>
              </a:buClr>
              <a:buFont typeface="Arial" pitchFamily="34" charset="0"/>
              <a:buChar char="•"/>
            </a:pPr>
            <a:r>
              <a:rPr lang="ru-RU" sz="1400" dirty="0">
                <a:latin typeface="+mj-lt"/>
                <a:cs typeface="Arial" pitchFamily="34" charset="0"/>
              </a:rPr>
              <a:t>Мы </a:t>
            </a:r>
            <a:r>
              <a:rPr lang="ru-RU" sz="1400" dirty="0">
                <a:solidFill>
                  <a:srgbClr val="C00000"/>
                </a:solidFill>
                <a:latin typeface="+mj-lt"/>
                <a:cs typeface="Arial" pitchFamily="34" charset="0"/>
              </a:rPr>
              <a:t>перечислили значения</a:t>
            </a:r>
            <a:r>
              <a:rPr lang="ru-RU" sz="1400" dirty="0">
                <a:latin typeface="+mj-lt"/>
                <a:cs typeface="Arial" pitchFamily="34" charset="0"/>
              </a:rPr>
              <a:t>, представляющие для нас особый интерес</a:t>
            </a:r>
            <a:r>
              <a:rPr lang="en-US" sz="1400" dirty="0">
                <a:latin typeface="+mj-lt"/>
                <a:cs typeface="Arial" pitchFamily="34" charset="0"/>
              </a:rPr>
              <a:t>.</a:t>
            </a:r>
            <a:endParaRPr lang="ru-RU" sz="1400" dirty="0">
              <a:latin typeface="+mj-lt"/>
              <a:cs typeface="Arial" pitchFamily="34" charset="0"/>
            </a:endParaRPr>
          </a:p>
        </p:txBody>
      </p:sp>
    </p:spTree>
    <p:extLst>
      <p:ext uri="{BB962C8B-B14F-4D97-AF65-F5344CB8AC3E}">
        <p14:creationId xmlns:p14="http://schemas.microsoft.com/office/powerpoint/2010/main" val="12560968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Простота или сложность?</a:t>
            </a:r>
            <a:endParaRPr lang="en-US" dirty="0"/>
          </a:p>
        </p:txBody>
      </p:sp>
      <p:sp>
        <p:nvSpPr>
          <p:cNvPr id="3" name="Rectangle 3"/>
          <p:cNvSpPr txBox="1">
            <a:spLocks noChangeArrowheads="1"/>
          </p:cNvSpPr>
          <p:nvPr/>
        </p:nvSpPr>
        <p:spPr bwMode="auto">
          <a:xfrm>
            <a:off x="291548" y="877957"/>
            <a:ext cx="4431527" cy="289891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b="1" dirty="0">
                <a:latin typeface="+mj-lt"/>
                <a:cs typeface="Arial" pitchFamily="34" charset="0"/>
              </a:rPr>
              <a:t>Простые тесты:</a:t>
            </a:r>
          </a:p>
          <a:p>
            <a:pPr marL="0" indent="0">
              <a:buFontTx/>
              <a:buNone/>
            </a:pPr>
            <a:r>
              <a:rPr lang="ru-RU" sz="1400" dirty="0">
                <a:latin typeface="+mj-lt"/>
                <a:cs typeface="Arial" pitchFamily="34" charset="0"/>
              </a:rPr>
              <a:t>1. Откройте файл «1.</a:t>
            </a:r>
            <a:r>
              <a:rPr lang="en-US" sz="1400" dirty="0">
                <a:latin typeface="+mj-lt"/>
                <a:cs typeface="Arial" pitchFamily="34" charset="0"/>
              </a:rPr>
              <a:t>txt</a:t>
            </a:r>
            <a:r>
              <a:rPr lang="ru-RU" sz="1400" dirty="0">
                <a:latin typeface="+mj-lt"/>
                <a:cs typeface="Arial" pitchFamily="34" charset="0"/>
              </a:rPr>
              <a:t>». Файл открыт.</a:t>
            </a:r>
          </a:p>
          <a:p>
            <a:pPr marL="0" indent="0">
              <a:buFontTx/>
              <a:buNone/>
            </a:pPr>
            <a:r>
              <a:rPr lang="ru-RU" sz="1400" dirty="0">
                <a:latin typeface="+mj-lt"/>
                <a:cs typeface="Arial" pitchFamily="34" charset="0"/>
              </a:rPr>
              <a:t>2. Введите слово «Дом». Появляется слово «Дом.</a:t>
            </a:r>
          </a:p>
          <a:p>
            <a:pPr marL="0" indent="0">
              <a:buFontTx/>
              <a:buNone/>
            </a:pPr>
            <a:r>
              <a:rPr lang="ru-RU" sz="1400" dirty="0">
                <a:latin typeface="+mj-lt"/>
                <a:cs typeface="Arial" pitchFamily="34" charset="0"/>
              </a:rPr>
              <a:t>3. Сохраните файл. Кнопка «Сохранить» становится неактивной.</a:t>
            </a:r>
          </a:p>
          <a:p>
            <a:pPr marL="0" indent="0">
              <a:buFontTx/>
              <a:buNone/>
            </a:pPr>
            <a:endParaRPr lang="ru-RU" sz="1400" dirty="0">
              <a:latin typeface="+mj-lt"/>
              <a:cs typeface="Arial" pitchFamily="34" charset="0"/>
            </a:endParaRPr>
          </a:p>
          <a:p>
            <a:pPr marL="0" indent="0">
              <a:buFontTx/>
              <a:buNone/>
            </a:pPr>
            <a:r>
              <a:rPr lang="ru-RU" sz="1400" b="1" dirty="0">
                <a:latin typeface="+mj-lt"/>
                <a:cs typeface="Arial" pitchFamily="34" charset="0"/>
              </a:rPr>
              <a:t>Сложный тест:</a:t>
            </a:r>
          </a:p>
          <a:p>
            <a:pPr marL="0" indent="0">
              <a:buFontTx/>
              <a:buNone/>
            </a:pPr>
            <a:r>
              <a:rPr lang="ru-RU" sz="1400" dirty="0">
                <a:latin typeface="+mj-lt"/>
                <a:cs typeface="Arial" pitchFamily="34" charset="0"/>
              </a:rPr>
              <a:t>1. В документе размером более 100 Мб создайте таблицу 100</a:t>
            </a:r>
            <a:r>
              <a:rPr lang="en-US" sz="1400" dirty="0">
                <a:latin typeface="+mj-lt"/>
                <a:cs typeface="Arial" pitchFamily="34" charset="0"/>
              </a:rPr>
              <a:t>x100</a:t>
            </a:r>
            <a:r>
              <a:rPr lang="ru-RU" sz="1400" dirty="0">
                <a:latin typeface="+mj-lt"/>
                <a:cs typeface="Arial" pitchFamily="34" charset="0"/>
              </a:rPr>
              <a:t>, в ячейку </a:t>
            </a:r>
            <a:r>
              <a:rPr lang="en-US" sz="1400" dirty="0">
                <a:latin typeface="+mj-lt"/>
                <a:cs typeface="Arial" pitchFamily="34" charset="0"/>
              </a:rPr>
              <a:t>50x50 </a:t>
            </a:r>
            <a:r>
              <a:rPr lang="ru-RU" sz="1400" dirty="0">
                <a:latin typeface="+mj-lt"/>
                <a:cs typeface="Arial" pitchFamily="34" charset="0"/>
              </a:rPr>
              <a:t>вставьте картинку размером 30 Мб, применив к ней функцию «Авторасположение». Проверьте результат.</a:t>
            </a:r>
          </a:p>
          <a:p>
            <a:pPr marL="0" indent="0">
              <a:buFontTx/>
              <a:buNone/>
            </a:pPr>
            <a:endParaRPr lang="ru-RU" sz="1400" dirty="0">
              <a:latin typeface="+mj-lt"/>
              <a:cs typeface="Arial" pitchFamily="34" charset="0"/>
            </a:endParaRPr>
          </a:p>
          <a:p>
            <a:pPr marL="0" indent="0">
              <a:buFontTx/>
              <a:buNone/>
            </a:pPr>
            <a:r>
              <a:rPr lang="ru-RU" sz="1400" b="1" dirty="0">
                <a:solidFill>
                  <a:srgbClr val="7030A0"/>
                </a:solidFill>
                <a:latin typeface="+mj-lt"/>
                <a:cs typeface="Arial" pitchFamily="34" charset="0"/>
              </a:rPr>
              <a:t>Простые тесты оперируют за раз одним объектом.</a:t>
            </a:r>
          </a:p>
        </p:txBody>
      </p:sp>
      <p:sp>
        <p:nvSpPr>
          <p:cNvPr id="2" name="Rectangle 1">
            <a:extLst>
              <a:ext uri="{FF2B5EF4-FFF2-40B4-BE49-F238E27FC236}">
                <a16:creationId xmlns:a16="http://schemas.microsoft.com/office/drawing/2014/main" id="{746420ED-9A80-457E-8203-8278620F5669}"/>
              </a:ext>
            </a:extLst>
          </p:cNvPr>
          <p:cNvSpPr/>
          <p:nvPr/>
        </p:nvSpPr>
        <p:spPr>
          <a:xfrm>
            <a:off x="4572000" y="911183"/>
            <a:ext cx="4572000" cy="1255728"/>
          </a:xfrm>
          <a:prstGeom prst="rect">
            <a:avLst/>
          </a:prstGeom>
        </p:spPr>
        <p:txBody>
          <a:bodyPr>
            <a:spAutoFit/>
          </a:bodyPr>
          <a:lstStyle/>
          <a:p>
            <a:pPr algn="just" fontAlgn="base"/>
            <a:r>
              <a:rPr lang="ru-RU" b="1" dirty="0">
                <a:latin typeface="+mj-lt"/>
                <a:cs typeface="Arial" pitchFamily="34" charset="0"/>
              </a:rPr>
              <a:t>Преимущества простых тестов:</a:t>
            </a:r>
            <a:r>
              <a:rPr lang="en-US" b="1" dirty="0">
                <a:latin typeface="+mj-lt"/>
                <a:cs typeface="Arial" pitchFamily="34" charset="0"/>
              </a:rPr>
              <a:t>​</a:t>
            </a:r>
          </a:p>
          <a:p>
            <a:pPr algn="just" fontAlgn="base">
              <a:buFont typeface="Arial" panose="020B0604020202020204" pitchFamily="34" charset="0"/>
              <a:buChar char="•"/>
            </a:pPr>
            <a:r>
              <a:rPr lang="ru-RU" dirty="0">
                <a:latin typeface="+mj-lt"/>
                <a:cs typeface="Arial" pitchFamily="34" charset="0"/>
              </a:rPr>
              <a:t>Их легко выполнять.</a:t>
            </a:r>
            <a:r>
              <a:rPr lang="en-US" dirty="0">
                <a:latin typeface="+mj-lt"/>
                <a:cs typeface="Arial" pitchFamily="34" charset="0"/>
              </a:rPr>
              <a:t>​</a:t>
            </a:r>
          </a:p>
          <a:p>
            <a:pPr algn="just" fontAlgn="base">
              <a:buFont typeface="Arial" panose="020B0604020202020204" pitchFamily="34" charset="0"/>
              <a:buChar char="•"/>
            </a:pPr>
            <a:r>
              <a:rPr lang="ru-RU" dirty="0">
                <a:latin typeface="+mj-lt"/>
                <a:cs typeface="Arial" pitchFamily="34" charset="0"/>
              </a:rPr>
              <a:t>Они понятны новичкам.</a:t>
            </a:r>
            <a:r>
              <a:rPr lang="en-US" dirty="0">
                <a:latin typeface="+mj-lt"/>
                <a:cs typeface="Arial" pitchFamily="34" charset="0"/>
              </a:rPr>
              <a:t>​</a:t>
            </a:r>
          </a:p>
          <a:p>
            <a:pPr fontAlgn="base">
              <a:spcBef>
                <a:spcPct val="20000"/>
              </a:spcBef>
              <a:spcAft>
                <a:spcPct val="0"/>
              </a:spcAft>
            </a:pPr>
            <a:r>
              <a:rPr lang="ru-RU" dirty="0">
                <a:latin typeface="+mj-lt"/>
                <a:cs typeface="Arial" pitchFamily="34" charset="0"/>
              </a:rPr>
              <a:t>Они упрощают диагностику ошибки.</a:t>
            </a:r>
            <a:r>
              <a:rPr lang="en-US" dirty="0">
                <a:latin typeface="+mj-lt"/>
                <a:cs typeface="Arial" pitchFamily="34" charset="0"/>
              </a:rPr>
              <a:t>​</a:t>
            </a:r>
          </a:p>
          <a:p>
            <a:pPr fontAlgn="base">
              <a:spcBef>
                <a:spcPct val="20000"/>
              </a:spcBef>
              <a:spcAft>
                <a:spcPct val="0"/>
              </a:spcAft>
            </a:pPr>
            <a:r>
              <a:rPr lang="ru-RU" dirty="0">
                <a:latin typeface="+mj-lt"/>
                <a:cs typeface="Arial" pitchFamily="34" charset="0"/>
              </a:rPr>
              <a:t>Они делают наличие ошибки очевидным.</a:t>
            </a:r>
            <a:endParaRPr lang="en-US" dirty="0">
              <a:latin typeface="+mj-lt"/>
              <a:cs typeface="Arial" pitchFamily="34" charset="0"/>
            </a:endParaRPr>
          </a:p>
        </p:txBody>
      </p:sp>
      <p:sp>
        <p:nvSpPr>
          <p:cNvPr id="4" name="Rectangle 3">
            <a:extLst>
              <a:ext uri="{FF2B5EF4-FFF2-40B4-BE49-F238E27FC236}">
                <a16:creationId xmlns:a16="http://schemas.microsoft.com/office/drawing/2014/main" id="{A7E02A63-730E-4ED6-AF41-743782AAFCD6}"/>
              </a:ext>
            </a:extLst>
          </p:cNvPr>
          <p:cNvSpPr/>
          <p:nvPr/>
        </p:nvSpPr>
        <p:spPr>
          <a:xfrm>
            <a:off x="4572000" y="2570316"/>
            <a:ext cx="4572000" cy="1415772"/>
          </a:xfrm>
          <a:prstGeom prst="rect">
            <a:avLst/>
          </a:prstGeom>
        </p:spPr>
        <p:txBody>
          <a:bodyPr>
            <a:spAutoFit/>
          </a:bodyPr>
          <a:lstStyle/>
          <a:p>
            <a:pPr algn="just" fontAlgn="base"/>
            <a:r>
              <a:rPr lang="ru-RU" b="1" dirty="0">
                <a:latin typeface="+mj-lt"/>
                <a:cs typeface="Arial" pitchFamily="34" charset="0"/>
              </a:rPr>
              <a:t>Преимущества сложны тестов:</a:t>
            </a:r>
            <a:r>
              <a:rPr lang="en-US" b="1" dirty="0">
                <a:latin typeface="+mj-lt"/>
                <a:cs typeface="Arial" pitchFamily="34" charset="0"/>
              </a:rPr>
              <a:t>​</a:t>
            </a:r>
          </a:p>
          <a:p>
            <a:pPr indent="-285750" algn="just" fontAlgn="base">
              <a:buFont typeface="Arial" panose="020B0604020202020204" pitchFamily="34" charset="0"/>
              <a:buChar char="•"/>
            </a:pPr>
            <a:r>
              <a:rPr lang="ru-RU" dirty="0">
                <a:latin typeface="+mj-lt"/>
                <a:cs typeface="Arial" pitchFamily="34" charset="0"/>
              </a:rPr>
              <a:t>Больше шансов что-то сломать.</a:t>
            </a:r>
            <a:r>
              <a:rPr lang="en-US" dirty="0">
                <a:latin typeface="+mj-lt"/>
                <a:cs typeface="Arial" pitchFamily="34" charset="0"/>
              </a:rPr>
              <a:t>​</a:t>
            </a:r>
          </a:p>
          <a:p>
            <a:pPr indent="-285750" algn="just" fontAlgn="base">
              <a:buFont typeface="Arial" panose="020B0604020202020204" pitchFamily="34" charset="0"/>
              <a:buChar char="•"/>
            </a:pPr>
            <a:r>
              <a:rPr lang="ru-RU" dirty="0">
                <a:latin typeface="+mj-lt"/>
                <a:cs typeface="Arial" pitchFamily="34" charset="0"/>
              </a:rPr>
              <a:t>Пользователи, как правило, используют сложные сценарии.</a:t>
            </a:r>
            <a:r>
              <a:rPr lang="en-US" dirty="0">
                <a:latin typeface="+mj-lt"/>
                <a:cs typeface="Arial" pitchFamily="34" charset="0"/>
              </a:rPr>
              <a:t>​</a:t>
            </a:r>
          </a:p>
          <a:p>
            <a:pPr indent="-285750" algn="just" fontAlgn="base">
              <a:buFont typeface="Arial" panose="020B0604020202020204" pitchFamily="34" charset="0"/>
              <a:buChar char="•"/>
            </a:pPr>
            <a:r>
              <a:rPr lang="ru-RU" dirty="0">
                <a:latin typeface="+mj-lt"/>
                <a:cs typeface="Arial" pitchFamily="34" charset="0"/>
              </a:rPr>
              <a:t>Программисты сами редко проверяют такие варианты.</a:t>
            </a:r>
            <a:endParaRPr lang="en-US" dirty="0">
              <a:latin typeface="+mj-lt"/>
              <a:cs typeface="Arial" pitchFamily="34" charset="0"/>
            </a:endParaRPr>
          </a:p>
        </p:txBody>
      </p:sp>
    </p:spTree>
    <p:extLst>
      <p:ext uri="{BB962C8B-B14F-4D97-AF65-F5344CB8AC3E}">
        <p14:creationId xmlns:p14="http://schemas.microsoft.com/office/powerpoint/2010/main" val="234661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Независимость или связанность?</a:t>
            </a:r>
            <a:endParaRPr lang="en-US" dirty="0"/>
          </a:p>
        </p:txBody>
      </p:sp>
      <p:sp>
        <p:nvSpPr>
          <p:cNvPr id="3" name="Rectangle 2"/>
          <p:cNvSpPr/>
          <p:nvPr/>
        </p:nvSpPr>
        <p:spPr>
          <a:xfrm>
            <a:off x="381000" y="1010483"/>
            <a:ext cx="6655526" cy="1785104"/>
          </a:xfrm>
          <a:prstGeom prst="rect">
            <a:avLst/>
          </a:prstGeom>
        </p:spPr>
        <p:txBody>
          <a:bodyPr wrap="square">
            <a:spAutoFit/>
          </a:bodyPr>
          <a:lstStyle/>
          <a:p>
            <a:r>
              <a:rPr lang="ru-RU" sz="1800" b="1" dirty="0">
                <a:solidFill>
                  <a:srgbClr val="C00000"/>
                </a:solidFill>
                <a:latin typeface="+mj-lt"/>
              </a:rPr>
              <a:t>Независимые тесты </a:t>
            </a:r>
            <a:r>
              <a:rPr lang="ru-RU" sz="1800" dirty="0">
                <a:latin typeface="+mj-lt"/>
              </a:rPr>
              <a:t>не ссылаются ни на какие другие.</a:t>
            </a:r>
          </a:p>
          <a:p>
            <a:endParaRPr lang="ru-RU" dirty="0">
              <a:latin typeface="+mj-lt"/>
            </a:endParaRPr>
          </a:p>
          <a:p>
            <a:endParaRPr lang="ru-RU" dirty="0">
              <a:latin typeface="+mj-lt"/>
            </a:endParaRPr>
          </a:p>
          <a:p>
            <a:endParaRPr lang="ru-RU" dirty="0">
              <a:latin typeface="+mj-lt"/>
            </a:endParaRPr>
          </a:p>
          <a:p>
            <a:endParaRPr lang="ru-RU" dirty="0">
              <a:latin typeface="+mj-lt"/>
            </a:endParaRPr>
          </a:p>
          <a:p>
            <a:r>
              <a:rPr lang="en-US" sz="1800" b="1" dirty="0">
                <a:solidFill>
                  <a:srgbClr val="C00000"/>
                </a:solidFill>
                <a:latin typeface="+mj-lt"/>
              </a:rPr>
              <a:t>C</a:t>
            </a:r>
            <a:r>
              <a:rPr lang="ru-RU" sz="1800" b="1" dirty="0">
                <a:solidFill>
                  <a:srgbClr val="C00000"/>
                </a:solidFill>
                <a:latin typeface="+mj-lt"/>
              </a:rPr>
              <a:t>вязанные тесты </a:t>
            </a:r>
            <a:r>
              <a:rPr lang="ru-RU" sz="1800" dirty="0">
                <a:latin typeface="+mj-lt"/>
              </a:rPr>
              <a:t>явно или неявно (в рамках сценария) ссылаются на другие (как правило, на предыдущий).</a:t>
            </a:r>
          </a:p>
        </p:txBody>
      </p:sp>
    </p:spTree>
    <p:extLst>
      <p:ext uri="{BB962C8B-B14F-4D97-AF65-F5344CB8AC3E}">
        <p14:creationId xmlns:p14="http://schemas.microsoft.com/office/powerpoint/2010/main" val="4240149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Независимость или связанность? Преимущества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222566949"/>
              </p:ext>
            </p:extLst>
          </p:nvPr>
        </p:nvGraphicFramePr>
        <p:xfrm>
          <a:off x="1062767" y="1149087"/>
          <a:ext cx="7018466" cy="3326320"/>
        </p:xfrm>
        <a:graphic>
          <a:graphicData uri="http://schemas.openxmlformats.org/drawingml/2006/table">
            <a:tbl>
              <a:tblPr firstRow="1" bandRow="1">
                <a:tableStyleId>{5C22544A-7EE6-4342-B048-85BDC9FD1C3A}</a:tableStyleId>
              </a:tblPr>
              <a:tblGrid>
                <a:gridCol w="3509233">
                  <a:extLst>
                    <a:ext uri="{9D8B030D-6E8A-4147-A177-3AD203B41FA5}">
                      <a16:colId xmlns:a16="http://schemas.microsoft.com/office/drawing/2014/main" val="1056343014"/>
                    </a:ext>
                  </a:extLst>
                </a:gridCol>
                <a:gridCol w="3509233">
                  <a:extLst>
                    <a:ext uri="{9D8B030D-6E8A-4147-A177-3AD203B41FA5}">
                      <a16:colId xmlns:a16="http://schemas.microsoft.com/office/drawing/2014/main" val="2377090098"/>
                    </a:ext>
                  </a:extLst>
                </a:gridCol>
              </a:tblGrid>
              <a:tr h="391332">
                <a:tc>
                  <a:txBody>
                    <a:bodyPr/>
                    <a:lstStyle/>
                    <a:p>
                      <a:pPr algn="ctr"/>
                      <a:r>
                        <a:rPr lang="ru-RU" dirty="0"/>
                        <a:t>Независимые тесты</a:t>
                      </a:r>
                      <a:endParaRPr lang="en-US" dirty="0"/>
                    </a:p>
                  </a:txBody>
                  <a:tcPr anchor="ctr"/>
                </a:tc>
                <a:tc>
                  <a:txBody>
                    <a:bodyPr/>
                    <a:lstStyle/>
                    <a:p>
                      <a:pPr algn="ctr"/>
                      <a:r>
                        <a:rPr lang="ru-RU" dirty="0"/>
                        <a:t>Связанные тесты</a:t>
                      </a:r>
                      <a:endParaRPr lang="en-US" dirty="0"/>
                    </a:p>
                  </a:txBody>
                  <a:tcPr anchor="ctr"/>
                </a:tc>
                <a:extLst>
                  <a:ext uri="{0D108BD9-81ED-4DB2-BD59-A6C34878D82A}">
                    <a16:rowId xmlns:a16="http://schemas.microsoft.com/office/drawing/2014/main" val="1132441642"/>
                  </a:ext>
                </a:extLst>
              </a:tr>
              <a:tr h="665264">
                <a:tc>
                  <a:txBody>
                    <a:bodyPr/>
                    <a:lstStyle/>
                    <a:p>
                      <a:r>
                        <a:rPr lang="ru-RU" dirty="0"/>
                        <a:t>Легко и просто выполнять</a:t>
                      </a:r>
                      <a:endParaRPr lang="en-US" dirty="0"/>
                    </a:p>
                  </a:txBody>
                  <a:tcPr/>
                </a:tc>
                <a:tc>
                  <a:txBody>
                    <a:bodyPr/>
                    <a:lstStyle/>
                    <a:p>
                      <a:r>
                        <a:rPr lang="ru-RU" dirty="0"/>
                        <a:t>Они имитируют</a:t>
                      </a:r>
                      <a:r>
                        <a:rPr lang="ru-RU" baseline="0" dirty="0"/>
                        <a:t> работу реальных пользователей</a:t>
                      </a:r>
                      <a:endParaRPr lang="en-US" dirty="0"/>
                    </a:p>
                  </a:txBody>
                  <a:tcPr/>
                </a:tc>
                <a:extLst>
                  <a:ext uri="{0D108BD9-81ED-4DB2-BD59-A6C34878D82A}">
                    <a16:rowId xmlns:a16="http://schemas.microsoft.com/office/drawing/2014/main" val="1884952701"/>
                  </a:ext>
                </a:extLst>
              </a:tr>
              <a:tr h="665264">
                <a:tc rowSpan="2">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ru-RU" dirty="0"/>
                        <a:t>Такие тесты могут работать даже после краха</a:t>
                      </a:r>
                      <a:r>
                        <a:rPr lang="ru-RU" baseline="0" dirty="0"/>
                        <a:t> приложения на других тестах</a:t>
                      </a:r>
                      <a:endParaRPr lang="en-US" dirty="0"/>
                    </a:p>
                  </a:txBody>
                  <a:tcPr/>
                </a:tc>
                <a:tc>
                  <a:txBody>
                    <a:bodyPr/>
                    <a:lstStyle/>
                    <a:p>
                      <a:r>
                        <a:rPr lang="ru-RU" dirty="0"/>
                        <a:t>Они удобны для интеграционного</a:t>
                      </a:r>
                      <a:r>
                        <a:rPr lang="ru-RU" baseline="0" dirty="0"/>
                        <a:t> тестирования</a:t>
                      </a:r>
                      <a:endParaRPr lang="en-US" dirty="0"/>
                    </a:p>
                  </a:txBody>
                  <a:tcPr/>
                </a:tc>
                <a:extLst>
                  <a:ext uri="{0D108BD9-81ED-4DB2-BD59-A6C34878D82A}">
                    <a16:rowId xmlns:a16="http://schemas.microsoft.com/office/drawing/2014/main" val="2331896258"/>
                  </a:ext>
                </a:extLst>
              </a:tr>
              <a:tr h="665264">
                <a:tc vMerge="1">
                  <a:txBody>
                    <a:bodyPr/>
                    <a:lstStyle/>
                    <a:p>
                      <a:pPr marL="0" marR="0" indent="0" algn="l" defTabSz="3429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r>
                        <a:rPr lang="ru-RU" dirty="0"/>
                        <a:t>Они удобны для разбиения на части тестов с большим количество шагов</a:t>
                      </a:r>
                      <a:endParaRPr lang="en-US" dirty="0"/>
                    </a:p>
                  </a:txBody>
                  <a:tcPr/>
                </a:tc>
                <a:extLst>
                  <a:ext uri="{0D108BD9-81ED-4DB2-BD59-A6C34878D82A}">
                    <a16:rowId xmlns:a16="http://schemas.microsoft.com/office/drawing/2014/main" val="4154155587"/>
                  </a:ext>
                </a:extLst>
              </a:tr>
              <a:tr h="939196">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ru-RU" dirty="0"/>
                        <a:t>Такие тесты можно группировать любым</a:t>
                      </a:r>
                      <a:r>
                        <a:rPr lang="ru-RU" baseline="0" dirty="0"/>
                        <a:t> образом и выполнять в любом порядке</a:t>
                      </a:r>
                      <a:endParaRPr lang="en-US" dirty="0"/>
                    </a:p>
                  </a:txBody>
                  <a:tcPr/>
                </a:tc>
                <a:tc>
                  <a:txBody>
                    <a:bodyPr/>
                    <a:lstStyle/>
                    <a:p>
                      <a:r>
                        <a:rPr lang="ru-RU" dirty="0"/>
                        <a:t>Следующий в наборе тест использует данные и состояние приложения. Подготовленные предыдущим</a:t>
                      </a:r>
                      <a:endParaRPr lang="en-US" dirty="0"/>
                    </a:p>
                  </a:txBody>
                  <a:tcPr/>
                </a:tc>
                <a:extLst>
                  <a:ext uri="{0D108BD9-81ED-4DB2-BD59-A6C34878D82A}">
                    <a16:rowId xmlns:a16="http://schemas.microsoft.com/office/drawing/2014/main" val="187792704"/>
                  </a:ext>
                </a:extLst>
              </a:tr>
            </a:tbl>
          </a:graphicData>
        </a:graphic>
      </p:graphicFrame>
    </p:spTree>
    <p:extLst>
      <p:ext uri="{BB962C8B-B14F-4D97-AF65-F5344CB8AC3E}">
        <p14:creationId xmlns:p14="http://schemas.microsoft.com/office/powerpoint/2010/main" val="4175072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ru-RU" dirty="0"/>
              <a:t>Язык написание теста</a:t>
            </a:r>
            <a:endParaRPr lang="en-US" dirty="0"/>
          </a:p>
        </p:txBody>
      </p:sp>
      <p:sp>
        <p:nvSpPr>
          <p:cNvPr id="3" name="Rectangle 2"/>
          <p:cNvSpPr/>
          <p:nvPr/>
        </p:nvSpPr>
        <p:spPr>
          <a:xfrm>
            <a:off x="290223" y="1165529"/>
            <a:ext cx="7077228" cy="2616101"/>
          </a:xfrm>
          <a:prstGeom prst="rect">
            <a:avLst/>
          </a:prstGeom>
        </p:spPr>
        <p:txBody>
          <a:bodyPr wrap="square">
            <a:spAutoFit/>
          </a:bodyPr>
          <a:lstStyle/>
          <a:p>
            <a:pPr marL="228600" lvl="1" indent="-228600">
              <a:spcBef>
                <a:spcPts val="600"/>
              </a:spcBef>
              <a:buClr>
                <a:schemeClr val="accent2"/>
              </a:buClr>
              <a:buFont typeface="Arial" pitchFamily="34" charset="0"/>
              <a:buChar char="•"/>
            </a:pPr>
            <a:r>
              <a:rPr lang="ru-RU" sz="1600" dirty="0">
                <a:latin typeface="+mj-lt"/>
              </a:rPr>
              <a:t>Используйте </a:t>
            </a:r>
            <a:r>
              <a:rPr lang="ru-RU" sz="1600" dirty="0">
                <a:solidFill>
                  <a:srgbClr val="C00000"/>
                </a:solidFill>
                <a:latin typeface="+mj-lt"/>
              </a:rPr>
              <a:t>активный залог</a:t>
            </a:r>
            <a:r>
              <a:rPr lang="ru-RU" sz="1600" dirty="0">
                <a:latin typeface="+mj-lt"/>
              </a:rPr>
              <a:t>: </a:t>
            </a:r>
            <a:r>
              <a:rPr lang="en-US" sz="1600" dirty="0">
                <a:latin typeface="+mj-lt"/>
              </a:rPr>
              <a:t>(</a:t>
            </a:r>
            <a:r>
              <a:rPr lang="ru-RU" sz="1600" dirty="0">
                <a:latin typeface="+mj-lt"/>
              </a:rPr>
              <a:t>«</a:t>
            </a:r>
            <a:r>
              <a:rPr lang="en-US" sz="1600" dirty="0">
                <a:latin typeface="+mj-lt"/>
              </a:rPr>
              <a:t>open</a:t>
            </a:r>
            <a:r>
              <a:rPr lang="ru-RU" sz="1600" dirty="0">
                <a:latin typeface="+mj-lt"/>
              </a:rPr>
              <a:t>»</a:t>
            </a:r>
            <a:r>
              <a:rPr lang="en-US" sz="1600" dirty="0">
                <a:latin typeface="+mj-lt"/>
              </a:rPr>
              <a:t>, </a:t>
            </a:r>
            <a:r>
              <a:rPr lang="ru-RU" sz="1600" dirty="0">
                <a:latin typeface="+mj-lt"/>
              </a:rPr>
              <a:t>«</a:t>
            </a:r>
            <a:r>
              <a:rPr lang="en-US" sz="1600" dirty="0">
                <a:latin typeface="+mj-lt"/>
              </a:rPr>
              <a:t>paste</a:t>
            </a:r>
            <a:r>
              <a:rPr lang="ru-RU" sz="1600" dirty="0">
                <a:latin typeface="+mj-lt"/>
              </a:rPr>
              <a:t>»</a:t>
            </a:r>
            <a:r>
              <a:rPr lang="en-US" sz="1600" dirty="0">
                <a:latin typeface="+mj-lt"/>
              </a:rPr>
              <a:t>,</a:t>
            </a:r>
            <a:r>
              <a:rPr lang="ru-RU" sz="1600" dirty="0">
                <a:latin typeface="+mj-lt"/>
              </a:rPr>
              <a:t> «</a:t>
            </a:r>
            <a:r>
              <a:rPr lang="en-US" sz="1600" dirty="0">
                <a:latin typeface="+mj-lt"/>
              </a:rPr>
              <a:t>click</a:t>
            </a:r>
            <a:r>
              <a:rPr lang="ru-RU" sz="1600" dirty="0">
                <a:latin typeface="+mj-lt"/>
              </a:rPr>
              <a:t>»</a:t>
            </a:r>
            <a:r>
              <a:rPr lang="en-US" sz="1600" dirty="0">
                <a:latin typeface="+mj-lt"/>
              </a:rPr>
              <a:t>). </a:t>
            </a:r>
            <a:r>
              <a:rPr lang="ru-RU" sz="1600" dirty="0">
                <a:latin typeface="+mj-lt"/>
              </a:rPr>
              <a:t>В русском языке используйте </a:t>
            </a:r>
            <a:r>
              <a:rPr lang="ru-RU" sz="1600" dirty="0">
                <a:solidFill>
                  <a:srgbClr val="C00000"/>
                </a:solidFill>
                <a:latin typeface="+mj-lt"/>
              </a:rPr>
              <a:t>безличную форму</a:t>
            </a:r>
            <a:r>
              <a:rPr lang="ru-RU" sz="1600" dirty="0">
                <a:latin typeface="+mj-lt"/>
              </a:rPr>
              <a:t>: «открыть» (вместо «откройте»).</a:t>
            </a:r>
          </a:p>
          <a:p>
            <a:pPr marL="228600" lvl="1" indent="-228600">
              <a:spcBef>
                <a:spcPts val="600"/>
              </a:spcBef>
              <a:buClr>
                <a:schemeClr val="accent2"/>
              </a:buClr>
              <a:buFont typeface="Arial" pitchFamily="34" charset="0"/>
              <a:buChar char="•"/>
            </a:pPr>
            <a:r>
              <a:rPr lang="ru-RU" sz="1600" dirty="0">
                <a:latin typeface="+mj-lt"/>
              </a:rPr>
              <a:t>Описывайте </a:t>
            </a:r>
            <a:r>
              <a:rPr lang="ru-RU" sz="1600" dirty="0">
                <a:solidFill>
                  <a:srgbClr val="C00000"/>
                </a:solidFill>
                <a:latin typeface="+mj-lt"/>
              </a:rPr>
              <a:t>поведение системы</a:t>
            </a:r>
            <a:r>
              <a:rPr lang="ru-RU" sz="1600" dirty="0">
                <a:latin typeface="+mj-lt"/>
              </a:rPr>
              <a:t>: «появляется окно…», «приложение закрывается».</a:t>
            </a:r>
          </a:p>
          <a:p>
            <a:pPr marL="228600" lvl="1" indent="-228600">
              <a:spcBef>
                <a:spcPts val="600"/>
              </a:spcBef>
              <a:buClr>
                <a:schemeClr val="accent2"/>
              </a:buClr>
              <a:buFont typeface="Arial" pitchFamily="34" charset="0"/>
              <a:buChar char="•"/>
            </a:pPr>
            <a:r>
              <a:rPr lang="ru-RU" sz="1600" dirty="0">
                <a:latin typeface="+mj-lt"/>
              </a:rPr>
              <a:t>Используйте </a:t>
            </a:r>
            <a:r>
              <a:rPr lang="ru-RU" sz="1600" dirty="0">
                <a:solidFill>
                  <a:srgbClr val="C00000"/>
                </a:solidFill>
                <a:latin typeface="+mj-lt"/>
              </a:rPr>
              <a:t>простой технический стиль</a:t>
            </a:r>
            <a:r>
              <a:rPr lang="ru-RU" sz="1600" dirty="0">
                <a:latin typeface="+mj-lt"/>
              </a:rPr>
              <a:t>.</a:t>
            </a:r>
          </a:p>
          <a:p>
            <a:pPr marL="228600" lvl="1" indent="-228600">
              <a:spcBef>
                <a:spcPts val="600"/>
              </a:spcBef>
              <a:buClr>
                <a:schemeClr val="accent2"/>
              </a:buClr>
              <a:buFont typeface="Arial" pitchFamily="34" charset="0"/>
              <a:buChar char="•"/>
            </a:pPr>
            <a:r>
              <a:rPr lang="ru-RU" sz="1600" b="1" dirty="0">
                <a:latin typeface="+mj-lt"/>
              </a:rPr>
              <a:t>ОБЯЗАТЕЛЬНО</a:t>
            </a:r>
            <a:r>
              <a:rPr lang="ru-RU" sz="1600" dirty="0">
                <a:latin typeface="+mj-lt"/>
              </a:rPr>
              <a:t> указывайте </a:t>
            </a:r>
            <a:r>
              <a:rPr lang="ru-RU" sz="1600" dirty="0">
                <a:solidFill>
                  <a:srgbClr val="C00000"/>
                </a:solidFill>
                <a:latin typeface="+mj-lt"/>
              </a:rPr>
              <a:t>ТОЧНЫЕ названия </a:t>
            </a:r>
            <a:r>
              <a:rPr lang="ru-RU" sz="1600" dirty="0">
                <a:latin typeface="+mj-lt"/>
              </a:rPr>
              <a:t>всех элементов приложения.</a:t>
            </a:r>
          </a:p>
          <a:p>
            <a:pPr marL="228600" lvl="1" indent="-228600">
              <a:spcBef>
                <a:spcPts val="600"/>
              </a:spcBef>
              <a:buClr>
                <a:schemeClr val="accent2"/>
              </a:buClr>
              <a:buFont typeface="Arial" pitchFamily="34" charset="0"/>
              <a:buChar char="•"/>
            </a:pPr>
            <a:r>
              <a:rPr lang="ru-RU" sz="1600" dirty="0">
                <a:latin typeface="+mj-lt"/>
              </a:rPr>
              <a:t>Не объясняйте </a:t>
            </a:r>
            <a:r>
              <a:rPr lang="ru-RU" sz="1600" dirty="0">
                <a:solidFill>
                  <a:srgbClr val="C00000"/>
                </a:solidFill>
                <a:latin typeface="+mj-lt"/>
              </a:rPr>
              <a:t>базовые понятия </a:t>
            </a:r>
            <a:r>
              <a:rPr lang="ru-RU" sz="1600" dirty="0">
                <a:latin typeface="+mj-lt"/>
              </a:rPr>
              <a:t>работы с ОС.</a:t>
            </a:r>
          </a:p>
        </p:txBody>
      </p:sp>
    </p:spTree>
    <p:extLst>
      <p:ext uri="{BB962C8B-B14F-4D97-AF65-F5344CB8AC3E}">
        <p14:creationId xmlns:p14="http://schemas.microsoft.com/office/powerpoint/2010/main" val="1083758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4882427" cy="1231876"/>
          </a:xfrm>
        </p:spPr>
        <p:txBody>
          <a:bodyPr/>
          <a:lstStyle/>
          <a:p>
            <a:r>
              <a:rPr lang="ru-RU" dirty="0"/>
              <a:t>И еще пара слов о</a:t>
            </a:r>
            <a:br>
              <a:rPr lang="ru-RU" dirty="0"/>
            </a:br>
            <a:r>
              <a:rPr lang="ru-RU" dirty="0"/>
              <a:t>хороших тестах</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3671046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Каким должен быть хороший тест?</a:t>
            </a:r>
            <a:endParaRPr lang="en-US" dirty="0"/>
          </a:p>
        </p:txBody>
      </p:sp>
      <p:grpSp>
        <p:nvGrpSpPr>
          <p:cNvPr id="18" name="Group 17"/>
          <p:cNvGrpSpPr/>
          <p:nvPr/>
        </p:nvGrpSpPr>
        <p:grpSpPr>
          <a:xfrm>
            <a:off x="526436" y="934776"/>
            <a:ext cx="4862223" cy="584777"/>
            <a:chOff x="3102660" y="795129"/>
            <a:chExt cx="4862223" cy="584777"/>
          </a:xfrm>
        </p:grpSpPr>
        <p:sp>
          <p:nvSpPr>
            <p:cNvPr id="8" name="Rectangle 7"/>
            <p:cNvSpPr/>
            <p:nvPr/>
          </p:nvSpPr>
          <p:spPr>
            <a:xfrm>
              <a:off x="3102660" y="795129"/>
              <a:ext cx="4862223" cy="307777"/>
            </a:xfrm>
            <a:prstGeom prst="rect">
              <a:avLst/>
            </a:prstGeom>
          </p:spPr>
          <p:txBody>
            <a:bodyPr wrap="square">
              <a:spAutoFit/>
            </a:bodyPr>
            <a:lstStyle/>
            <a:p>
              <a:r>
                <a:rPr lang="ru-RU" dirty="0">
                  <a:latin typeface="+mj-lt"/>
                </a:rPr>
                <a:t>Обладает высокой вероятностью обнаружения ошибки.</a:t>
              </a:r>
            </a:p>
          </p:txBody>
        </p:sp>
        <p:grpSp>
          <p:nvGrpSpPr>
            <p:cNvPr id="9" name="Group 8"/>
            <p:cNvGrpSpPr/>
            <p:nvPr/>
          </p:nvGrpSpPr>
          <p:grpSpPr>
            <a:xfrm>
              <a:off x="4798612" y="1102906"/>
              <a:ext cx="2486769" cy="277000"/>
              <a:chOff x="4798612" y="1102906"/>
              <a:chExt cx="2486769" cy="277000"/>
            </a:xfrm>
          </p:grpSpPr>
          <p:sp>
            <p:nvSpPr>
              <p:cNvPr id="10" name="TextBox 9"/>
              <p:cNvSpPr txBox="1"/>
              <p:nvPr/>
            </p:nvSpPr>
            <p:spPr>
              <a:xfrm>
                <a:off x="4798612" y="1102907"/>
                <a:ext cx="807057"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200" dirty="0">
                    <a:latin typeface="+mj-lt"/>
                    <a:cs typeface="Arial" pitchFamily="34" charset="0"/>
                  </a:rPr>
                  <a:t>1/1 = 1</a:t>
                </a:r>
              </a:p>
            </p:txBody>
          </p:sp>
          <p:sp>
            <p:nvSpPr>
              <p:cNvPr id="11" name="TextBox 10"/>
              <p:cNvSpPr txBox="1"/>
              <p:nvPr/>
            </p:nvSpPr>
            <p:spPr>
              <a:xfrm>
                <a:off x="6311346" y="1102906"/>
                <a:ext cx="974035" cy="2769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200" dirty="0">
                    <a:latin typeface="+mj-lt"/>
                    <a:cs typeface="Arial" pitchFamily="34" charset="0"/>
                  </a:rPr>
                  <a:t>-5/0 = err!</a:t>
                </a:r>
              </a:p>
            </p:txBody>
          </p:sp>
        </p:grpSp>
      </p:grpSp>
      <p:grpSp>
        <p:nvGrpSpPr>
          <p:cNvPr id="19" name="Group 18"/>
          <p:cNvGrpSpPr/>
          <p:nvPr/>
        </p:nvGrpSpPr>
        <p:grpSpPr>
          <a:xfrm>
            <a:off x="3102659" y="1475519"/>
            <a:ext cx="5274701" cy="1326721"/>
            <a:chOff x="3102659" y="1475519"/>
            <a:chExt cx="5274701" cy="1326721"/>
          </a:xfrm>
        </p:grpSpPr>
        <p:sp>
          <p:nvSpPr>
            <p:cNvPr id="12" name="Rectangle 11"/>
            <p:cNvSpPr/>
            <p:nvPr/>
          </p:nvSpPr>
          <p:spPr>
            <a:xfrm>
              <a:off x="3102659" y="1475519"/>
              <a:ext cx="5063331" cy="523220"/>
            </a:xfrm>
            <a:prstGeom prst="rect">
              <a:avLst/>
            </a:prstGeom>
          </p:spPr>
          <p:txBody>
            <a:bodyPr wrap="square">
              <a:spAutoFit/>
            </a:bodyPr>
            <a:lstStyle/>
            <a:p>
              <a:r>
                <a:rPr lang="ru-RU" dirty="0">
                  <a:latin typeface="+mj-lt"/>
                </a:rPr>
                <a:t>Исследует соответствующую («ту, которую надо») область приложения.</a:t>
              </a:r>
            </a:p>
          </p:txBody>
        </p:sp>
        <p:sp>
          <p:nvSpPr>
            <p:cNvPr id="13" name="TextBox 12"/>
            <p:cNvSpPr txBox="1"/>
            <p:nvPr/>
          </p:nvSpPr>
          <p:spPr>
            <a:xfrm>
              <a:off x="3432975" y="2155909"/>
              <a:ext cx="2731273"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200" b="1" dirty="0">
                  <a:latin typeface="+mj-lt"/>
                  <a:cs typeface="Arial" pitchFamily="34" charset="0"/>
                </a:rPr>
                <a:t>C</a:t>
              </a:r>
              <a:r>
                <a:rPr lang="ru-RU" sz="1200" b="1" dirty="0">
                  <a:latin typeface="+mj-lt"/>
                  <a:cs typeface="Arial" pitchFamily="34" charset="0"/>
                </a:rPr>
                <a:t>охранение файла</a:t>
              </a:r>
            </a:p>
            <a:p>
              <a:pPr marL="514350" indent="-514350">
                <a:buAutoNum type="arabicPeriod"/>
              </a:pPr>
              <a:r>
                <a:rPr lang="ru-RU" sz="1200" dirty="0">
                  <a:latin typeface="+mj-lt"/>
                  <a:cs typeface="Arial" pitchFamily="34" charset="0"/>
                </a:rPr>
                <a:t>Открыть «Файл -</a:t>
              </a:r>
              <a:r>
                <a:rPr lang="en-US" sz="1200" dirty="0">
                  <a:latin typeface="+mj-lt"/>
                  <a:cs typeface="Arial" pitchFamily="34" charset="0"/>
                </a:rPr>
                <a:t>&gt; </a:t>
              </a:r>
              <a:r>
                <a:rPr lang="ru-RU" sz="1200" dirty="0">
                  <a:latin typeface="+mj-lt"/>
                  <a:cs typeface="Arial" pitchFamily="34" charset="0"/>
                </a:rPr>
                <a:t>Печать».</a:t>
              </a:r>
            </a:p>
            <a:p>
              <a:pPr marL="514350" indent="-514350">
                <a:buAutoNum type="arabicPeriod"/>
              </a:pPr>
              <a:r>
                <a:rPr lang="ru-RU" sz="1200" dirty="0">
                  <a:latin typeface="+mj-lt"/>
                  <a:cs typeface="Arial" pitchFamily="34" charset="0"/>
                </a:rPr>
                <a:t>…</a:t>
              </a:r>
              <a:endParaRPr lang="en-US" sz="1200" dirty="0">
                <a:latin typeface="+mj-lt"/>
                <a:cs typeface="Arial" pitchFamily="34" charset="0"/>
              </a:endParaRPr>
            </a:p>
          </p:txBody>
        </p:sp>
        <p:sp>
          <p:nvSpPr>
            <p:cNvPr id="14" name="Rounded Rectangular Callout 13"/>
            <p:cNvSpPr/>
            <p:nvPr/>
          </p:nvSpPr>
          <p:spPr>
            <a:xfrm>
              <a:off x="7285381" y="2166455"/>
              <a:ext cx="1091979" cy="312619"/>
            </a:xfrm>
            <a:prstGeom prst="wedgeRoundRectCallout">
              <a:avLst>
                <a:gd name="adj1" fmla="val -150909"/>
                <a:gd name="adj2" fmla="val 43609"/>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sz="1200" b="1" dirty="0">
                  <a:latin typeface="+mj-lt"/>
                  <a:cs typeface="Arial" pitchFamily="34" charset="0"/>
                </a:rPr>
                <a:t>ЗАЧЕМ?!</a:t>
              </a:r>
              <a:endParaRPr lang="en-US" sz="1200" b="1" dirty="0">
                <a:latin typeface="+mj-lt"/>
                <a:cs typeface="Arial" pitchFamily="34" charset="0"/>
              </a:endParaRPr>
            </a:p>
          </p:txBody>
        </p:sp>
      </p:grpSp>
      <p:grpSp>
        <p:nvGrpSpPr>
          <p:cNvPr id="20" name="Group 19"/>
          <p:cNvGrpSpPr/>
          <p:nvPr/>
        </p:nvGrpSpPr>
        <p:grpSpPr>
          <a:xfrm>
            <a:off x="526436" y="3134676"/>
            <a:ext cx="5701761" cy="1321129"/>
            <a:chOff x="3102659" y="2970958"/>
            <a:chExt cx="5701761" cy="1321129"/>
          </a:xfrm>
        </p:grpSpPr>
        <p:sp>
          <p:nvSpPr>
            <p:cNvPr id="15" name="Rectangle 14"/>
            <p:cNvSpPr/>
            <p:nvPr/>
          </p:nvSpPr>
          <p:spPr>
            <a:xfrm>
              <a:off x="3102659" y="2970958"/>
              <a:ext cx="4572000" cy="307777"/>
            </a:xfrm>
            <a:prstGeom prst="rect">
              <a:avLst/>
            </a:prstGeom>
          </p:spPr>
          <p:txBody>
            <a:bodyPr>
              <a:spAutoFit/>
            </a:bodyPr>
            <a:lstStyle/>
            <a:p>
              <a:r>
                <a:rPr lang="ru-RU" dirty="0">
                  <a:latin typeface="+mj-lt"/>
                </a:rPr>
                <a:t>Выполняет какие-то интересные действия.</a:t>
              </a:r>
            </a:p>
          </p:txBody>
        </p:sp>
        <p:sp>
          <p:nvSpPr>
            <p:cNvPr id="16" name="TextBox 15"/>
            <p:cNvSpPr txBox="1"/>
            <p:nvPr/>
          </p:nvSpPr>
          <p:spPr>
            <a:xfrm>
              <a:off x="3507518" y="3461090"/>
              <a:ext cx="3020502" cy="83099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a:t>
              </a:r>
            </a:p>
            <a:p>
              <a:r>
                <a:rPr lang="ru-RU" sz="1200" dirty="0">
                  <a:latin typeface="+mj-lt"/>
                  <a:cs typeface="Arial" pitchFamily="34" charset="0"/>
                </a:rPr>
                <a:t>3. Файл с именем «</a:t>
              </a:r>
              <a:r>
                <a:rPr lang="en-US" sz="1200" dirty="0">
                  <a:latin typeface="+mj-lt"/>
                  <a:cs typeface="Arial" pitchFamily="34" charset="0"/>
                </a:rPr>
                <a:t>%^##76 / // \ ^^ [</a:t>
              </a:r>
              <a:r>
                <a:rPr lang="ru-RU" sz="1200" dirty="0">
                  <a:latin typeface="+mj-lt"/>
                  <a:cs typeface="Arial" pitchFamily="34" charset="0"/>
                </a:rPr>
                <a:t> </a:t>
              </a:r>
              <a:r>
                <a:rPr lang="en-US" sz="1200" dirty="0">
                  <a:latin typeface="+mj-lt"/>
                  <a:cs typeface="Arial" pitchFamily="34" charset="0"/>
                </a:rPr>
                <a:t>] : .jpg</a:t>
              </a:r>
              <a:r>
                <a:rPr lang="ru-RU" sz="1200" dirty="0">
                  <a:latin typeface="+mj-lt"/>
                  <a:cs typeface="Arial" pitchFamily="34" charset="0"/>
                </a:rPr>
                <a:t>»</a:t>
              </a:r>
              <a:r>
                <a:rPr lang="en-US" sz="1200" dirty="0">
                  <a:latin typeface="+mj-lt"/>
                  <a:cs typeface="Arial" pitchFamily="34" charset="0"/>
                </a:rPr>
                <a:t> </a:t>
              </a:r>
              <a:r>
                <a:rPr lang="ru-RU" sz="1200" dirty="0">
                  <a:latin typeface="+mj-lt"/>
                  <a:cs typeface="Arial" pitchFamily="34" charset="0"/>
                </a:rPr>
                <a:t>загрузить в качестве </a:t>
              </a:r>
              <a:r>
                <a:rPr lang="ru-RU" sz="1200" dirty="0" err="1">
                  <a:latin typeface="+mj-lt"/>
                  <a:cs typeface="Arial" pitchFamily="34" charset="0"/>
                </a:rPr>
                <a:t>аватарки</a:t>
              </a:r>
              <a:r>
                <a:rPr lang="ru-RU" sz="1200" dirty="0">
                  <a:latin typeface="+mj-lt"/>
                  <a:cs typeface="Arial" pitchFamily="34" charset="0"/>
                </a:rPr>
                <a:t>.</a:t>
              </a:r>
            </a:p>
            <a:p>
              <a:r>
                <a:rPr lang="ru-RU" sz="1200" dirty="0">
                  <a:latin typeface="+mj-lt"/>
                  <a:cs typeface="Arial" pitchFamily="34" charset="0"/>
                </a:rPr>
                <a:t>…</a:t>
              </a:r>
              <a:endParaRPr lang="en-US" sz="1200" dirty="0">
                <a:latin typeface="+mj-lt"/>
                <a:cs typeface="Arial" pitchFamily="34" charset="0"/>
              </a:endParaRPr>
            </a:p>
          </p:txBody>
        </p:sp>
        <p:sp>
          <p:nvSpPr>
            <p:cNvPr id="17" name="Rounded Rectangular Callout 16"/>
            <p:cNvSpPr/>
            <p:nvPr/>
          </p:nvSpPr>
          <p:spPr>
            <a:xfrm>
              <a:off x="7125345" y="3377242"/>
              <a:ext cx="1679075" cy="568771"/>
            </a:xfrm>
            <a:prstGeom prst="wedgeRoundRectCallout">
              <a:avLst>
                <a:gd name="adj1" fmla="val -110642"/>
                <a:gd name="adj2" fmla="val -196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sz="1200" dirty="0">
                  <a:latin typeface="+mj-lt"/>
                  <a:cs typeface="Arial" pitchFamily="34" charset="0"/>
                </a:rPr>
                <a:t>Как это можно сделать?</a:t>
              </a:r>
              <a:endParaRPr lang="en-US" sz="1200" dirty="0">
                <a:latin typeface="+mj-lt"/>
                <a:cs typeface="Arial" pitchFamily="34" charset="0"/>
              </a:endParaRPr>
            </a:p>
          </p:txBody>
        </p:sp>
      </p:grpSp>
    </p:spTree>
    <p:extLst>
      <p:ext uri="{BB962C8B-B14F-4D97-AF65-F5344CB8AC3E}">
        <p14:creationId xmlns:p14="http://schemas.microsoft.com/office/powerpoint/2010/main" val="204905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Каким должен быть хороший тест?</a:t>
            </a:r>
            <a:endParaRPr lang="en-US" dirty="0"/>
          </a:p>
        </p:txBody>
      </p:sp>
      <p:grpSp>
        <p:nvGrpSpPr>
          <p:cNvPr id="2" name="Group 1"/>
          <p:cNvGrpSpPr/>
          <p:nvPr/>
        </p:nvGrpSpPr>
        <p:grpSpPr>
          <a:xfrm>
            <a:off x="217835" y="780551"/>
            <a:ext cx="5532121" cy="1049721"/>
            <a:chOff x="2983896" y="795129"/>
            <a:chExt cx="5532121" cy="1049721"/>
          </a:xfrm>
        </p:grpSpPr>
        <p:sp>
          <p:nvSpPr>
            <p:cNvPr id="18" name="Rectangle 17"/>
            <p:cNvSpPr/>
            <p:nvPr/>
          </p:nvSpPr>
          <p:spPr>
            <a:xfrm>
              <a:off x="2983896" y="795129"/>
              <a:ext cx="4572000" cy="307777"/>
            </a:xfrm>
            <a:prstGeom prst="rect">
              <a:avLst/>
            </a:prstGeom>
          </p:spPr>
          <p:txBody>
            <a:bodyPr>
              <a:spAutoFit/>
            </a:bodyPr>
            <a:lstStyle/>
            <a:p>
              <a:r>
                <a:rPr lang="ru-RU" dirty="0">
                  <a:latin typeface="+mj-lt"/>
                </a:rPr>
                <a:t>Не выполняет ненужных действий.</a:t>
              </a:r>
            </a:p>
          </p:txBody>
        </p:sp>
        <p:sp>
          <p:nvSpPr>
            <p:cNvPr id="19" name="TextBox 18"/>
            <p:cNvSpPr txBox="1"/>
            <p:nvPr/>
          </p:nvSpPr>
          <p:spPr>
            <a:xfrm>
              <a:off x="3375329" y="1198519"/>
              <a:ext cx="2977764"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a:t>
              </a:r>
            </a:p>
            <a:p>
              <a:r>
                <a:rPr lang="ru-RU" sz="1200" dirty="0">
                  <a:latin typeface="+mj-lt"/>
                  <a:cs typeface="Arial" pitchFamily="34" charset="0"/>
                </a:rPr>
                <a:t>4. Поводить мышью над кнопкой «</a:t>
              </a:r>
              <a:r>
                <a:rPr lang="en-US" sz="1200" dirty="0">
                  <a:latin typeface="+mj-lt"/>
                  <a:cs typeface="Arial" pitchFamily="34" charset="0"/>
                </a:rPr>
                <a:t>OK</a:t>
              </a:r>
              <a:r>
                <a:rPr lang="ru-RU" sz="1200" dirty="0">
                  <a:latin typeface="+mj-lt"/>
                  <a:cs typeface="Arial" pitchFamily="34" charset="0"/>
                </a:rPr>
                <a:t>»</a:t>
              </a:r>
              <a:r>
                <a:rPr lang="en-US" sz="1200" dirty="0">
                  <a:latin typeface="+mj-lt"/>
                  <a:cs typeface="Arial" pitchFamily="34" charset="0"/>
                </a:rPr>
                <a:t>.</a:t>
              </a:r>
              <a:endParaRPr lang="ru-RU" sz="1200" dirty="0">
                <a:latin typeface="+mj-lt"/>
                <a:cs typeface="Arial" pitchFamily="34" charset="0"/>
              </a:endParaRPr>
            </a:p>
            <a:p>
              <a:r>
                <a:rPr lang="ru-RU" sz="1200" dirty="0">
                  <a:latin typeface="+mj-lt"/>
                  <a:cs typeface="Arial" pitchFamily="34" charset="0"/>
                </a:rPr>
                <a:t>…</a:t>
              </a:r>
              <a:endParaRPr lang="en-US" sz="1200" dirty="0">
                <a:latin typeface="+mj-lt"/>
                <a:cs typeface="Arial" pitchFamily="34" charset="0"/>
              </a:endParaRPr>
            </a:p>
          </p:txBody>
        </p:sp>
        <p:sp>
          <p:nvSpPr>
            <p:cNvPr id="20" name="Rounded Rectangular Callout 19"/>
            <p:cNvSpPr/>
            <p:nvPr/>
          </p:nvSpPr>
          <p:spPr>
            <a:xfrm>
              <a:off x="7555896" y="1303053"/>
              <a:ext cx="960121" cy="437261"/>
            </a:xfrm>
            <a:prstGeom prst="wedgeRoundRectCallout">
              <a:avLst>
                <a:gd name="adj1" fmla="val -168787"/>
                <a:gd name="adj2" fmla="val 68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sz="1200" b="1" dirty="0">
                  <a:latin typeface="+mj-lt"/>
                  <a:cs typeface="Arial" pitchFamily="34" charset="0"/>
                </a:rPr>
                <a:t>ЗАЧЕМ?!</a:t>
              </a:r>
              <a:endParaRPr lang="en-US" sz="1200" b="1" dirty="0">
                <a:latin typeface="+mj-lt"/>
                <a:cs typeface="Arial" pitchFamily="34" charset="0"/>
              </a:endParaRPr>
            </a:p>
          </p:txBody>
        </p:sp>
      </p:grpSp>
      <p:grpSp>
        <p:nvGrpSpPr>
          <p:cNvPr id="3" name="Group 2"/>
          <p:cNvGrpSpPr/>
          <p:nvPr/>
        </p:nvGrpSpPr>
        <p:grpSpPr>
          <a:xfrm>
            <a:off x="2983895" y="1940461"/>
            <a:ext cx="6160105" cy="2490810"/>
            <a:chOff x="2983895" y="1940461"/>
            <a:chExt cx="6160105" cy="2490810"/>
          </a:xfrm>
        </p:grpSpPr>
        <p:sp>
          <p:nvSpPr>
            <p:cNvPr id="21" name="Rectangle 20"/>
            <p:cNvSpPr/>
            <p:nvPr/>
          </p:nvSpPr>
          <p:spPr>
            <a:xfrm>
              <a:off x="2983895" y="1940461"/>
              <a:ext cx="5532122" cy="307777"/>
            </a:xfrm>
            <a:prstGeom prst="rect">
              <a:avLst/>
            </a:prstGeom>
          </p:spPr>
          <p:txBody>
            <a:bodyPr wrap="square">
              <a:spAutoFit/>
            </a:bodyPr>
            <a:lstStyle/>
            <a:p>
              <a:r>
                <a:rPr lang="ru-RU" dirty="0">
                  <a:latin typeface="+mj-lt"/>
                </a:rPr>
                <a:t>Является не слишком простым, но и не слишком сложным.</a:t>
              </a:r>
            </a:p>
          </p:txBody>
        </p:sp>
        <p:sp>
          <p:nvSpPr>
            <p:cNvPr id="22" name="TextBox 21"/>
            <p:cNvSpPr txBox="1"/>
            <p:nvPr/>
          </p:nvSpPr>
          <p:spPr>
            <a:xfrm>
              <a:off x="3174396" y="2309885"/>
              <a:ext cx="4191000"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514350" indent="-514350">
                <a:buFont typeface="+mj-lt"/>
                <a:buAutoNum type="arabicPeriod"/>
              </a:pPr>
              <a:r>
                <a:rPr lang="ru-RU" sz="1200" dirty="0">
                  <a:latin typeface="+mj-lt"/>
                  <a:cs typeface="Arial" pitchFamily="34" charset="0"/>
                </a:rPr>
                <a:t>Ввести целое число в поле «количество».</a:t>
              </a:r>
              <a:endParaRPr lang="en-US" sz="1200" dirty="0">
                <a:latin typeface="+mj-lt"/>
                <a:cs typeface="Arial" pitchFamily="34" charset="0"/>
              </a:endParaRPr>
            </a:p>
          </p:txBody>
        </p:sp>
        <p:sp>
          <p:nvSpPr>
            <p:cNvPr id="23" name="TextBox 22"/>
            <p:cNvSpPr txBox="1"/>
            <p:nvPr/>
          </p:nvSpPr>
          <p:spPr>
            <a:xfrm>
              <a:off x="3174396" y="2953943"/>
              <a:ext cx="4191000" cy="14773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514350" indent="-514350">
                <a:buFont typeface="+mj-lt"/>
                <a:buAutoNum type="arabicPeriod"/>
              </a:pPr>
              <a:r>
                <a:rPr lang="ru-RU" sz="600" dirty="0" err="1">
                  <a:latin typeface="Arial" pitchFamily="34" charset="0"/>
                  <a:cs typeface="Arial" pitchFamily="34" charset="0"/>
                </a:rPr>
                <a:t>Афыацу</a:t>
              </a:r>
              <a:r>
                <a:rPr lang="ru-RU" sz="600" dirty="0">
                  <a:latin typeface="Arial" pitchFamily="34" charset="0"/>
                  <a:cs typeface="Arial" pitchFamily="34" charset="0"/>
                </a:rPr>
                <a:t> </a:t>
              </a:r>
              <a:r>
                <a:rPr lang="ru-RU" sz="600" dirty="0" err="1">
                  <a:latin typeface="Arial" pitchFamily="34" charset="0"/>
                  <a:cs typeface="Arial" pitchFamily="34" charset="0"/>
                </a:rPr>
                <a:t>йцкк</a:t>
              </a:r>
              <a:r>
                <a:rPr lang="ru-RU" sz="600" dirty="0">
                  <a:latin typeface="Arial" pitchFamily="34" charset="0"/>
                  <a:cs typeface="Arial" pitchFamily="34" charset="0"/>
                </a:rPr>
                <a:t> </a:t>
              </a:r>
              <a:r>
                <a:rPr lang="ru-RU" sz="600" dirty="0" err="1">
                  <a:latin typeface="Arial" pitchFamily="34" charset="0"/>
                  <a:cs typeface="Arial" pitchFamily="34" charset="0"/>
                </a:rPr>
                <a:t>йу</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Йцукйцйцуйуйц</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Укекуеуеуеуцецуеуецуе</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Цуеуеуеуецуецуе</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Цукеуцеуецуецуе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Цуецуеуеуецуе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Уецуецеецуе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Цуецуецуецуе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Цуецуецуецуе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Цуецуецуеуецуеукеецуеецуе</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Цуецуеуеуецуецуецуецуецукецуе</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Цуецуеуцкецуецуецуецуецуеуецуе</a:t>
              </a:r>
              <a:endParaRPr lang="ru-RU" sz="600" dirty="0">
                <a:latin typeface="Arial" pitchFamily="34" charset="0"/>
                <a:cs typeface="Arial" pitchFamily="34" charset="0"/>
              </a:endParaRPr>
            </a:p>
            <a:p>
              <a:pPr marL="514350" indent="-514350">
                <a:buFont typeface="+mj-lt"/>
                <a:buAutoNum type="arabicPeriod"/>
              </a:pPr>
              <a:r>
                <a:rPr lang="ru-RU" sz="600" dirty="0" err="1">
                  <a:latin typeface="Arial" pitchFamily="34" charset="0"/>
                  <a:cs typeface="Arial" pitchFamily="34" charset="0"/>
                </a:rPr>
                <a:t>Цукцукйцкйцкйцукй.йцкйцкцк</a:t>
              </a:r>
              <a:r>
                <a:rPr lang="ru-RU" sz="600" dirty="0">
                  <a:latin typeface="Arial" pitchFamily="34" charset="0"/>
                  <a:cs typeface="Arial" pitchFamily="34" charset="0"/>
                </a:rPr>
                <a:t> </a:t>
              </a:r>
              <a:r>
                <a:rPr lang="ru-RU" sz="600" dirty="0" err="1">
                  <a:latin typeface="Arial" pitchFamily="34" charset="0"/>
                  <a:cs typeface="Arial" pitchFamily="34" charset="0"/>
                </a:rPr>
                <a:t>йцукйцкйцк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йцкйцкцк</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Йцукйцкйцкй</a:t>
              </a:r>
              <a:r>
                <a:rPr lang="ru-RU" sz="600" dirty="0">
                  <a:latin typeface="Arial" pitchFamily="34" charset="0"/>
                  <a:cs typeface="Arial" pitchFamily="34" charset="0"/>
                </a:rPr>
                <a:t> </a:t>
              </a:r>
              <a:r>
                <a:rPr lang="ru-RU" sz="600" dirty="0" err="1">
                  <a:latin typeface="Arial" pitchFamily="34" charset="0"/>
                  <a:cs typeface="Arial" pitchFamily="34" charset="0"/>
                </a:rPr>
                <a:t>йцукйцкцкйцк</a:t>
              </a:r>
              <a:r>
                <a:rPr lang="ru-RU" sz="600" dirty="0">
                  <a:latin typeface="Arial" pitchFamily="34" charset="0"/>
                  <a:cs typeface="Arial" pitchFamily="34" charset="0"/>
                </a:rPr>
                <a:t> </a:t>
              </a:r>
              <a:r>
                <a:rPr lang="ru-RU" sz="600" dirty="0" err="1">
                  <a:latin typeface="Arial" pitchFamily="34" charset="0"/>
                  <a:cs typeface="Arial" pitchFamily="34" charset="0"/>
                </a:rPr>
                <a:t>йцкцкцкйцкй</a:t>
              </a:r>
              <a:r>
                <a:rPr lang="ru-RU" sz="600" dirty="0">
                  <a:latin typeface="Arial" pitchFamily="34" charset="0"/>
                  <a:cs typeface="Arial" pitchFamily="34" charset="0"/>
                </a:rPr>
                <a:t> </a:t>
              </a:r>
              <a:r>
                <a:rPr lang="ru-RU" sz="600" dirty="0" err="1">
                  <a:latin typeface="Arial" pitchFamily="34" charset="0"/>
                  <a:cs typeface="Arial" pitchFamily="34" charset="0"/>
                </a:rPr>
                <a:t>йкйцкйцкйцк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йкцйкцкйцкйцк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йцкйцкйцк</a:t>
              </a:r>
              <a:r>
                <a:rPr lang="ru-RU" sz="600" dirty="0">
                  <a:latin typeface="Arial" pitchFamily="34" charset="0"/>
                  <a:cs typeface="Arial" pitchFamily="34" charset="0"/>
                </a:rPr>
                <a:t>.</a:t>
              </a:r>
            </a:p>
            <a:p>
              <a:pPr marL="514350" indent="-514350">
                <a:buFont typeface="+mj-lt"/>
                <a:buAutoNum type="arabicPeriod"/>
              </a:pPr>
              <a:r>
                <a:rPr lang="ru-RU" sz="600" dirty="0" err="1">
                  <a:latin typeface="Arial" pitchFamily="34" charset="0"/>
                  <a:cs typeface="Arial" pitchFamily="34" charset="0"/>
                </a:rPr>
                <a:t>Йцкйцкйцкйцк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йцкйцккйцк</a:t>
              </a:r>
              <a:r>
                <a:rPr lang="ru-RU" sz="600" dirty="0">
                  <a:latin typeface="Arial" pitchFamily="34" charset="0"/>
                  <a:cs typeface="Arial" pitchFamily="34" charset="0"/>
                </a:rPr>
                <a:t> </a:t>
              </a:r>
              <a:r>
                <a:rPr lang="ru-RU" sz="600" dirty="0" err="1">
                  <a:latin typeface="Arial" pitchFamily="34" charset="0"/>
                  <a:cs typeface="Arial" pitchFamily="34" charset="0"/>
                </a:rPr>
                <a:t>цйкцкйцкйцк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йцкцйкйцкйцк</a:t>
              </a:r>
              <a:r>
                <a:rPr lang="ru-RU" sz="600" dirty="0">
                  <a:latin typeface="Arial" pitchFamily="34" charset="0"/>
                  <a:cs typeface="Arial" pitchFamily="34" charset="0"/>
                </a:rPr>
                <a:t> </a:t>
              </a:r>
              <a:r>
                <a:rPr lang="ru-RU" sz="600" dirty="0" err="1">
                  <a:latin typeface="Arial" pitchFamily="34" charset="0"/>
                  <a:cs typeface="Arial" pitchFamily="34" charset="0"/>
                </a:rPr>
                <a:t>йцкцйкйцк</a:t>
              </a:r>
              <a:r>
                <a:rPr lang="ru-RU" sz="600" dirty="0">
                  <a:latin typeface="Arial" pitchFamily="34" charset="0"/>
                  <a:cs typeface="Arial" pitchFamily="34" charset="0"/>
                </a:rPr>
                <a:t> </a:t>
              </a:r>
              <a:r>
                <a:rPr lang="ru-RU" sz="600" dirty="0" err="1">
                  <a:latin typeface="Arial" pitchFamily="34" charset="0"/>
                  <a:cs typeface="Arial" pitchFamily="34" charset="0"/>
                </a:rPr>
                <a:t>йцкйцкйцк</a:t>
              </a:r>
              <a:r>
                <a:rPr lang="ru-RU" sz="600" dirty="0">
                  <a:latin typeface="Arial" pitchFamily="34" charset="0"/>
                  <a:cs typeface="Arial" pitchFamily="34" charset="0"/>
                </a:rPr>
                <a:t>.</a:t>
              </a:r>
              <a:endParaRPr lang="en-US" sz="600" dirty="0">
                <a:latin typeface="Arial" pitchFamily="34" charset="0"/>
                <a:cs typeface="Arial" pitchFamily="34" charset="0"/>
              </a:endParaRPr>
            </a:p>
          </p:txBody>
        </p:sp>
        <p:sp>
          <p:nvSpPr>
            <p:cNvPr id="24" name="TextBox 23"/>
            <p:cNvSpPr txBox="1"/>
            <p:nvPr/>
          </p:nvSpPr>
          <p:spPr>
            <a:xfrm>
              <a:off x="6616810" y="2670294"/>
              <a:ext cx="2527190" cy="83099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marL="514350" indent="-514350">
                <a:buAutoNum type="arabicPeriod"/>
              </a:pPr>
              <a:r>
                <a:rPr lang="ru-RU" sz="1200" dirty="0">
                  <a:latin typeface="+mj-lt"/>
                  <a:cs typeface="Arial" pitchFamily="34" charset="0"/>
                </a:rPr>
                <a:t>Изменить текст в файле.</a:t>
              </a:r>
            </a:p>
            <a:p>
              <a:pPr marL="514350" indent="-514350">
                <a:buAutoNum type="arabicPeriod"/>
              </a:pPr>
              <a:r>
                <a:rPr lang="ru-RU" sz="1200" dirty="0">
                  <a:latin typeface="+mj-lt"/>
                  <a:cs typeface="Arial" pitchFamily="34" charset="0"/>
                </a:rPr>
                <a:t>Сохранить файл.</a:t>
              </a:r>
            </a:p>
            <a:p>
              <a:pPr marL="514350" indent="-514350">
                <a:buAutoNum type="arabicPeriod"/>
              </a:pPr>
              <a:r>
                <a:rPr lang="ru-RU" sz="1200" dirty="0">
                  <a:latin typeface="+mj-lt"/>
                  <a:cs typeface="Arial" pitchFamily="34" charset="0"/>
                </a:rPr>
                <a:t>Закрыть файл.</a:t>
              </a:r>
            </a:p>
            <a:p>
              <a:pPr marL="514350" indent="-514350">
                <a:buAutoNum type="arabicPeriod"/>
              </a:pPr>
              <a:r>
                <a:rPr lang="ru-RU" sz="1200" dirty="0">
                  <a:latin typeface="+mj-lt"/>
                  <a:cs typeface="Arial" pitchFamily="34" charset="0"/>
                </a:rPr>
                <a:t>Открыть файл.</a:t>
              </a:r>
              <a:endParaRPr lang="en-US" sz="1200" dirty="0">
                <a:latin typeface="+mj-lt"/>
                <a:cs typeface="Arial" pitchFamily="34" charset="0"/>
              </a:endParaRPr>
            </a:p>
          </p:txBody>
        </p:sp>
      </p:grpSp>
    </p:spTree>
    <p:extLst>
      <p:ext uri="{BB962C8B-B14F-4D97-AF65-F5344CB8AC3E}">
        <p14:creationId xmlns:p14="http://schemas.microsoft.com/office/powerpoint/2010/main" val="285962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Каким должен быть хороший тест?</a:t>
            </a:r>
            <a:endParaRPr lang="en-US" dirty="0"/>
          </a:p>
        </p:txBody>
      </p:sp>
      <p:grpSp>
        <p:nvGrpSpPr>
          <p:cNvPr id="2" name="Group 1"/>
          <p:cNvGrpSpPr/>
          <p:nvPr/>
        </p:nvGrpSpPr>
        <p:grpSpPr>
          <a:xfrm>
            <a:off x="273578" y="697364"/>
            <a:ext cx="5420633" cy="1713794"/>
            <a:chOff x="2983895" y="795129"/>
            <a:chExt cx="5420633" cy="1713794"/>
          </a:xfrm>
        </p:grpSpPr>
        <p:sp>
          <p:nvSpPr>
            <p:cNvPr id="11" name="Rectangle 10"/>
            <p:cNvSpPr/>
            <p:nvPr/>
          </p:nvSpPr>
          <p:spPr>
            <a:xfrm>
              <a:off x="2983895" y="795129"/>
              <a:ext cx="5420633" cy="307777"/>
            </a:xfrm>
            <a:prstGeom prst="rect">
              <a:avLst/>
            </a:prstGeom>
          </p:spPr>
          <p:txBody>
            <a:bodyPr wrap="square">
              <a:spAutoFit/>
            </a:bodyPr>
            <a:lstStyle/>
            <a:p>
              <a:r>
                <a:rPr lang="ru-RU" dirty="0">
                  <a:latin typeface="+mj-lt"/>
                </a:rPr>
                <a:t>Не является избыточным по отношению к другим тестам.</a:t>
              </a:r>
            </a:p>
          </p:txBody>
        </p:sp>
        <p:sp>
          <p:nvSpPr>
            <p:cNvPr id="12" name="TextBox 11"/>
            <p:cNvSpPr txBox="1"/>
            <p:nvPr/>
          </p:nvSpPr>
          <p:spPr>
            <a:xfrm>
              <a:off x="3834196" y="1523264"/>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1+1</a:t>
              </a:r>
              <a:endParaRPr lang="en-US" sz="1200" dirty="0">
                <a:latin typeface="+mj-lt"/>
                <a:cs typeface="Arial" pitchFamily="34" charset="0"/>
              </a:endParaRPr>
            </a:p>
          </p:txBody>
        </p:sp>
        <p:sp>
          <p:nvSpPr>
            <p:cNvPr id="13" name="TextBox 12"/>
            <p:cNvSpPr txBox="1"/>
            <p:nvPr/>
          </p:nvSpPr>
          <p:spPr>
            <a:xfrm>
              <a:off x="3834196" y="1866164"/>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1+2</a:t>
              </a:r>
              <a:endParaRPr lang="en-US" sz="1200" dirty="0">
                <a:latin typeface="+mj-lt"/>
                <a:cs typeface="Arial" pitchFamily="34" charset="0"/>
              </a:endParaRPr>
            </a:p>
          </p:txBody>
        </p:sp>
        <p:sp>
          <p:nvSpPr>
            <p:cNvPr id="14" name="TextBox 13"/>
            <p:cNvSpPr txBox="1"/>
            <p:nvPr/>
          </p:nvSpPr>
          <p:spPr>
            <a:xfrm>
              <a:off x="3834196" y="2231924"/>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2+1</a:t>
              </a:r>
              <a:endParaRPr lang="en-US" sz="1200" dirty="0">
                <a:latin typeface="+mj-lt"/>
                <a:cs typeface="Arial" pitchFamily="34" charset="0"/>
              </a:endParaRPr>
            </a:p>
          </p:txBody>
        </p:sp>
        <p:sp>
          <p:nvSpPr>
            <p:cNvPr id="15" name="TextBox 14"/>
            <p:cNvSpPr txBox="1"/>
            <p:nvPr/>
          </p:nvSpPr>
          <p:spPr>
            <a:xfrm>
              <a:off x="4812206" y="1523264"/>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3+4</a:t>
              </a:r>
              <a:endParaRPr lang="en-US" sz="1200" dirty="0">
                <a:latin typeface="+mj-lt"/>
                <a:cs typeface="Arial" pitchFamily="34" charset="0"/>
              </a:endParaRPr>
            </a:p>
          </p:txBody>
        </p:sp>
        <p:sp>
          <p:nvSpPr>
            <p:cNvPr id="16" name="TextBox 15"/>
            <p:cNvSpPr txBox="1"/>
            <p:nvPr/>
          </p:nvSpPr>
          <p:spPr>
            <a:xfrm>
              <a:off x="5790216" y="1523264"/>
              <a:ext cx="610584"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1+98</a:t>
              </a:r>
              <a:endParaRPr lang="en-US" sz="1200" dirty="0">
                <a:latin typeface="+mj-lt"/>
                <a:cs typeface="Arial" pitchFamily="34" charset="0"/>
              </a:endParaRPr>
            </a:p>
          </p:txBody>
        </p:sp>
        <p:sp>
          <p:nvSpPr>
            <p:cNvPr id="17" name="TextBox 16"/>
            <p:cNvSpPr txBox="1"/>
            <p:nvPr/>
          </p:nvSpPr>
          <p:spPr>
            <a:xfrm>
              <a:off x="4812206" y="1866163"/>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7+5</a:t>
              </a:r>
              <a:endParaRPr lang="en-US" sz="1200" dirty="0">
                <a:latin typeface="+mj-lt"/>
                <a:cs typeface="Arial" pitchFamily="34" charset="0"/>
              </a:endParaRPr>
            </a:p>
          </p:txBody>
        </p:sp>
        <p:sp>
          <p:nvSpPr>
            <p:cNvPr id="25" name="TextBox 24"/>
            <p:cNvSpPr txBox="1"/>
            <p:nvPr/>
          </p:nvSpPr>
          <p:spPr>
            <a:xfrm>
              <a:off x="4812206" y="2231924"/>
              <a:ext cx="523119"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8+1</a:t>
              </a:r>
              <a:endParaRPr lang="en-US" sz="1200" dirty="0">
                <a:latin typeface="+mj-lt"/>
                <a:cs typeface="Arial" pitchFamily="34" charset="0"/>
              </a:endParaRPr>
            </a:p>
          </p:txBody>
        </p:sp>
        <p:sp>
          <p:nvSpPr>
            <p:cNvPr id="26" name="TextBox 25"/>
            <p:cNvSpPr txBox="1"/>
            <p:nvPr/>
          </p:nvSpPr>
          <p:spPr>
            <a:xfrm>
              <a:off x="5790216" y="1866162"/>
              <a:ext cx="610584"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20+21</a:t>
              </a:r>
              <a:endParaRPr lang="en-US" sz="1200" dirty="0">
                <a:latin typeface="+mj-lt"/>
                <a:cs typeface="Arial" pitchFamily="34" charset="0"/>
              </a:endParaRPr>
            </a:p>
          </p:txBody>
        </p:sp>
        <p:sp>
          <p:nvSpPr>
            <p:cNvPr id="27" name="TextBox 26"/>
            <p:cNvSpPr txBox="1"/>
            <p:nvPr/>
          </p:nvSpPr>
          <p:spPr>
            <a:xfrm>
              <a:off x="5790216" y="2231924"/>
              <a:ext cx="610584" cy="27699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mj-lt"/>
                  <a:cs typeface="Arial" pitchFamily="34" charset="0"/>
                </a:rPr>
                <a:t>30+12</a:t>
              </a:r>
              <a:endParaRPr lang="en-US" sz="1200" dirty="0">
                <a:latin typeface="+mj-lt"/>
                <a:cs typeface="Arial" pitchFamily="34" charset="0"/>
              </a:endParaRPr>
            </a:p>
          </p:txBody>
        </p:sp>
        <p:sp>
          <p:nvSpPr>
            <p:cNvPr id="28" name="TextBox 27"/>
            <p:cNvSpPr txBox="1"/>
            <p:nvPr/>
          </p:nvSpPr>
          <p:spPr>
            <a:xfrm>
              <a:off x="7539015" y="1168807"/>
              <a:ext cx="658780" cy="2769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ru-RU" sz="1200" dirty="0">
                  <a:latin typeface="+mj-lt"/>
                  <a:cs typeface="Arial" pitchFamily="34" charset="0"/>
                </a:rPr>
                <a:t>17+98</a:t>
              </a:r>
              <a:endParaRPr lang="en-US" sz="1200" dirty="0">
                <a:latin typeface="+mj-lt"/>
                <a:cs typeface="Arial" pitchFamily="34" charset="0"/>
              </a:endParaRPr>
            </a:p>
          </p:txBody>
        </p:sp>
      </p:grpSp>
      <p:grpSp>
        <p:nvGrpSpPr>
          <p:cNvPr id="3" name="Group 2"/>
          <p:cNvGrpSpPr/>
          <p:nvPr/>
        </p:nvGrpSpPr>
        <p:grpSpPr>
          <a:xfrm>
            <a:off x="2983895" y="2604536"/>
            <a:ext cx="4884510" cy="2067090"/>
            <a:chOff x="2983895" y="2604536"/>
            <a:chExt cx="4884510" cy="2067090"/>
          </a:xfrm>
        </p:grpSpPr>
        <p:sp>
          <p:nvSpPr>
            <p:cNvPr id="29" name="Rectangle 28"/>
            <p:cNvSpPr/>
            <p:nvPr/>
          </p:nvSpPr>
          <p:spPr>
            <a:xfrm>
              <a:off x="2983895" y="2604536"/>
              <a:ext cx="4572000" cy="307777"/>
            </a:xfrm>
            <a:prstGeom prst="rect">
              <a:avLst/>
            </a:prstGeom>
          </p:spPr>
          <p:txBody>
            <a:bodyPr>
              <a:spAutoFit/>
            </a:bodyPr>
            <a:lstStyle/>
            <a:p>
              <a:r>
                <a:rPr lang="ru-RU" dirty="0">
                  <a:latin typeface="+mj-lt"/>
                </a:rPr>
                <a:t>Делает обнаруженную ошибку очевидной.</a:t>
              </a:r>
            </a:p>
          </p:txBody>
        </p:sp>
        <p:sp>
          <p:nvSpPr>
            <p:cNvPr id="30" name="TextBox 29"/>
            <p:cNvSpPr txBox="1"/>
            <p:nvPr/>
          </p:nvSpPr>
          <p:spPr>
            <a:xfrm>
              <a:off x="3595287" y="2938506"/>
              <a:ext cx="2194929" cy="83099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ru-RU" sz="1200" dirty="0">
                  <a:latin typeface="Arial" pitchFamily="34" charset="0"/>
                  <a:cs typeface="Arial" pitchFamily="34" charset="0"/>
                </a:rPr>
                <a:t>237465689645896589236892365 + 2375641647647647816478 = 823645895648965896</a:t>
              </a:r>
              <a:endParaRPr lang="en-US" sz="1200" dirty="0">
                <a:latin typeface="Arial" pitchFamily="34" charset="0"/>
                <a:cs typeface="Arial" pitchFamily="34" charset="0"/>
              </a:endParaRPr>
            </a:p>
          </p:txBody>
        </p:sp>
        <p:sp>
          <p:nvSpPr>
            <p:cNvPr id="31" name="TextBox 30"/>
            <p:cNvSpPr txBox="1"/>
            <p:nvPr/>
          </p:nvSpPr>
          <p:spPr>
            <a:xfrm>
              <a:off x="6602822" y="3012385"/>
              <a:ext cx="1265583" cy="2769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ru-RU" sz="1200" dirty="0">
                  <a:latin typeface="Arial" pitchFamily="34" charset="0"/>
                  <a:cs typeface="Arial" pitchFamily="34" charset="0"/>
                </a:rPr>
                <a:t>100 + 50 = 212</a:t>
              </a:r>
              <a:endParaRPr lang="en-US" sz="1200" dirty="0">
                <a:latin typeface="Arial" pitchFamily="34" charset="0"/>
                <a:cs typeface="Arial" pitchFamily="34" charset="0"/>
              </a:endParaRPr>
            </a:p>
          </p:txBody>
        </p:sp>
        <p:sp>
          <p:nvSpPr>
            <p:cNvPr id="32" name="Oval Callout 31"/>
            <p:cNvSpPr/>
            <p:nvPr/>
          </p:nvSpPr>
          <p:spPr>
            <a:xfrm>
              <a:off x="4191634" y="4156260"/>
              <a:ext cx="1994480" cy="515366"/>
            </a:xfrm>
            <a:prstGeom prst="wedgeEllipseCallout">
              <a:avLst>
                <a:gd name="adj1" fmla="val -12415"/>
                <a:gd name="adj2" fmla="val -12544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latin typeface="Arial" pitchFamily="34" charset="0"/>
                  <a:cs typeface="Arial" pitchFamily="34" charset="0"/>
                </a:rPr>
                <a:t>?????????????</a:t>
              </a:r>
            </a:p>
          </p:txBody>
        </p:sp>
        <p:sp>
          <p:nvSpPr>
            <p:cNvPr id="33" name="Oval Callout 32"/>
            <p:cNvSpPr/>
            <p:nvPr/>
          </p:nvSpPr>
          <p:spPr>
            <a:xfrm>
              <a:off x="6789510" y="3586224"/>
              <a:ext cx="1078895" cy="260724"/>
            </a:xfrm>
            <a:prstGeom prst="wedgeEllipseCallout">
              <a:avLst>
                <a:gd name="adj1" fmla="val 16565"/>
                <a:gd name="adj2" fmla="val -15585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b="1" dirty="0">
                  <a:latin typeface="Arial" pitchFamily="34" charset="0"/>
                  <a:cs typeface="Arial" pitchFamily="34" charset="0"/>
                </a:rPr>
                <a:t>!!!</a:t>
              </a:r>
            </a:p>
          </p:txBody>
        </p:sp>
      </p:grpSp>
    </p:spTree>
    <p:extLst>
      <p:ext uri="{BB962C8B-B14F-4D97-AF65-F5344CB8AC3E}">
        <p14:creationId xmlns:p14="http://schemas.microsoft.com/office/powerpoint/2010/main" val="234775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Каким должен быть хороший тест?</a:t>
            </a:r>
            <a:endParaRPr lang="en-US" dirty="0"/>
          </a:p>
        </p:txBody>
      </p:sp>
      <p:grpSp>
        <p:nvGrpSpPr>
          <p:cNvPr id="2" name="Group 1"/>
          <p:cNvGrpSpPr/>
          <p:nvPr/>
        </p:nvGrpSpPr>
        <p:grpSpPr>
          <a:xfrm>
            <a:off x="1721153" y="1105110"/>
            <a:ext cx="5498100" cy="1466640"/>
            <a:chOff x="2983896" y="1084028"/>
            <a:chExt cx="5498100" cy="1466640"/>
          </a:xfrm>
        </p:grpSpPr>
        <p:sp>
          <p:nvSpPr>
            <p:cNvPr id="44" name="Rectangle 43"/>
            <p:cNvSpPr/>
            <p:nvPr/>
          </p:nvSpPr>
          <p:spPr>
            <a:xfrm>
              <a:off x="2983896" y="1084028"/>
              <a:ext cx="4572000" cy="307777"/>
            </a:xfrm>
            <a:prstGeom prst="rect">
              <a:avLst/>
            </a:prstGeom>
          </p:spPr>
          <p:txBody>
            <a:bodyPr>
              <a:spAutoFit/>
            </a:bodyPr>
            <a:lstStyle/>
            <a:p>
              <a:r>
                <a:rPr lang="ru-RU" dirty="0"/>
                <a:t>Позволяет легко диагностировать ошибку.</a:t>
              </a:r>
            </a:p>
          </p:txBody>
        </p:sp>
        <p:sp>
          <p:nvSpPr>
            <p:cNvPr id="45" name="TextBox 44"/>
            <p:cNvSpPr txBox="1"/>
            <p:nvPr/>
          </p:nvSpPr>
          <p:spPr>
            <a:xfrm>
              <a:off x="3363770" y="1904337"/>
              <a:ext cx="2758736"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200" dirty="0">
                  <a:latin typeface="Arial" pitchFamily="34" charset="0"/>
                  <a:cs typeface="Arial" pitchFamily="34" charset="0"/>
                </a:rPr>
                <a:t>…</a:t>
              </a:r>
            </a:p>
            <a:p>
              <a:r>
                <a:rPr lang="en-US" sz="1200" dirty="0">
                  <a:latin typeface="Arial" pitchFamily="34" charset="0"/>
                  <a:cs typeface="Arial" pitchFamily="34" charset="0"/>
                </a:rPr>
                <a:t>7. </a:t>
              </a:r>
              <a:r>
                <a:rPr lang="ru-RU" sz="1200" dirty="0">
                  <a:latin typeface="Arial" pitchFamily="34" charset="0"/>
                  <a:cs typeface="Arial" pitchFamily="34" charset="0"/>
                </a:rPr>
                <a:t>Годовой баланс должен сойтись.</a:t>
              </a:r>
            </a:p>
            <a:p>
              <a:r>
                <a:rPr lang="ru-RU" sz="1200" dirty="0">
                  <a:latin typeface="Arial" pitchFamily="34" charset="0"/>
                  <a:cs typeface="Arial" pitchFamily="34" charset="0"/>
                </a:rPr>
                <a:t>…</a:t>
              </a:r>
              <a:endParaRPr lang="en-US" sz="1200" dirty="0">
                <a:latin typeface="Arial" pitchFamily="34" charset="0"/>
                <a:cs typeface="Arial" pitchFamily="34" charset="0"/>
              </a:endParaRPr>
            </a:p>
          </p:txBody>
        </p:sp>
        <p:sp>
          <p:nvSpPr>
            <p:cNvPr id="46" name="TextBox 45"/>
            <p:cNvSpPr txBox="1"/>
            <p:nvPr/>
          </p:nvSpPr>
          <p:spPr>
            <a:xfrm>
              <a:off x="6353828" y="1904337"/>
              <a:ext cx="2128168"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ru-RU" sz="1200" dirty="0">
                  <a:latin typeface="Arial" pitchFamily="34" charset="0"/>
                  <a:cs typeface="Arial" pitchFamily="34" charset="0"/>
                </a:rPr>
                <a:t>…</a:t>
              </a:r>
            </a:p>
            <a:p>
              <a:r>
                <a:rPr lang="ru-RU" sz="1200" dirty="0">
                  <a:latin typeface="Arial" pitchFamily="34" charset="0"/>
                  <a:cs typeface="Arial" pitchFamily="34" charset="0"/>
                </a:rPr>
                <a:t>3. Сумма 2 и 7  равна 9.</a:t>
              </a:r>
            </a:p>
            <a:p>
              <a:r>
                <a:rPr lang="ru-RU" sz="1200" dirty="0">
                  <a:latin typeface="Arial" pitchFamily="34" charset="0"/>
                  <a:cs typeface="Arial" pitchFamily="34" charset="0"/>
                </a:rPr>
                <a:t>…</a:t>
              </a:r>
              <a:endParaRPr lang="en-US" sz="1200" dirty="0">
                <a:latin typeface="Arial" pitchFamily="34" charset="0"/>
                <a:cs typeface="Arial" pitchFamily="34" charset="0"/>
              </a:endParaRPr>
            </a:p>
          </p:txBody>
        </p:sp>
      </p:grpSp>
    </p:spTree>
    <p:extLst>
      <p:ext uri="{BB962C8B-B14F-4D97-AF65-F5344CB8AC3E}">
        <p14:creationId xmlns:p14="http://schemas.microsoft.com/office/powerpoint/2010/main" val="30178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7312579" cy="647100"/>
          </a:xfrm>
        </p:spPr>
        <p:txBody>
          <a:bodyPr/>
          <a:lstStyle/>
          <a:p>
            <a:r>
              <a:rPr lang="ru-RU" dirty="0"/>
              <a:t>Процесс разработки тестов</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1704655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Процесс разработки тестов</a:t>
            </a:r>
            <a:endParaRPr lang="en-US" dirty="0"/>
          </a:p>
        </p:txBody>
      </p:sp>
      <p:sp>
        <p:nvSpPr>
          <p:cNvPr id="4" name="Rectangle 3"/>
          <p:cNvSpPr txBox="1">
            <a:spLocks noChangeArrowheads="1"/>
          </p:cNvSpPr>
          <p:nvPr/>
        </p:nvSpPr>
        <p:spPr bwMode="auto">
          <a:xfrm>
            <a:off x="228600" y="936267"/>
            <a:ext cx="6141607" cy="446598"/>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1. Начинайте </a:t>
            </a:r>
            <a:r>
              <a:rPr lang="ru-RU" sz="1400" dirty="0">
                <a:solidFill>
                  <a:srgbClr val="C00000"/>
                </a:solidFill>
                <a:latin typeface="+mj-lt"/>
                <a:cs typeface="Arial" pitchFamily="34" charset="0"/>
              </a:rPr>
              <a:t>как можно раньше</a:t>
            </a:r>
            <a:r>
              <a:rPr lang="ru-RU" sz="1400" dirty="0">
                <a:latin typeface="+mj-lt"/>
                <a:cs typeface="Arial" pitchFamily="34" charset="0"/>
              </a:rPr>
              <a:t>, ещё до выхода первого билда.</a:t>
            </a:r>
            <a:endParaRPr lang="en-US" sz="1400" dirty="0">
              <a:latin typeface="+mj-lt"/>
              <a:cs typeface="Arial" pitchFamily="34" charset="0"/>
            </a:endParaRPr>
          </a:p>
        </p:txBody>
      </p:sp>
      <p:sp>
        <p:nvSpPr>
          <p:cNvPr id="5" name="Rectangle 2"/>
          <p:cNvSpPr txBox="1">
            <a:spLocks noChangeArrowheads="1"/>
          </p:cNvSpPr>
          <p:nvPr/>
        </p:nvSpPr>
        <p:spPr bwMode="auto">
          <a:xfrm>
            <a:off x="228599" y="1382865"/>
            <a:ext cx="6141607" cy="47774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2. Разбивайте приложение на </a:t>
            </a:r>
            <a:r>
              <a:rPr lang="ru-RU" sz="1400" dirty="0">
                <a:solidFill>
                  <a:srgbClr val="C00000"/>
                </a:solidFill>
                <a:latin typeface="+mj-lt"/>
                <a:cs typeface="Arial" pitchFamily="34" charset="0"/>
              </a:rPr>
              <a:t>отдельные части/модули</a:t>
            </a:r>
            <a:r>
              <a:rPr lang="ru-RU" sz="1400" dirty="0">
                <a:latin typeface="+mj-lt"/>
                <a:cs typeface="Arial" pitchFamily="34" charset="0"/>
              </a:rPr>
              <a:t>.</a:t>
            </a:r>
            <a:endParaRPr lang="en-US" sz="1400" dirty="0">
              <a:latin typeface="+mj-lt"/>
              <a:cs typeface="Arial" pitchFamily="34" charset="0"/>
            </a:endParaRPr>
          </a:p>
        </p:txBody>
      </p:sp>
      <p:sp>
        <p:nvSpPr>
          <p:cNvPr id="6" name="Rectangle 2"/>
          <p:cNvSpPr txBox="1">
            <a:spLocks noChangeArrowheads="1"/>
          </p:cNvSpPr>
          <p:nvPr/>
        </p:nvSpPr>
        <p:spPr bwMode="auto">
          <a:xfrm>
            <a:off x="228598" y="1846690"/>
            <a:ext cx="4752975" cy="54466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3. Для каждой области/модуля </a:t>
            </a:r>
            <a:r>
              <a:rPr lang="ru-RU" sz="1400" dirty="0">
                <a:solidFill>
                  <a:srgbClr val="C00000"/>
                </a:solidFill>
                <a:latin typeface="+mj-lt"/>
                <a:cs typeface="Arial" pitchFamily="34" charset="0"/>
              </a:rPr>
              <a:t>пишите чек-лист</a:t>
            </a:r>
            <a:r>
              <a:rPr lang="ru-RU" sz="1400" dirty="0">
                <a:latin typeface="+mj-lt"/>
                <a:cs typeface="Arial" pitchFamily="34" charset="0"/>
              </a:rPr>
              <a:t>.</a:t>
            </a:r>
          </a:p>
        </p:txBody>
      </p:sp>
      <p:sp>
        <p:nvSpPr>
          <p:cNvPr id="8" name="Rectangle 2"/>
          <p:cNvSpPr txBox="1">
            <a:spLocks noChangeArrowheads="1"/>
          </p:cNvSpPr>
          <p:nvPr/>
        </p:nvSpPr>
        <p:spPr bwMode="auto">
          <a:xfrm>
            <a:off x="228598" y="2324430"/>
            <a:ext cx="6141608" cy="683349"/>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4. Пишите </a:t>
            </a:r>
            <a:r>
              <a:rPr lang="ru-RU" sz="1400" dirty="0">
                <a:solidFill>
                  <a:srgbClr val="C00000"/>
                </a:solidFill>
                <a:latin typeface="+mj-lt"/>
                <a:cs typeface="Arial" pitchFamily="34" charset="0"/>
              </a:rPr>
              <a:t>вопросы</a:t>
            </a:r>
            <a:r>
              <a:rPr lang="ru-RU" sz="1400" dirty="0">
                <a:latin typeface="+mj-lt"/>
                <a:cs typeface="Arial" pitchFamily="34" charset="0"/>
              </a:rPr>
              <a:t>, уточняйте детали, добавляйте «</a:t>
            </a:r>
            <a:r>
              <a:rPr lang="ru-RU" sz="1400" dirty="0">
                <a:solidFill>
                  <a:srgbClr val="C00000"/>
                </a:solidFill>
                <a:latin typeface="+mj-lt"/>
                <a:cs typeface="Arial" pitchFamily="34" charset="0"/>
              </a:rPr>
              <a:t>косметику</a:t>
            </a:r>
            <a:r>
              <a:rPr lang="ru-RU" sz="1400" dirty="0">
                <a:latin typeface="+mj-lt"/>
                <a:cs typeface="Arial" pitchFamily="34" charset="0"/>
              </a:rPr>
              <a:t>», используйте </a:t>
            </a:r>
            <a:r>
              <a:rPr lang="en-US" sz="1400" dirty="0">
                <a:solidFill>
                  <a:srgbClr val="C00000"/>
                </a:solidFill>
                <a:latin typeface="+mj-lt"/>
                <a:cs typeface="Arial" pitchFamily="34" charset="0"/>
              </a:rPr>
              <a:t>copy-paste</a:t>
            </a:r>
            <a:r>
              <a:rPr lang="en-US" sz="1400" dirty="0">
                <a:latin typeface="+mj-lt"/>
                <a:cs typeface="Arial" pitchFamily="34" charset="0"/>
              </a:rPr>
              <a:t>.</a:t>
            </a:r>
            <a:endParaRPr lang="ru-RU" sz="1400" dirty="0">
              <a:latin typeface="+mj-lt"/>
              <a:cs typeface="Arial" pitchFamily="34" charset="0"/>
            </a:endParaRPr>
          </a:p>
        </p:txBody>
      </p:sp>
      <p:sp>
        <p:nvSpPr>
          <p:cNvPr id="9" name="Rectangle 2"/>
          <p:cNvSpPr txBox="1">
            <a:spLocks noChangeArrowheads="1"/>
          </p:cNvSpPr>
          <p:nvPr/>
        </p:nvSpPr>
        <p:spPr bwMode="auto">
          <a:xfrm>
            <a:off x="228597" y="3013743"/>
            <a:ext cx="6141609" cy="558164"/>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5. Получите </a:t>
            </a:r>
            <a:r>
              <a:rPr lang="ru-RU" sz="1400" dirty="0">
                <a:solidFill>
                  <a:srgbClr val="C00000"/>
                </a:solidFill>
                <a:latin typeface="+mj-lt"/>
                <a:cs typeface="Arial" pitchFamily="34" charset="0"/>
              </a:rPr>
              <a:t>рецензию</a:t>
            </a:r>
            <a:r>
              <a:rPr lang="ru-RU" sz="1400" dirty="0">
                <a:solidFill>
                  <a:srgbClr val="7030A0"/>
                </a:solidFill>
                <a:latin typeface="+mj-lt"/>
                <a:cs typeface="Arial" pitchFamily="34" charset="0"/>
              </a:rPr>
              <a:t> </a:t>
            </a:r>
            <a:r>
              <a:rPr lang="ru-RU" sz="1400" dirty="0">
                <a:latin typeface="+mj-lt"/>
                <a:cs typeface="Arial" pitchFamily="34" charset="0"/>
              </a:rPr>
              <a:t>коллег-тестировщиков, разработчиков, заказчиков.</a:t>
            </a:r>
          </a:p>
        </p:txBody>
      </p:sp>
      <p:sp>
        <p:nvSpPr>
          <p:cNvPr id="10" name="Rectangle 2"/>
          <p:cNvSpPr txBox="1">
            <a:spLocks noChangeArrowheads="1"/>
          </p:cNvSpPr>
          <p:nvPr/>
        </p:nvSpPr>
        <p:spPr bwMode="auto">
          <a:xfrm>
            <a:off x="228597" y="3697092"/>
            <a:ext cx="6141609" cy="755639"/>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6.</a:t>
            </a:r>
            <a:r>
              <a:rPr lang="ru-RU" sz="1400" dirty="0">
                <a:solidFill>
                  <a:srgbClr val="7030A0"/>
                </a:solidFill>
                <a:latin typeface="+mj-lt"/>
                <a:cs typeface="Arial" pitchFamily="34" charset="0"/>
              </a:rPr>
              <a:t> </a:t>
            </a:r>
            <a:r>
              <a:rPr lang="ru-RU" sz="1400" dirty="0">
                <a:solidFill>
                  <a:srgbClr val="C00000"/>
                </a:solidFill>
                <a:latin typeface="+mj-lt"/>
                <a:cs typeface="Arial" pitchFamily="34" charset="0"/>
              </a:rPr>
              <a:t>Обновляйте тесты</a:t>
            </a:r>
            <a:r>
              <a:rPr lang="ru-RU" sz="1400" dirty="0">
                <a:latin typeface="+mj-lt"/>
                <a:cs typeface="Arial" pitchFamily="34" charset="0"/>
              </a:rPr>
              <a:t>, как только</a:t>
            </a:r>
            <a:r>
              <a:rPr lang="en-US" sz="1400" dirty="0">
                <a:latin typeface="+mj-lt"/>
                <a:cs typeface="Arial" pitchFamily="34" charset="0"/>
              </a:rPr>
              <a:t> </a:t>
            </a:r>
            <a:r>
              <a:rPr lang="ru-RU" sz="1400" dirty="0">
                <a:latin typeface="+mj-lt"/>
                <a:cs typeface="Arial" pitchFamily="34" charset="0"/>
              </a:rPr>
              <a:t>обнаружили ошибку или изменилась функциональность.</a:t>
            </a:r>
          </a:p>
        </p:txBody>
      </p:sp>
    </p:spTree>
    <p:extLst>
      <p:ext uri="{BB962C8B-B14F-4D97-AF65-F5344CB8AC3E}">
        <p14:creationId xmlns:p14="http://schemas.microsoft.com/office/powerpoint/2010/main" val="334408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5235087" cy="647100"/>
          </a:xfrm>
        </p:spPr>
        <p:txBody>
          <a:bodyPr/>
          <a:lstStyle/>
          <a:p>
            <a:r>
              <a:rPr lang="ru-RU" dirty="0"/>
              <a:t>Тестовые сценарии</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10252234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Тестовый сценарий. Определение </a:t>
            </a:r>
            <a:endParaRPr lang="en-US" dirty="0"/>
          </a:p>
        </p:txBody>
      </p:sp>
      <p:sp>
        <p:nvSpPr>
          <p:cNvPr id="8" name="Rectangle 3"/>
          <p:cNvSpPr txBox="1">
            <a:spLocks noChangeArrowheads="1"/>
          </p:cNvSpPr>
          <p:nvPr/>
        </p:nvSpPr>
        <p:spPr bwMode="auto">
          <a:xfrm>
            <a:off x="172775" y="853341"/>
            <a:ext cx="8229600" cy="971384"/>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800" b="1" dirty="0">
                <a:solidFill>
                  <a:srgbClr val="C00000"/>
                </a:solidFill>
                <a:latin typeface="+mj-lt"/>
                <a:cs typeface="Arial" pitchFamily="34" charset="0"/>
              </a:rPr>
              <a:t>Тестовый сценарий</a:t>
            </a:r>
            <a:r>
              <a:rPr lang="ru-RU" sz="1800" dirty="0">
                <a:solidFill>
                  <a:srgbClr val="C00000"/>
                </a:solidFill>
                <a:latin typeface="+mj-lt"/>
                <a:cs typeface="Arial" pitchFamily="34" charset="0"/>
              </a:rPr>
              <a:t> </a:t>
            </a:r>
            <a:r>
              <a:rPr lang="ru-RU" sz="1800" dirty="0">
                <a:latin typeface="+mj-lt"/>
                <a:cs typeface="Arial" pitchFamily="34" charset="0"/>
              </a:rPr>
              <a:t>(</a:t>
            </a:r>
            <a:r>
              <a:rPr lang="en-US" sz="1800" dirty="0">
                <a:latin typeface="+mj-lt"/>
                <a:cs typeface="Arial" pitchFamily="34" charset="0"/>
              </a:rPr>
              <a:t>test scenario</a:t>
            </a:r>
            <a:r>
              <a:rPr lang="ru-RU" sz="1800" dirty="0">
                <a:latin typeface="+mj-lt"/>
                <a:cs typeface="Arial" pitchFamily="34" charset="0"/>
              </a:rPr>
              <a:t>) – набор тестов (тест-кейсов), собранных в последовательность </a:t>
            </a:r>
            <a:r>
              <a:rPr lang="ru-RU" sz="1800" dirty="0">
                <a:solidFill>
                  <a:srgbClr val="C00000"/>
                </a:solidFill>
                <a:latin typeface="+mj-lt"/>
                <a:cs typeface="Arial" pitchFamily="34" charset="0"/>
              </a:rPr>
              <a:t>для достижения некоторой цели</a:t>
            </a:r>
            <a:r>
              <a:rPr lang="ru-RU" sz="1800" dirty="0">
                <a:latin typeface="+mj-lt"/>
                <a:cs typeface="Arial" pitchFamily="34" charset="0"/>
              </a:rPr>
              <a:t>. Может быть составлен из связанных или независимых тестов.</a:t>
            </a:r>
            <a:endParaRPr lang="en-US" sz="1800" dirty="0">
              <a:latin typeface="+mj-lt"/>
              <a:cs typeface="Arial" pitchFamily="34" charset="0"/>
            </a:endParaRPr>
          </a:p>
        </p:txBody>
      </p:sp>
      <p:sp>
        <p:nvSpPr>
          <p:cNvPr id="9" name="Text Box 7"/>
          <p:cNvSpPr txBox="1">
            <a:spLocks noChangeArrowheads="1"/>
          </p:cNvSpPr>
          <p:nvPr/>
        </p:nvSpPr>
        <p:spPr bwMode="auto">
          <a:xfrm>
            <a:off x="921689" y="2496712"/>
            <a:ext cx="68986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1600" i="1" dirty="0">
                <a:latin typeface="+mj-lt"/>
                <a:cs typeface="Arial" pitchFamily="34" charset="0"/>
              </a:rPr>
              <a:t>	</a:t>
            </a:r>
            <a:r>
              <a:rPr lang="ru-RU" sz="1600" i="1" dirty="0">
                <a:latin typeface="+mj-lt"/>
                <a:cs typeface="Arial" pitchFamily="34" charset="0"/>
              </a:rPr>
              <a:t>Хороший тестовый сценарий всегда </a:t>
            </a:r>
            <a:r>
              <a:rPr lang="ru-RU" sz="1600" i="1" dirty="0">
                <a:solidFill>
                  <a:srgbClr val="C00000"/>
                </a:solidFill>
                <a:latin typeface="+mj-lt"/>
                <a:cs typeface="Arial" pitchFamily="34" charset="0"/>
              </a:rPr>
              <a:t>следует некоторой логике</a:t>
            </a:r>
            <a:r>
              <a:rPr lang="ru-RU" sz="1600" i="1" dirty="0">
                <a:latin typeface="+mj-lt"/>
                <a:cs typeface="Arial" pitchFamily="34" charset="0"/>
              </a:rPr>
              <a:t>, например: типичному использованию приложения, удобству тестирования, распределению функций по модулям и т.д.</a:t>
            </a:r>
          </a:p>
        </p:txBody>
      </p:sp>
    </p:spTree>
    <p:extLst>
      <p:ext uri="{BB962C8B-B14F-4D97-AF65-F5344CB8AC3E}">
        <p14:creationId xmlns:p14="http://schemas.microsoft.com/office/powerpoint/2010/main" val="34799344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Рекомендации по оформлению</a:t>
            </a:r>
            <a:endParaRPr lang="en-US" dirty="0"/>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696" y="876900"/>
            <a:ext cx="6084304" cy="3862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p:cNvSpPr>
            <a:spLocks noChangeArrowheads="1"/>
          </p:cNvSpPr>
          <p:nvPr/>
        </p:nvSpPr>
        <p:spPr bwMode="auto">
          <a:xfrm>
            <a:off x="482642" y="2346324"/>
            <a:ext cx="1655762" cy="461665"/>
          </a:xfrm>
          <a:prstGeom prst="wedgeRectCallout">
            <a:avLst>
              <a:gd name="adj1" fmla="val 109803"/>
              <a:gd name="adj2" fmla="val 36620"/>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eaLnBrk="0" hangingPunct="0"/>
            <a:r>
              <a:rPr lang="ru-RU" sz="1200" dirty="0">
                <a:solidFill>
                  <a:schemeClr val="bg1"/>
                </a:solidFill>
                <a:latin typeface="+mj-lt"/>
              </a:rPr>
              <a:t>Используйте группировку</a:t>
            </a:r>
            <a:endParaRPr lang="en-US" sz="1200" dirty="0">
              <a:solidFill>
                <a:schemeClr val="bg1"/>
              </a:solidFill>
              <a:latin typeface="+mj-lt"/>
            </a:endParaRPr>
          </a:p>
        </p:txBody>
      </p:sp>
      <p:sp>
        <p:nvSpPr>
          <p:cNvPr id="5" name="AutoShape 5"/>
          <p:cNvSpPr>
            <a:spLocks noChangeArrowheads="1"/>
          </p:cNvSpPr>
          <p:nvPr/>
        </p:nvSpPr>
        <p:spPr bwMode="auto">
          <a:xfrm>
            <a:off x="1217110" y="1215380"/>
            <a:ext cx="1655763" cy="461665"/>
          </a:xfrm>
          <a:prstGeom prst="wedgeRectCallout">
            <a:avLst>
              <a:gd name="adj1" fmla="val 126697"/>
              <a:gd name="adj2" fmla="val -1168"/>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eaLnBrk="0" hangingPunct="0"/>
            <a:r>
              <a:rPr lang="ru-RU" sz="1200" dirty="0">
                <a:solidFill>
                  <a:schemeClr val="bg1"/>
                </a:solidFill>
                <a:latin typeface="+mj-lt"/>
              </a:rPr>
              <a:t>Используйте фильтры</a:t>
            </a:r>
            <a:endParaRPr lang="en-US" sz="1200" dirty="0">
              <a:solidFill>
                <a:schemeClr val="bg1"/>
              </a:solidFill>
              <a:latin typeface="+mj-lt"/>
            </a:endParaRPr>
          </a:p>
        </p:txBody>
      </p:sp>
      <p:sp>
        <p:nvSpPr>
          <p:cNvPr id="6" name="AutoShape 6"/>
          <p:cNvSpPr>
            <a:spLocks noChangeArrowheads="1"/>
          </p:cNvSpPr>
          <p:nvPr/>
        </p:nvSpPr>
        <p:spPr bwMode="auto">
          <a:xfrm>
            <a:off x="1008325" y="3669472"/>
            <a:ext cx="1655762" cy="461665"/>
          </a:xfrm>
          <a:prstGeom prst="wedgeRectCallout">
            <a:avLst>
              <a:gd name="adj1" fmla="val 125664"/>
              <a:gd name="adj2" fmla="val 139106"/>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eaLnBrk="0" hangingPunct="0"/>
            <a:r>
              <a:rPr lang="ru-RU" sz="1200" dirty="0">
                <a:solidFill>
                  <a:schemeClr val="bg1"/>
                </a:solidFill>
                <a:latin typeface="+mj-lt"/>
              </a:rPr>
              <a:t>Используйте отдельные листы</a:t>
            </a:r>
            <a:endParaRPr lang="en-US" sz="1200" dirty="0">
              <a:solidFill>
                <a:schemeClr val="bg1"/>
              </a:solidFill>
              <a:latin typeface="+mj-lt"/>
            </a:endParaRPr>
          </a:p>
        </p:txBody>
      </p:sp>
    </p:spTree>
    <p:extLst>
      <p:ext uri="{BB962C8B-B14F-4D97-AF65-F5344CB8AC3E}">
        <p14:creationId xmlns:p14="http://schemas.microsoft.com/office/powerpoint/2010/main" val="113096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Тестовый сценарий. Общие рекомендации</a:t>
            </a:r>
            <a:endParaRPr lang="en-US" dirty="0"/>
          </a:p>
        </p:txBody>
      </p:sp>
      <p:sp>
        <p:nvSpPr>
          <p:cNvPr id="3" name="Rectangle 3"/>
          <p:cNvSpPr txBox="1">
            <a:spLocks noChangeArrowheads="1"/>
          </p:cNvSpPr>
          <p:nvPr/>
        </p:nvSpPr>
        <p:spPr bwMode="auto">
          <a:xfrm>
            <a:off x="260239" y="1056199"/>
            <a:ext cx="6828537" cy="120992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lvl="1" indent="-533400">
              <a:buClr>
                <a:schemeClr val="accent2"/>
              </a:buClr>
              <a:buFont typeface="Arial" pitchFamily="34" charset="0"/>
              <a:buChar char="•"/>
            </a:pPr>
            <a:r>
              <a:rPr lang="ru-RU" sz="1800" dirty="0">
                <a:latin typeface="+mj-lt"/>
                <a:cs typeface="Arial" pitchFamily="34" charset="0"/>
              </a:rPr>
              <a:t>Пишите сценарий </a:t>
            </a:r>
            <a:r>
              <a:rPr lang="ru-RU" sz="1800" dirty="0">
                <a:solidFill>
                  <a:srgbClr val="C00000"/>
                </a:solidFill>
                <a:latin typeface="+mj-lt"/>
                <a:cs typeface="Arial" pitchFamily="34" charset="0"/>
              </a:rPr>
              <a:t>для отдельной части </a:t>
            </a:r>
            <a:r>
              <a:rPr lang="ru-RU" sz="1800" dirty="0">
                <a:latin typeface="+mj-lt"/>
                <a:cs typeface="Arial" pitchFamily="34" charset="0"/>
              </a:rPr>
              <a:t>приложения.</a:t>
            </a:r>
            <a:endParaRPr lang="en-US" sz="1800" dirty="0">
              <a:latin typeface="+mj-lt"/>
              <a:cs typeface="Arial" pitchFamily="34" charset="0"/>
            </a:endParaRPr>
          </a:p>
          <a:p>
            <a:pPr marL="533400" lvl="1" indent="-533400">
              <a:buClr>
                <a:schemeClr val="accent2"/>
              </a:buClr>
              <a:buFont typeface="Arial" pitchFamily="34" charset="0"/>
              <a:buChar char="•"/>
            </a:pPr>
            <a:endParaRPr lang="ru-RU" sz="1800" dirty="0">
              <a:latin typeface="+mj-lt"/>
              <a:cs typeface="Arial" pitchFamily="34" charset="0"/>
            </a:endParaRPr>
          </a:p>
          <a:p>
            <a:pPr marL="533400" lvl="1" indent="-533400">
              <a:buClr>
                <a:schemeClr val="accent2"/>
              </a:buClr>
              <a:buFont typeface="Arial" pitchFamily="34" charset="0"/>
              <a:buChar char="•"/>
            </a:pPr>
            <a:r>
              <a:rPr lang="ru-RU" sz="1800" dirty="0">
                <a:latin typeface="+mj-lt"/>
                <a:cs typeface="Arial" pitchFamily="34" charset="0"/>
              </a:rPr>
              <a:t>Пишите </a:t>
            </a:r>
            <a:r>
              <a:rPr lang="ru-RU" sz="1800" dirty="0">
                <a:solidFill>
                  <a:srgbClr val="C00000"/>
                </a:solidFill>
                <a:latin typeface="+mj-lt"/>
                <a:cs typeface="Arial" pitchFamily="34" charset="0"/>
              </a:rPr>
              <a:t>отдельно сценарии </a:t>
            </a:r>
            <a:r>
              <a:rPr lang="ru-RU" sz="1800" dirty="0">
                <a:latin typeface="+mj-lt"/>
                <a:cs typeface="Arial" pitchFamily="34" charset="0"/>
              </a:rPr>
              <a:t>для </a:t>
            </a:r>
            <a:r>
              <a:rPr lang="en-US" sz="1800" dirty="0">
                <a:latin typeface="+mj-lt"/>
                <a:cs typeface="Arial" pitchFamily="34" charset="0"/>
              </a:rPr>
              <a:t>Smoke </a:t>
            </a:r>
            <a:r>
              <a:rPr lang="ru-RU" sz="1800" dirty="0">
                <a:latin typeface="+mj-lt"/>
                <a:cs typeface="Arial" pitchFamily="34" charset="0"/>
              </a:rPr>
              <a:t>и </a:t>
            </a:r>
            <a:r>
              <a:rPr lang="en-US" sz="1800" dirty="0">
                <a:latin typeface="+mj-lt"/>
                <a:cs typeface="Arial" pitchFamily="34" charset="0"/>
              </a:rPr>
              <a:t>Critical Path </a:t>
            </a:r>
            <a:r>
              <a:rPr lang="ru-RU" sz="1800" dirty="0">
                <a:latin typeface="+mj-lt"/>
                <a:cs typeface="Arial" pitchFamily="34" charset="0"/>
              </a:rPr>
              <a:t>тестов.</a:t>
            </a:r>
            <a:endParaRPr lang="en-US" sz="1800" dirty="0">
              <a:latin typeface="+mj-lt"/>
              <a:cs typeface="Arial" pitchFamily="34" charset="0"/>
            </a:endParaRPr>
          </a:p>
          <a:p>
            <a:pPr marL="533400" lvl="1" indent="-533400">
              <a:buClr>
                <a:schemeClr val="accent2"/>
              </a:buClr>
              <a:buFont typeface="Arial" pitchFamily="34" charset="0"/>
              <a:buChar char="•"/>
            </a:pPr>
            <a:endParaRPr lang="ru-RU" sz="1800" dirty="0">
              <a:latin typeface="+mj-lt"/>
              <a:cs typeface="Arial" pitchFamily="34" charset="0"/>
            </a:endParaRPr>
          </a:p>
          <a:p>
            <a:pPr marL="533400" lvl="1" indent="-533400">
              <a:buClr>
                <a:schemeClr val="accent2"/>
              </a:buClr>
              <a:buFont typeface="Arial" pitchFamily="34" charset="0"/>
              <a:buChar char="•"/>
            </a:pPr>
            <a:r>
              <a:rPr lang="ru-RU" sz="1800" dirty="0">
                <a:latin typeface="+mj-lt"/>
                <a:cs typeface="Arial" pitchFamily="34" charset="0"/>
              </a:rPr>
              <a:t>Постепенно </a:t>
            </a:r>
            <a:r>
              <a:rPr lang="ru-RU" sz="1800" dirty="0">
                <a:solidFill>
                  <a:srgbClr val="C00000"/>
                </a:solidFill>
                <a:latin typeface="+mj-lt"/>
                <a:cs typeface="Arial" pitchFamily="34" charset="0"/>
              </a:rPr>
              <a:t>повышайте сложность </a:t>
            </a:r>
            <a:r>
              <a:rPr lang="ru-RU" sz="1800" dirty="0">
                <a:latin typeface="+mj-lt"/>
                <a:cs typeface="Arial" pitchFamily="34" charset="0"/>
              </a:rPr>
              <a:t>тестов.</a:t>
            </a:r>
            <a:endParaRPr lang="en-US" sz="1800" dirty="0">
              <a:latin typeface="+mj-lt"/>
              <a:cs typeface="Arial" pitchFamily="34" charset="0"/>
            </a:endParaRPr>
          </a:p>
          <a:p>
            <a:pPr marL="533400" lvl="1" indent="-533400">
              <a:buClr>
                <a:schemeClr val="accent2"/>
              </a:buClr>
              <a:buFont typeface="Arial" pitchFamily="34" charset="0"/>
              <a:buChar char="•"/>
            </a:pPr>
            <a:endParaRPr lang="ru-RU" sz="1800" dirty="0">
              <a:latin typeface="+mj-lt"/>
              <a:cs typeface="Arial" pitchFamily="34" charset="0"/>
            </a:endParaRPr>
          </a:p>
          <a:p>
            <a:pPr marL="533400" lvl="1" indent="-533400">
              <a:buClr>
                <a:schemeClr val="accent2"/>
              </a:buClr>
              <a:buFont typeface="Arial" pitchFamily="34" charset="0"/>
              <a:buChar char="•"/>
            </a:pPr>
            <a:r>
              <a:rPr lang="ru-RU" sz="1800" dirty="0">
                <a:latin typeface="+mj-lt"/>
                <a:cs typeface="Arial" pitchFamily="34" charset="0"/>
              </a:rPr>
              <a:t>Организуйте сценарий </a:t>
            </a:r>
            <a:r>
              <a:rPr lang="ru-RU" sz="1800" dirty="0">
                <a:solidFill>
                  <a:srgbClr val="C00000"/>
                </a:solidFill>
                <a:latin typeface="+mj-lt"/>
                <a:cs typeface="Arial" pitchFamily="34" charset="0"/>
              </a:rPr>
              <a:t>логично</a:t>
            </a:r>
            <a:r>
              <a:rPr lang="ru-RU" sz="1800" dirty="0">
                <a:latin typeface="+mj-lt"/>
                <a:cs typeface="Arial" pitchFamily="34" charset="0"/>
              </a:rPr>
              <a:t>.</a:t>
            </a:r>
            <a:endParaRPr lang="en-US" sz="1800" dirty="0">
              <a:latin typeface="+mj-lt"/>
              <a:cs typeface="Arial" pitchFamily="34" charset="0"/>
            </a:endParaRPr>
          </a:p>
        </p:txBody>
      </p:sp>
    </p:spTree>
    <p:extLst>
      <p:ext uri="{BB962C8B-B14F-4D97-AF65-F5344CB8AC3E}">
        <p14:creationId xmlns:p14="http://schemas.microsoft.com/office/powerpoint/2010/main" val="1908935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5260736" cy="647100"/>
          </a:xfrm>
        </p:spPr>
        <p:txBody>
          <a:bodyPr/>
          <a:lstStyle/>
          <a:p>
            <a:r>
              <a:rPr lang="ru-RU" dirty="0"/>
              <a:t>Тестовое Покрытие</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1783214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Тестовое покрытие</a:t>
            </a:r>
            <a:endParaRPr lang="en-US" dirty="0"/>
          </a:p>
        </p:txBody>
      </p:sp>
      <p:sp>
        <p:nvSpPr>
          <p:cNvPr id="3" name="Rectangle 3"/>
          <p:cNvSpPr txBox="1">
            <a:spLocks noChangeArrowheads="1"/>
          </p:cNvSpPr>
          <p:nvPr/>
        </p:nvSpPr>
        <p:spPr bwMode="auto">
          <a:xfrm>
            <a:off x="173154" y="1030671"/>
            <a:ext cx="8239327" cy="120992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lvl="1" indent="-533400">
              <a:buClr>
                <a:schemeClr val="accent2"/>
              </a:buClr>
              <a:buFont typeface="Arial" pitchFamily="34" charset="0"/>
              <a:buChar char="•"/>
            </a:pPr>
            <a:r>
              <a:rPr lang="ru-RU" sz="1800" b="1" dirty="0">
                <a:hlinkClick r:id="rId2"/>
              </a:rPr>
              <a:t>Тестовое Покрытие</a:t>
            </a:r>
            <a:r>
              <a:rPr lang="ru-RU" sz="1800" dirty="0"/>
              <a:t> (</a:t>
            </a:r>
            <a:r>
              <a:rPr lang="ru-RU" sz="1800" b="1" dirty="0">
                <a:hlinkClick r:id="rId2"/>
              </a:rPr>
              <a:t>Test Coverage</a:t>
            </a:r>
            <a:r>
              <a:rPr lang="ru-RU" sz="1800" dirty="0"/>
              <a:t>) - это одна из метрик оценки качества тестирования, представляющая из себя плотность покрытия тестами требований, либо исполняемого кода.</a:t>
            </a:r>
            <a:endParaRPr lang="en-US" sz="1200" dirty="0">
              <a:latin typeface="+mj-lt"/>
              <a:cs typeface="Arial" pitchFamily="34" charset="0"/>
            </a:endParaRPr>
          </a:p>
        </p:txBody>
      </p:sp>
      <p:sp>
        <p:nvSpPr>
          <p:cNvPr id="2" name="Rectangle 1">
            <a:extLst>
              <a:ext uri="{FF2B5EF4-FFF2-40B4-BE49-F238E27FC236}">
                <a16:creationId xmlns:a16="http://schemas.microsoft.com/office/drawing/2014/main" id="{232D96B5-F59A-4E88-9B61-C0F3DADCC442}"/>
              </a:ext>
            </a:extLst>
          </p:cNvPr>
          <p:cNvSpPr/>
          <p:nvPr/>
        </p:nvSpPr>
        <p:spPr>
          <a:xfrm>
            <a:off x="731519" y="2145029"/>
            <a:ext cx="7881256" cy="1200329"/>
          </a:xfrm>
          <a:prstGeom prst="rect">
            <a:avLst/>
          </a:prstGeom>
        </p:spPr>
        <p:txBody>
          <a:bodyPr wrap="square">
            <a:spAutoFit/>
          </a:bodyPr>
          <a:lstStyle/>
          <a:p>
            <a:r>
              <a:rPr lang="ru-RU" sz="1800" b="1" dirty="0"/>
              <a:t>Traceability matrix — Матрица соответствия требований </a:t>
            </a:r>
            <a:r>
              <a:rPr lang="ru-RU" dirty="0">
                <a:solidFill>
                  <a:srgbClr val="222222"/>
                </a:solidFill>
                <a:latin typeface="-apple-system"/>
              </a:rPr>
              <a:t>— </a:t>
            </a:r>
            <a:r>
              <a:rPr lang="ru-RU" sz="1800" dirty="0"/>
              <a:t>это двумерная таблица, содержащая соответсвие функциональных требований (functional requirements) продукта и подготовленных тестовых сценариев (test cases).</a:t>
            </a:r>
            <a:endParaRPr lang="en-US" sz="1800" dirty="0"/>
          </a:p>
        </p:txBody>
      </p:sp>
      <p:sp>
        <p:nvSpPr>
          <p:cNvPr id="4" name="Rectangle 3">
            <a:extLst>
              <a:ext uri="{FF2B5EF4-FFF2-40B4-BE49-F238E27FC236}">
                <a16:creationId xmlns:a16="http://schemas.microsoft.com/office/drawing/2014/main" id="{0B000947-73DD-48C9-965C-B875DE2270DA}"/>
              </a:ext>
            </a:extLst>
          </p:cNvPr>
          <p:cNvSpPr/>
          <p:nvPr/>
        </p:nvSpPr>
        <p:spPr>
          <a:xfrm>
            <a:off x="731519" y="3528051"/>
            <a:ext cx="8412481" cy="738664"/>
          </a:xfrm>
          <a:prstGeom prst="rect">
            <a:avLst/>
          </a:prstGeom>
        </p:spPr>
        <p:txBody>
          <a:bodyPr wrap="square">
            <a:spAutoFit/>
          </a:bodyPr>
          <a:lstStyle/>
          <a:p>
            <a:r>
              <a:rPr lang="ru-RU" dirty="0">
                <a:solidFill>
                  <a:srgbClr val="222222"/>
                </a:solidFill>
                <a:latin typeface="-apple-system"/>
              </a:rPr>
              <a:t> В заголовках колонок таблицы расположены требования, а в заголовках строк — тестовые сценарии. На пересечении — отметка, означающая, что требование текущей колонки покрыто тестовым сценарием текущей строки.</a:t>
            </a:r>
            <a:endParaRPr lang="en-US" dirty="0"/>
          </a:p>
        </p:txBody>
      </p:sp>
    </p:spTree>
    <p:extLst>
      <p:ext uri="{BB962C8B-B14F-4D97-AF65-F5344CB8AC3E}">
        <p14:creationId xmlns:p14="http://schemas.microsoft.com/office/powerpoint/2010/main" val="8624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regent_street.jpg"/>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62" r="62"/>
          <a:stretch>
            <a:fillRect/>
          </a:stretch>
        </p:blipFill>
        <p:spPr/>
      </p:pic>
      <p:sp>
        <p:nvSpPr>
          <p:cNvPr id="5" name="Title 4"/>
          <p:cNvSpPr>
            <a:spLocks noGrp="1"/>
          </p:cNvSpPr>
          <p:nvPr>
            <p:ph type="title"/>
          </p:nvPr>
        </p:nvSpPr>
        <p:spPr>
          <a:xfrm>
            <a:off x="872404" y="2869953"/>
            <a:ext cx="7054495" cy="647100"/>
          </a:xfrm>
        </p:spPr>
        <p:txBody>
          <a:bodyPr/>
          <a:lstStyle/>
          <a:p>
            <a:r>
              <a:rPr lang="ru-RU" dirty="0"/>
              <a:t>Пример разработки тестов</a:t>
            </a:r>
            <a:endParaRPr lang="en-US" dirty="0"/>
          </a:p>
        </p:txBody>
      </p:sp>
      <p:sp>
        <p:nvSpPr>
          <p:cNvPr id="6" name="Text Placeholder 5"/>
          <p:cNvSpPr>
            <a:spLocks noGrp="1"/>
          </p:cNvSpPr>
          <p:nvPr>
            <p:ph type="body" sz="quarter" idx="14"/>
          </p:nvPr>
        </p:nvSpPr>
        <p:spPr>
          <a:xfrm>
            <a:off x="866628" y="2457127"/>
            <a:ext cx="4364015" cy="284693"/>
          </a:xfrm>
        </p:spPr>
        <p:txBody>
          <a:bodyPr/>
          <a:lstStyle/>
          <a:p>
            <a:r>
              <a:rPr lang="ru-RU" dirty="0"/>
              <a:t>Разработка тестов и тестовых сценариев</a:t>
            </a:r>
            <a:endParaRPr lang="en-US" dirty="0"/>
          </a:p>
        </p:txBody>
      </p:sp>
    </p:spTree>
    <p:extLst>
      <p:ext uri="{BB962C8B-B14F-4D97-AF65-F5344CB8AC3E}">
        <p14:creationId xmlns:p14="http://schemas.microsoft.com/office/powerpoint/2010/main" val="3596871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306125" y="989027"/>
            <a:ext cx="4114800" cy="680748"/>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363538" algn="just">
              <a:buFontTx/>
              <a:buAutoNum type="arabicPeriod"/>
            </a:pPr>
            <a:r>
              <a:rPr lang="ru-RU" sz="1400" dirty="0">
                <a:latin typeface="+mj-lt"/>
                <a:cs typeface="Arial" pitchFamily="34" charset="0"/>
              </a:rPr>
              <a:t>Что такое </a:t>
            </a:r>
            <a:r>
              <a:rPr lang="en-US" sz="1400" dirty="0">
                <a:latin typeface="+mj-lt"/>
                <a:cs typeface="Arial" pitchFamily="34" charset="0"/>
              </a:rPr>
              <a:t>Notepad?</a:t>
            </a:r>
            <a:endParaRPr lang="ru-RU" sz="1400" dirty="0">
              <a:latin typeface="+mj-lt"/>
              <a:cs typeface="Arial" pitchFamily="34" charset="0"/>
            </a:endParaRPr>
          </a:p>
          <a:p>
            <a:pPr marL="0" indent="363538" algn="just">
              <a:buFontTx/>
              <a:buAutoNum type="arabicPeriod"/>
            </a:pPr>
            <a:r>
              <a:rPr lang="ru-RU" sz="1400" dirty="0">
                <a:latin typeface="+mj-lt"/>
                <a:cs typeface="Arial" pitchFamily="34" charset="0"/>
              </a:rPr>
              <a:t>Какие функции для него наиболее важны?</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86" y="1669775"/>
            <a:ext cx="2141993" cy="1574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p:cNvGraphicFramePr>
            <a:graphicFrameLocks noChangeAspect="1"/>
          </p:cNvGraphicFramePr>
          <p:nvPr>
            <p:extLst>
              <p:ext uri="{D42A27DB-BD31-4B8C-83A1-F6EECF244321}">
                <p14:modId xmlns:p14="http://schemas.microsoft.com/office/powerpoint/2010/main" val="3948475942"/>
              </p:ext>
            </p:extLst>
          </p:nvPr>
        </p:nvGraphicFramePr>
        <p:xfrm>
          <a:off x="3044289" y="2568270"/>
          <a:ext cx="2289886" cy="2042491"/>
        </p:xfrm>
        <a:graphic>
          <a:graphicData uri="http://schemas.openxmlformats.org/presentationml/2006/ole">
            <mc:AlternateContent xmlns:mc="http://schemas.openxmlformats.org/markup-compatibility/2006">
              <mc:Choice xmlns:v="urn:schemas-microsoft-com:vml" Requires="v">
                <p:oleObj spid="_x0000_s34831" name="Bitmap Image" r:id="rId4" imgW="2553056" imgH="2276793" progId="Paint.Picture">
                  <p:embed/>
                </p:oleObj>
              </mc:Choice>
              <mc:Fallback>
                <p:oleObj name="Bitmap Image" r:id="rId4" imgW="2553056" imgH="2276793" progId="Paint.Picture">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4289" y="2568270"/>
                        <a:ext cx="2289886" cy="204249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334329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0" y="914400"/>
            <a:ext cx="4617706" cy="423186"/>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363538" algn="just">
              <a:buFontTx/>
              <a:buNone/>
            </a:pPr>
            <a:r>
              <a:rPr lang="ru-RU" sz="1400" dirty="0">
                <a:latin typeface="Arial" pitchFamily="34" charset="0"/>
                <a:cs typeface="Arial" pitchFamily="34" charset="0"/>
              </a:rPr>
              <a:t>Итак, вот наш </a:t>
            </a:r>
            <a:r>
              <a:rPr lang="en-US" sz="1400" dirty="0">
                <a:latin typeface="Arial" pitchFamily="34" charset="0"/>
                <a:cs typeface="Arial" pitchFamily="34" charset="0"/>
              </a:rPr>
              <a:t>Smoke test</a:t>
            </a:r>
            <a:r>
              <a:rPr lang="ru-RU" sz="1400" dirty="0">
                <a:latin typeface="Arial" pitchFamily="34" charset="0"/>
                <a:cs typeface="Arial" pitchFamily="34" charset="0"/>
              </a:rPr>
              <a:t>:</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8239" y="1431235"/>
            <a:ext cx="1770256" cy="1789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4"/>
          <p:cNvSpPr>
            <a:spLocks noChangeAspect="1" noChangeArrowheads="1"/>
          </p:cNvSpPr>
          <p:nvPr/>
        </p:nvSpPr>
        <p:spPr bwMode="auto">
          <a:xfrm>
            <a:off x="1017769" y="3757654"/>
            <a:ext cx="4444420" cy="388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ru-RU" dirty="0">
                <a:latin typeface="+mj-lt"/>
                <a:cs typeface="Arial" pitchFamily="34" charset="0"/>
              </a:rPr>
              <a:t>Перенесём его в шаблон для разработки тестов.</a:t>
            </a:r>
          </a:p>
        </p:txBody>
      </p:sp>
    </p:spTree>
    <p:extLst>
      <p:ext uri="{BB962C8B-B14F-4D97-AF65-F5344CB8AC3E}">
        <p14:creationId xmlns:p14="http://schemas.microsoft.com/office/powerpoint/2010/main" val="2766743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4"/>
          <p:cNvSpPr txBox="1">
            <a:spLocks noChangeAspect="1" noChangeArrowheads="1"/>
          </p:cNvSpPr>
          <p:nvPr/>
        </p:nvSpPr>
        <p:spPr bwMode="auto">
          <a:xfrm>
            <a:off x="384148" y="914400"/>
            <a:ext cx="5189717" cy="115252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Фактически, это – чек-лист. И сами пункты грамотно сформированного чек-листа – (почти) готовые заголовки тест-кейсов.</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38" y="1785068"/>
            <a:ext cx="4655326" cy="293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2005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308113" y="961909"/>
            <a:ext cx="6021125" cy="419431"/>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Когда мы распишем наши тесты по правилам, </a:t>
            </a:r>
            <a:r>
              <a:rPr lang="en-US" sz="1400" dirty="0">
                <a:latin typeface="+mj-lt"/>
                <a:cs typeface="Arial" pitchFamily="34" charset="0"/>
              </a:rPr>
              <a:t>Smoke Test </a:t>
            </a:r>
            <a:r>
              <a:rPr lang="ru-RU" sz="1400" dirty="0">
                <a:latin typeface="+mj-lt"/>
                <a:cs typeface="Arial" pitchFamily="34" charset="0"/>
              </a:rPr>
              <a:t>примет следующий вид:</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13" y="1510747"/>
            <a:ext cx="5654219" cy="3285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60122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228600" y="981075"/>
            <a:ext cx="6515238" cy="672796"/>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Аналогичным образом начинаем и продолжаем работать с тестом критического пути:</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218" y="1720546"/>
            <a:ext cx="4712188" cy="287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35606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403529" y="914400"/>
            <a:ext cx="5607024" cy="434257"/>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Tx/>
              <a:buNone/>
            </a:pPr>
            <a:r>
              <a:rPr lang="ru-RU" sz="1400" dirty="0">
                <a:latin typeface="+mj-lt"/>
                <a:cs typeface="Arial" pitchFamily="34" charset="0"/>
              </a:rPr>
              <a:t>Детализируем чек-лист:</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924" y="1563541"/>
            <a:ext cx="3226233" cy="284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474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ru-RU" dirty="0"/>
              <a:t>Пример разработки тестов</a:t>
            </a:r>
            <a:endParaRPr lang="en-US" dirty="0"/>
          </a:p>
        </p:txBody>
      </p:sp>
      <p:sp>
        <p:nvSpPr>
          <p:cNvPr id="4" name="AutoShape 3"/>
          <p:cNvSpPr txBox="1">
            <a:spLocks noChangeAspect="1" noChangeArrowheads="1"/>
          </p:cNvSpPr>
          <p:nvPr/>
        </p:nvSpPr>
        <p:spPr bwMode="auto">
          <a:xfrm>
            <a:off x="329813" y="914400"/>
            <a:ext cx="5585957" cy="1058236"/>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ru-RU" sz="1400" dirty="0">
                <a:latin typeface="+mj-lt"/>
                <a:cs typeface="Arial" pitchFamily="34" charset="0"/>
              </a:rPr>
              <a:t>Продолжаем детализацию до тех пор, пока не получим логичный и достаточный набор тестов. После этого переносим его в шаблон и работаем аналогично тому, как мы делали это при разработке </a:t>
            </a:r>
            <a:r>
              <a:rPr lang="en-US" sz="1400" dirty="0">
                <a:latin typeface="+mj-lt"/>
                <a:cs typeface="Arial" pitchFamily="34" charset="0"/>
              </a:rPr>
              <a:t>Smoke Test.</a:t>
            </a:r>
            <a:endParaRPr lang="ru-RU" sz="1400" dirty="0">
              <a:latin typeface="+mj-lt"/>
              <a:cs typeface="Arial" pitchFamily="34" charset="0"/>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77" y="1972636"/>
            <a:ext cx="2347923"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19343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3393585" y="2048202"/>
            <a:ext cx="2856140" cy="909683"/>
          </a:xfrm>
        </p:spPr>
        <p:txBody>
          <a:bodyPr/>
          <a:lstStyle/>
          <a:p>
            <a:r>
              <a:rPr lang="ru-RU" dirty="0"/>
              <a:t>Вопросы?</a:t>
            </a:r>
            <a:endParaRPr lang="en-US" dirty="0"/>
          </a:p>
        </p:txBody>
      </p:sp>
    </p:spTree>
    <p:extLst>
      <p:ext uri="{BB962C8B-B14F-4D97-AF65-F5344CB8AC3E}">
        <p14:creationId xmlns:p14="http://schemas.microsoft.com/office/powerpoint/2010/main" val="1010990636"/>
      </p:ext>
    </p:extLst>
  </p:cSld>
  <p:clrMapOvr>
    <a:masterClrMapping/>
  </p:clrMapOvr>
</p:sld>
</file>

<file path=ppt/theme/theme1.xml><?xml version="1.0" encoding="utf-8"?>
<a:theme xmlns:a="http://schemas.openxmlformats.org/drawingml/2006/main" name="Cover Slides">
  <a:themeElements>
    <a:clrScheme name="EPAM_Color">
      <a:dk1>
        <a:srgbClr val="464547"/>
      </a:dk1>
      <a:lt1>
        <a:sysClr val="window" lastClr="FFFFFF"/>
      </a:lt1>
      <a:dk2>
        <a:srgbClr val="666666"/>
      </a:dk2>
      <a:lt2>
        <a:srgbClr val="999999"/>
      </a:lt2>
      <a:accent1>
        <a:srgbClr val="CCCCCC"/>
      </a:accent1>
      <a:accent2>
        <a:srgbClr val="39C2D7"/>
      </a:accent2>
      <a:accent3>
        <a:srgbClr val="1B8BA0"/>
      </a:accent3>
      <a:accent4>
        <a:srgbClr val="A3C644"/>
      </a:accent4>
      <a:accent5>
        <a:srgbClr val="7F993A"/>
      </a:accent5>
      <a:accent6>
        <a:srgbClr val="B22746"/>
      </a:accent6>
      <a:hlink>
        <a:srgbClr val="32B6CE"/>
      </a:hlink>
      <a:folHlink>
        <a:srgbClr val="1B8A9F"/>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5ede5379-f79c-4964-9301-1140f96aa672">DOCID-199828462-7919</_dlc_DocId>
    <_dlc_DocIdUrl xmlns="5ede5379-f79c-4964-9301-1140f96aa672">
      <Url>https://epam.sharepoint.com/sites/LMSO/_layouts/15/DocIdRedir.aspx?ID=DOCID-199828462-7919</Url>
      <Description>DOCID-199828462-7919</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7743755D7D314CBDCFF819BBF257D3" ma:contentTypeVersion="9" ma:contentTypeDescription="Create a new document." ma:contentTypeScope="" ma:versionID="03b7e7dfd3325029afb7bbf3ad0febf1">
  <xsd:schema xmlns:xsd="http://www.w3.org/2001/XMLSchema" xmlns:xs="http://www.w3.org/2001/XMLSchema" xmlns:p="http://schemas.microsoft.com/office/2006/metadata/properties" xmlns:ns2="5ede5379-f79c-4964-9301-1140f96aa672" xmlns:ns3="a435e5aa-5e81-42b9-b33b-4f939a73c4ef" targetNamespace="http://schemas.microsoft.com/office/2006/metadata/properties" ma:root="true" ma:fieldsID="6fa3efebff0b496776e2e337aad9895a" ns2:_="" ns3:_="">
    <xsd:import namespace="5ede5379-f79c-4964-9301-1140f96aa672"/>
    <xsd:import namespace="a435e5aa-5e81-42b9-b33b-4f939a73c4ef"/>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de5379-f79c-4964-9301-1140f96aa67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a435e5aa-5e81-42b9-b33b-4f939a73c4e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14883F0F-DE57-4ECA-B9BB-F22E8C5B5D82}">
  <ds:schemaRefs>
    <ds:schemaRef ds:uri="http://schemas.microsoft.com/sharepoint/v3/contenttype/forms"/>
  </ds:schemaRefs>
</ds:datastoreItem>
</file>

<file path=customXml/itemProps2.xml><?xml version="1.0" encoding="utf-8"?>
<ds:datastoreItem xmlns:ds="http://schemas.openxmlformats.org/officeDocument/2006/customXml" ds:itemID="{D5E3C081-4081-47AD-A9A6-9F18F525DA1D}">
  <ds:schemaRefs>
    <ds:schemaRef ds:uri="http://schemas.microsoft.com/office/infopath/2007/PartnerControls"/>
    <ds:schemaRef ds:uri="http://schemas.microsoft.com/office/2006/documentManagement/types"/>
    <ds:schemaRef ds:uri="http://purl.org/dc/terms/"/>
    <ds:schemaRef ds:uri="http://schemas.microsoft.com/office/2006/metadata/properties"/>
    <ds:schemaRef ds:uri="http://www.w3.org/XML/1998/namespace"/>
    <ds:schemaRef ds:uri="http://purl.org/dc/elements/1.1/"/>
    <ds:schemaRef ds:uri="http://purl.org/dc/dcmitype/"/>
    <ds:schemaRef ds:uri="http://schemas.openxmlformats.org/package/2006/metadata/core-properties"/>
    <ds:schemaRef ds:uri="http://schemas.microsoft.com/sharepoint/v3"/>
  </ds:schemaRefs>
</ds:datastoreItem>
</file>

<file path=customXml/itemProps3.xml><?xml version="1.0" encoding="utf-8"?>
<ds:datastoreItem xmlns:ds="http://schemas.openxmlformats.org/officeDocument/2006/customXml" ds:itemID="{738BB5AB-3B61-42C1-BBDC-6B9069BDF655}"/>
</file>

<file path=customXml/itemProps4.xml><?xml version="1.0" encoding="utf-8"?>
<ds:datastoreItem xmlns:ds="http://schemas.openxmlformats.org/officeDocument/2006/customXml" ds:itemID="{3E6EBFE2-412E-433B-B0B5-8167F82E74AC}"/>
</file>

<file path=docProps/app.xml><?xml version="1.0" encoding="utf-8"?>
<Properties xmlns="http://schemas.openxmlformats.org/officeDocument/2006/extended-properties" xmlns:vt="http://schemas.openxmlformats.org/officeDocument/2006/docPropsVTypes">
  <Template>EPAM_PPT_Template_Wide_20150424</Template>
  <TotalTime>2119</TotalTime>
  <Words>3149</Words>
  <Application>Microsoft Office PowerPoint</Application>
  <PresentationFormat>On-screen Show (16:9)</PresentationFormat>
  <Paragraphs>480</Paragraphs>
  <Slides>64</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5" baseType="lpstr">
      <vt:lpstr>-apple-system</vt:lpstr>
      <vt:lpstr>Arial</vt:lpstr>
      <vt:lpstr>Arial Black</vt:lpstr>
      <vt:lpstr>Calibri</vt:lpstr>
      <vt:lpstr>Georgia</vt:lpstr>
      <vt:lpstr>Lucida Grande</vt:lpstr>
      <vt:lpstr>Tahoma</vt:lpstr>
      <vt:lpstr>Trebuchet MS</vt:lpstr>
      <vt:lpstr>Verdana</vt:lpstr>
      <vt:lpstr>Cover Slides</vt:lpstr>
      <vt:lpstr>Bitmap Image</vt:lpstr>
      <vt:lpstr>PowerPoint Presentation</vt:lpstr>
      <vt:lpstr>PowerPoint Presentation</vt:lpstr>
      <vt:lpstr>определения</vt:lpstr>
      <vt:lpstr>PowerPoint Presentation</vt:lpstr>
      <vt:lpstr>Разработка тестов</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Техники тест дизайна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Рекомендации по разработке тестов</vt:lpstr>
      <vt:lpstr>PowerPoint Presentation</vt:lpstr>
      <vt:lpstr>Оформление тест-кейсов</vt:lpstr>
      <vt:lpstr>PowerPoint Presentation</vt:lpstr>
      <vt:lpstr>PowerPoint Presentation</vt:lpstr>
      <vt:lpstr>Свойства хорошего теста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И еще пара слов о хороших тестах</vt:lpstr>
      <vt:lpstr>PowerPoint Presentation</vt:lpstr>
      <vt:lpstr>PowerPoint Presentation</vt:lpstr>
      <vt:lpstr>PowerPoint Presentation</vt:lpstr>
      <vt:lpstr>PowerPoint Presentation</vt:lpstr>
      <vt:lpstr>Процесс разработки тестов</vt:lpstr>
      <vt:lpstr>PowerPoint Presentation</vt:lpstr>
      <vt:lpstr>Тестовые сценарии</vt:lpstr>
      <vt:lpstr>PowerPoint Presentation</vt:lpstr>
      <vt:lpstr>PowerPoint Presentation</vt:lpstr>
      <vt:lpstr>PowerPoint Presentation</vt:lpstr>
      <vt:lpstr>Тестовое Покрытие</vt:lpstr>
      <vt:lpstr>PowerPoint Presentation</vt:lpstr>
      <vt:lpstr>Пример разработки тестов</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EPAM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Elena Stepuro</dc:creator>
  <cp:lastModifiedBy>USERADM</cp:lastModifiedBy>
  <cp:revision>50</cp:revision>
  <cp:lastPrinted>2014-07-09T13:30:36Z</cp:lastPrinted>
  <dcterms:created xsi:type="dcterms:W3CDTF">2017-12-19T09:30:06Z</dcterms:created>
  <dcterms:modified xsi:type="dcterms:W3CDTF">2020-03-20T21:24:01Z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0x010100707743755D7D314CBDCFF819BBF257D3</vt:lpwstr>
  </property>
  <property fmtid="{D5CDD505-2E9C-101B-9397-08002B2CF9AE}" pid="3" name="_dlc_DocIdItemGuid">
    <vt:lpwstr>b6446f33-991d-4eab-8870-b2865ef436f1</vt:lpwstr>
  </property>
</Properties>
</file>