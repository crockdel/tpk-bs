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6" r:id="rId1"/>
  </p:sldMasterIdLst>
  <p:sldIdLst>
    <p:sldId id="256" r:id="rId2"/>
    <p:sldId id="257" r:id="rId3"/>
    <p:sldId id="258" r:id="rId4"/>
    <p:sldId id="259" r:id="rId5"/>
    <p:sldId id="260" r:id="rId6"/>
    <p:sldId id="261" r:id="rId7"/>
    <p:sldId id="262" r:id="rId8"/>
    <p:sldId id="264" r:id="rId9"/>
    <p:sldId id="263"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80" r:id="rId25"/>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6" d="100"/>
          <a:sy n="66" d="100"/>
        </p:scale>
        <p:origin x="792" y="60"/>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kumimoji="0" lang="en-US" sz="7200" b="1" i="0" u="none" strike="noStrike" kern="1200" cap="all" spc="0" normalizeH="0" baseline="0" dirty="0">
                <a:ln w="15875">
                  <a:solidFill>
                    <a:sysClr val="window" lastClr="FFFFFF"/>
                  </a:solidFill>
                </a:ln>
                <a:solidFill>
                  <a:srgbClr val="DF5327"/>
                </a:solidFill>
                <a:effectLst>
                  <a:outerShdw dist="38100" dir="2700000" algn="tl" rotWithShape="0">
                    <a:srgbClr val="DF5327"/>
                  </a:outerShdw>
                </a:effectLst>
                <a:uLnTx/>
                <a:uFillTx/>
                <a:latin typeface="+mj-lt"/>
                <a:ea typeface="+mn-ea"/>
                <a:cs typeface="+mn-cs"/>
              </a:defRPr>
            </a:lvl1pPr>
          </a:lstStyle>
          <a:p>
            <a:r>
              <a:rPr lang="ru-RU" smtClean="0"/>
              <a:t>Образец заголовка</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chemeClr val="accent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ru-RU" smtClean="0"/>
              <a:t>Образец подзаголовка</a:t>
            </a:r>
            <a:endParaRPr lang="en-US" dirty="0"/>
          </a:p>
        </p:txBody>
      </p:sp>
      <p:sp>
        <p:nvSpPr>
          <p:cNvPr id="4" name="Date Placeholder 3"/>
          <p:cNvSpPr>
            <a:spLocks noGrp="1"/>
          </p:cNvSpPr>
          <p:nvPr>
            <p:ph type="dt" sz="half" idx="10"/>
          </p:nvPr>
        </p:nvSpPr>
        <p:spPr/>
        <p:txBody>
          <a:bodyPr/>
          <a:lstStyle>
            <a:lvl1pPr>
              <a:defRPr>
                <a:solidFill>
                  <a:schemeClr val="accent1"/>
                </a:solidFill>
              </a:defRPr>
            </a:lvl1pPr>
          </a:lstStyle>
          <a:p>
            <a:fld id="{7F8D0127-523E-491F-8419-3390C300F901}" type="datetimeFigureOut">
              <a:rPr lang="ru-RU" smtClean="0"/>
              <a:t>19.01.2022</a:t>
            </a:fld>
            <a:endParaRPr lang="ru-RU"/>
          </a:p>
        </p:txBody>
      </p:sp>
      <p:sp>
        <p:nvSpPr>
          <p:cNvPr id="5" name="Footer Placeholder 4"/>
          <p:cNvSpPr>
            <a:spLocks noGrp="1"/>
          </p:cNvSpPr>
          <p:nvPr>
            <p:ph type="ftr" sz="quarter" idx="11"/>
          </p:nvPr>
        </p:nvSpPr>
        <p:spPr/>
        <p:txBody>
          <a:bodyPr/>
          <a:lstStyle>
            <a:lvl1pPr>
              <a:defRPr>
                <a:solidFill>
                  <a:schemeClr val="accent1"/>
                </a:solidFill>
              </a:defRPr>
            </a:lvl1pPr>
          </a:lstStyle>
          <a:p>
            <a:endParaRPr lang="ru-RU"/>
          </a:p>
        </p:txBody>
      </p:sp>
      <p:sp>
        <p:nvSpPr>
          <p:cNvPr id="6" name="Slide Number Placeholder 5"/>
          <p:cNvSpPr>
            <a:spLocks noGrp="1"/>
          </p:cNvSpPr>
          <p:nvPr>
            <p:ph type="sldNum" sz="quarter" idx="12"/>
          </p:nvPr>
        </p:nvSpPr>
        <p:spPr/>
        <p:txBody>
          <a:bodyPr/>
          <a:lstStyle>
            <a:lvl1pPr>
              <a:defRPr>
                <a:solidFill>
                  <a:schemeClr val="accent1"/>
                </a:solidFill>
              </a:defRPr>
            </a:lvl1pPr>
          </a:lstStyle>
          <a:p>
            <a:fld id="{F08E548A-62F2-472B-9041-A00BEF3C3B4D}" type="slidenum">
              <a:rPr lang="ru-RU" smtClean="0"/>
              <a:t>‹#›</a:t>
            </a:fld>
            <a:endParaRPr lang="ru-RU"/>
          </a:p>
        </p:txBody>
      </p:sp>
      <p:cxnSp>
        <p:nvCxnSpPr>
          <p:cNvPr id="8" name="Straight Connector 7"/>
          <p:cNvCxnSpPr/>
          <p:nvPr/>
        </p:nvCxnSpPr>
        <p:spPr>
          <a:xfrm>
            <a:off x="1978660" y="3733800"/>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9413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Content Placeholder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7F8D0127-523E-491F-8419-3390C300F901}" type="datetimeFigureOut">
              <a:rPr lang="ru-RU" smtClean="0"/>
              <a:t>19.01.2022</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F08E548A-62F2-472B-9041-A00BEF3C3B4D}" type="slidenum">
              <a:rPr lang="ru-RU" smtClean="0"/>
              <a:t>‹#›</a:t>
            </a:fld>
            <a:endParaRPr lang="ru-RU"/>
          </a:p>
        </p:txBody>
      </p:sp>
    </p:spTree>
    <p:extLst>
      <p:ext uri="{BB962C8B-B14F-4D97-AF65-F5344CB8AC3E}">
        <p14:creationId xmlns:p14="http://schemas.microsoft.com/office/powerpoint/2010/main" val="41294434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marL="0" algn="ctr" defTabSz="914400" rtl="0" eaLnBrk="1" latinLnBrk="0" hangingPunct="1">
              <a:lnSpc>
                <a:spcPct val="85000"/>
              </a:lnSpc>
              <a:spcBef>
                <a:spcPct val="0"/>
              </a:spcBef>
              <a:buNone/>
              <a:defRPr kumimoji="0" lang="en-US" sz="7200" b="1" i="0" u="none" strike="noStrike" kern="1200" cap="all" spc="0" normalizeH="0" baseline="0" dirty="0">
                <a:ln w="15875">
                  <a:solidFill>
                    <a:sysClr val="window" lastClr="FFFFFF"/>
                  </a:solidFill>
                </a:ln>
                <a:solidFill>
                  <a:srgbClr val="DF5327"/>
                </a:solidFill>
                <a:effectLst>
                  <a:outerShdw dist="38100" dir="2700000" algn="tl" rotWithShape="0">
                    <a:srgbClr val="DF5327"/>
                  </a:outerShdw>
                </a:effectLst>
                <a:uLnTx/>
                <a:uFillTx/>
                <a:latin typeface="Corbel" pitchFamily="34" charset="0"/>
                <a:ea typeface="+mn-ea"/>
                <a:cs typeface="+mn-cs"/>
              </a:defRPr>
            </a:lvl1pPr>
          </a:lstStyle>
          <a:p>
            <a:r>
              <a:rPr lang="ru-RU" smtClean="0"/>
              <a:t>Образец заголовка</a:t>
            </a:r>
            <a:endParaRPr lang="en-US" dirty="0"/>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7F8D0127-523E-491F-8419-3390C300F901}" type="datetimeFigureOut">
              <a:rPr lang="ru-RU" smtClean="0"/>
              <a:t>19.01.2022</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F08E548A-62F2-472B-9041-A00BEF3C3B4D}" type="slidenum">
              <a:rPr lang="ru-RU" smtClean="0"/>
              <a:t>‹#›</a:t>
            </a:fld>
            <a:endParaRPr lang="ru-RU"/>
          </a:p>
        </p:txBody>
      </p:sp>
      <p:cxnSp>
        <p:nvCxnSpPr>
          <p:cNvPr id="7" name="Straight Connector 6"/>
          <p:cNvCxnSpPr/>
          <p:nvPr/>
        </p:nvCxnSpPr>
        <p:spPr>
          <a:xfrm>
            <a:off x="1981200" y="4020408"/>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88244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ru-RU" smtClean="0"/>
              <a:t>Образец заголовка</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Date Placeholder 4"/>
          <p:cNvSpPr>
            <a:spLocks noGrp="1"/>
          </p:cNvSpPr>
          <p:nvPr>
            <p:ph type="dt" sz="half" idx="10"/>
          </p:nvPr>
        </p:nvSpPr>
        <p:spPr/>
        <p:txBody>
          <a:bodyPr/>
          <a:lstStyle/>
          <a:p>
            <a:fld id="{7F8D0127-523E-491F-8419-3390C300F901}" type="datetimeFigureOut">
              <a:rPr lang="ru-RU" smtClean="0"/>
              <a:t>19.01.2022</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F08E548A-62F2-472B-9041-A00BEF3C3B4D}" type="slidenum">
              <a:rPr lang="ru-RU" smtClean="0"/>
              <a:t>‹#›</a:t>
            </a:fld>
            <a:endParaRPr lang="ru-RU"/>
          </a:p>
        </p:txBody>
      </p:sp>
    </p:spTree>
    <p:extLst>
      <p:ext uri="{BB962C8B-B14F-4D97-AF65-F5344CB8AC3E}">
        <p14:creationId xmlns:p14="http://schemas.microsoft.com/office/powerpoint/2010/main" val="35583946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ru-RU" smtClean="0"/>
              <a:t>Образец заголовка</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Date Placeholder 6"/>
          <p:cNvSpPr>
            <a:spLocks noGrp="1"/>
          </p:cNvSpPr>
          <p:nvPr>
            <p:ph type="dt" sz="half" idx="10"/>
          </p:nvPr>
        </p:nvSpPr>
        <p:spPr/>
        <p:txBody>
          <a:bodyPr/>
          <a:lstStyle/>
          <a:p>
            <a:fld id="{7F8D0127-523E-491F-8419-3390C300F901}" type="datetimeFigureOut">
              <a:rPr lang="ru-RU" smtClean="0"/>
              <a:t>19.01.2022</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F08E548A-62F2-472B-9041-A00BEF3C3B4D}" type="slidenum">
              <a:rPr lang="ru-RU" smtClean="0"/>
              <a:t>‹#›</a:t>
            </a:fld>
            <a:endParaRPr lang="ru-RU"/>
          </a:p>
        </p:txBody>
      </p:sp>
    </p:spTree>
    <p:extLst>
      <p:ext uri="{BB962C8B-B14F-4D97-AF65-F5344CB8AC3E}">
        <p14:creationId xmlns:p14="http://schemas.microsoft.com/office/powerpoint/2010/main" val="24295117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Date Placeholder 2"/>
          <p:cNvSpPr>
            <a:spLocks noGrp="1"/>
          </p:cNvSpPr>
          <p:nvPr>
            <p:ph type="dt" sz="half" idx="10"/>
          </p:nvPr>
        </p:nvSpPr>
        <p:spPr/>
        <p:txBody>
          <a:bodyPr/>
          <a:lstStyle/>
          <a:p>
            <a:fld id="{7F8D0127-523E-491F-8419-3390C300F901}" type="datetimeFigureOut">
              <a:rPr lang="ru-RU" smtClean="0"/>
              <a:t>19.01.2022</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F08E548A-62F2-472B-9041-A00BEF3C3B4D}" type="slidenum">
              <a:rPr lang="ru-RU" smtClean="0"/>
              <a:t>‹#›</a:t>
            </a:fld>
            <a:endParaRPr lang="ru-RU"/>
          </a:p>
        </p:txBody>
      </p:sp>
    </p:spTree>
    <p:extLst>
      <p:ext uri="{BB962C8B-B14F-4D97-AF65-F5344CB8AC3E}">
        <p14:creationId xmlns:p14="http://schemas.microsoft.com/office/powerpoint/2010/main" val="20767414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F8D0127-523E-491F-8419-3390C300F901}" type="datetimeFigureOut">
              <a:rPr lang="ru-RU" smtClean="0"/>
              <a:t>19.01.2022</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F08E548A-62F2-472B-9041-A00BEF3C3B4D}" type="slidenum">
              <a:rPr lang="ru-RU" smtClean="0"/>
              <a:t>‹#›</a:t>
            </a:fld>
            <a:endParaRPr lang="ru-RU"/>
          </a:p>
        </p:txBody>
      </p:sp>
    </p:spTree>
    <p:extLst>
      <p:ext uri="{BB962C8B-B14F-4D97-AF65-F5344CB8AC3E}">
        <p14:creationId xmlns:p14="http://schemas.microsoft.com/office/powerpoint/2010/main" val="28709803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ru-RU" smtClean="0"/>
              <a:t>Образец заголовка</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7F8D0127-523E-491F-8419-3390C300F901}" type="datetimeFigureOut">
              <a:rPr lang="ru-RU" smtClean="0"/>
              <a:t>19.01.2022</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F08E548A-62F2-472B-9041-A00BEF3C3B4D}" type="slidenum">
              <a:rPr lang="ru-RU" smtClean="0"/>
              <a:t>‹#›</a:t>
            </a:fld>
            <a:endParaRPr lang="ru-RU"/>
          </a:p>
        </p:txBody>
      </p:sp>
    </p:spTree>
    <p:extLst>
      <p:ext uri="{BB962C8B-B14F-4D97-AF65-F5344CB8AC3E}">
        <p14:creationId xmlns:p14="http://schemas.microsoft.com/office/powerpoint/2010/main" val="19248843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ru-RU" smtClean="0"/>
              <a:t>Образец заголовка</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smtClean="0"/>
              <a:t>Вставка рисунка</a:t>
            </a:r>
            <a:endParaRPr lang="en-US"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7F8D0127-523E-491F-8419-3390C300F901}" type="datetimeFigureOut">
              <a:rPr lang="ru-RU" smtClean="0"/>
              <a:t>19.01.2022</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F08E548A-62F2-472B-9041-A00BEF3C3B4D}" type="slidenum">
              <a:rPr lang="ru-RU" smtClean="0"/>
              <a:t>‹#›</a:t>
            </a:fld>
            <a:endParaRPr lang="ru-RU"/>
          </a:p>
        </p:txBody>
      </p:sp>
    </p:spTree>
    <p:extLst>
      <p:ext uri="{BB962C8B-B14F-4D97-AF65-F5344CB8AC3E}">
        <p14:creationId xmlns:p14="http://schemas.microsoft.com/office/powerpoint/2010/main" val="18676552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Vertical Text Placeholder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7F8D0127-523E-491F-8419-3390C300F901}" type="datetimeFigureOut">
              <a:rPr lang="ru-RU" smtClean="0"/>
              <a:t>19.01.2022</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F08E548A-62F2-472B-9041-A00BEF3C3B4D}" type="slidenum">
              <a:rPr lang="ru-RU" smtClean="0"/>
              <a:t>‹#›</a:t>
            </a:fld>
            <a:endParaRPr lang="ru-RU"/>
          </a:p>
        </p:txBody>
      </p:sp>
    </p:spTree>
    <p:extLst>
      <p:ext uri="{BB962C8B-B14F-4D97-AF65-F5344CB8AC3E}">
        <p14:creationId xmlns:p14="http://schemas.microsoft.com/office/powerpoint/2010/main" val="18011507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ru-RU" smtClean="0"/>
              <a:t>Образец заголовка</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7F8D0127-523E-491F-8419-3390C300F901}" type="datetimeFigureOut">
              <a:rPr lang="ru-RU" smtClean="0"/>
              <a:t>19.01.2022</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F08E548A-62F2-472B-9041-A00BEF3C3B4D}" type="slidenum">
              <a:rPr lang="ru-RU" smtClean="0"/>
              <a:t>‹#›</a:t>
            </a:fld>
            <a:endParaRPr lang="ru-RU"/>
          </a:p>
        </p:txBody>
      </p:sp>
    </p:spTree>
    <p:extLst>
      <p:ext uri="{BB962C8B-B14F-4D97-AF65-F5344CB8AC3E}">
        <p14:creationId xmlns:p14="http://schemas.microsoft.com/office/powerpoint/2010/main" val="32535064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ru-RU" smtClean="0"/>
              <a:t>Образец заголовка</a:t>
            </a:r>
            <a:endParaRPr lang="en-US" dirty="0"/>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accent1"/>
                </a:solidFill>
              </a:defRPr>
            </a:lvl1pPr>
          </a:lstStyle>
          <a:p>
            <a:fld id="{7F8D0127-523E-491F-8419-3390C300F901}" type="datetimeFigureOut">
              <a:rPr lang="ru-RU" smtClean="0"/>
              <a:t>19.01.2022</a:t>
            </a:fld>
            <a:endParaRPr lang="ru-RU"/>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accent1"/>
                </a:solidFill>
              </a:defRPr>
            </a:lvl1pPr>
          </a:lstStyle>
          <a:p>
            <a:endParaRPr lang="ru-RU"/>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accent1"/>
                </a:solidFill>
              </a:defRPr>
            </a:lvl1pPr>
          </a:lstStyle>
          <a:p>
            <a:fld id="{F08E548A-62F2-472B-9041-A00BEF3C3B4D}" type="slidenum">
              <a:rPr lang="ru-RU" smtClean="0"/>
              <a:t>‹#›</a:t>
            </a:fld>
            <a:endParaRPr lang="ru-RU"/>
          </a:p>
        </p:txBody>
      </p:sp>
    </p:spTree>
    <p:extLst>
      <p:ext uri="{BB962C8B-B14F-4D97-AF65-F5344CB8AC3E}">
        <p14:creationId xmlns:p14="http://schemas.microsoft.com/office/powerpoint/2010/main" val="1527743061"/>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txStyles>
    <p:title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p:titleStyle>
    <p:bodyStyle>
      <a:lvl1pPr marL="228600" indent="-182880" algn="l" defTabSz="914400" rtl="0" eaLnBrk="1" latinLnBrk="0" hangingPunct="1">
        <a:lnSpc>
          <a:spcPct val="90000"/>
        </a:lnSpc>
        <a:spcBef>
          <a:spcPts val="1400"/>
        </a:spcBef>
        <a:buClr>
          <a:schemeClr val="accent1"/>
        </a:buClr>
        <a:buSzPct val="80000"/>
        <a:buFont typeface="Corbel" pitchFamily="34" charset="0"/>
        <a:buChar char="•"/>
        <a:defRPr sz="2200" kern="1200">
          <a:solidFill>
            <a:schemeClr val="accent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2000" kern="1200">
          <a:solidFill>
            <a:schemeClr val="accent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r>
              <a:rPr lang="ru-RU" dirty="0">
                <a:effectLst/>
              </a:rPr>
              <a:t>Тестовая </a:t>
            </a:r>
            <a:r>
              <a:rPr lang="ru-RU" dirty="0" smtClean="0">
                <a:effectLst/>
              </a:rPr>
              <a:t>документация</a:t>
            </a:r>
            <a:endParaRPr lang="ru-RU" dirty="0"/>
          </a:p>
        </p:txBody>
      </p:sp>
      <p:sp>
        <p:nvSpPr>
          <p:cNvPr id="3" name="Подзаголовок 2"/>
          <p:cNvSpPr>
            <a:spLocks noGrp="1"/>
          </p:cNvSpPr>
          <p:nvPr>
            <p:ph type="subTitle" idx="1"/>
          </p:nvPr>
        </p:nvSpPr>
        <p:spPr/>
        <p:txBody>
          <a:bodyPr/>
          <a:lstStyle/>
          <a:p>
            <a:endParaRPr lang="ru-RU"/>
          </a:p>
        </p:txBody>
      </p:sp>
    </p:spTree>
    <p:extLst>
      <p:ext uri="{BB962C8B-B14F-4D97-AF65-F5344CB8AC3E}">
        <p14:creationId xmlns:p14="http://schemas.microsoft.com/office/powerpoint/2010/main" val="311176342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dirty="0"/>
              <a:t>Тестовая </a:t>
            </a:r>
            <a:r>
              <a:rPr lang="ru-RU" b="1" dirty="0" smtClean="0"/>
              <a:t>документация</a:t>
            </a:r>
            <a:endParaRPr lang="ru-RU" dirty="0"/>
          </a:p>
        </p:txBody>
      </p:sp>
      <p:sp>
        <p:nvSpPr>
          <p:cNvPr id="3" name="Объект 2"/>
          <p:cNvSpPr>
            <a:spLocks noGrp="1"/>
          </p:cNvSpPr>
          <p:nvPr>
            <p:ph idx="1"/>
          </p:nvPr>
        </p:nvSpPr>
        <p:spPr>
          <a:xfrm>
            <a:off x="360218" y="1731817"/>
            <a:ext cx="11471563" cy="4779819"/>
          </a:xfrm>
        </p:spPr>
        <p:txBody>
          <a:bodyPr>
            <a:normAutofit/>
          </a:bodyPr>
          <a:lstStyle/>
          <a:p>
            <a:pPr marL="45720" indent="0">
              <a:buNone/>
            </a:pPr>
            <a:r>
              <a:rPr lang="ru-RU" sz="2400" b="1" dirty="0">
                <a:solidFill>
                  <a:schemeClr val="accent2">
                    <a:lumMod val="50000"/>
                  </a:schemeClr>
                </a:solidFill>
              </a:rPr>
              <a:t>Создание тестовой документации является вторым этапом жизненного цикла ПО.</a:t>
            </a:r>
          </a:p>
          <a:p>
            <a:pPr marL="45720" indent="0">
              <a:buNone/>
            </a:pPr>
            <a:r>
              <a:rPr lang="ru-RU" sz="2400" dirty="0">
                <a:solidFill>
                  <a:schemeClr val="accent2">
                    <a:lumMod val="50000"/>
                  </a:schemeClr>
                </a:solidFill>
              </a:rPr>
              <a:t>Тестовая документация включает в себя:</a:t>
            </a:r>
          </a:p>
          <a:p>
            <a:pPr lvl="2"/>
            <a:r>
              <a:rPr lang="ru-RU" sz="2400" dirty="0">
                <a:solidFill>
                  <a:schemeClr val="accent2">
                    <a:lumMod val="50000"/>
                  </a:schemeClr>
                </a:solidFill>
              </a:rPr>
              <a:t>тест план;</a:t>
            </a:r>
          </a:p>
          <a:p>
            <a:pPr lvl="2"/>
            <a:r>
              <a:rPr lang="ru-RU" sz="2400" dirty="0">
                <a:solidFill>
                  <a:schemeClr val="accent2">
                    <a:lumMod val="50000"/>
                  </a:schemeClr>
                </a:solidFill>
              </a:rPr>
              <a:t>тестовая стратегия;</a:t>
            </a:r>
          </a:p>
          <a:p>
            <a:pPr lvl="2"/>
            <a:r>
              <a:rPr lang="ru-RU" sz="2400" dirty="0">
                <a:solidFill>
                  <a:schemeClr val="accent2">
                    <a:lumMod val="50000"/>
                  </a:schemeClr>
                </a:solidFill>
              </a:rPr>
              <a:t>чек-лист;</a:t>
            </a:r>
          </a:p>
          <a:p>
            <a:pPr lvl="2"/>
            <a:r>
              <a:rPr lang="ru-RU" sz="2400" dirty="0">
                <a:solidFill>
                  <a:schemeClr val="accent2">
                    <a:lumMod val="50000"/>
                  </a:schemeClr>
                </a:solidFill>
              </a:rPr>
              <a:t>тестовый </a:t>
            </a:r>
            <a:r>
              <a:rPr lang="ru-RU" sz="2400" dirty="0" smtClean="0">
                <a:solidFill>
                  <a:schemeClr val="accent2">
                    <a:lumMod val="50000"/>
                  </a:schemeClr>
                </a:solidFill>
              </a:rPr>
              <a:t>сценарий (тест кейс);</a:t>
            </a:r>
            <a:endParaRPr lang="ru-RU" sz="2400" dirty="0">
              <a:solidFill>
                <a:schemeClr val="accent2">
                  <a:lumMod val="50000"/>
                </a:schemeClr>
              </a:solidFill>
            </a:endParaRPr>
          </a:p>
          <a:p>
            <a:pPr lvl="2"/>
            <a:r>
              <a:rPr lang="ru-RU" sz="2400" dirty="0">
                <a:solidFill>
                  <a:schemeClr val="accent2">
                    <a:lumMod val="50000"/>
                  </a:schemeClr>
                </a:solidFill>
              </a:rPr>
              <a:t>тестовый комплект;</a:t>
            </a:r>
          </a:p>
          <a:p>
            <a:pPr lvl="2"/>
            <a:r>
              <a:rPr lang="ru-RU" sz="2400" dirty="0">
                <a:solidFill>
                  <a:schemeClr val="accent2">
                    <a:lumMod val="50000"/>
                  </a:schemeClr>
                </a:solidFill>
              </a:rPr>
              <a:t>пользовательская история (</a:t>
            </a:r>
            <a:r>
              <a:rPr lang="ru-RU" sz="2400" dirty="0" err="1">
                <a:solidFill>
                  <a:schemeClr val="accent2">
                    <a:lumMod val="50000"/>
                  </a:schemeClr>
                </a:solidFill>
              </a:rPr>
              <a:t>User</a:t>
            </a:r>
            <a:r>
              <a:rPr lang="ru-RU" sz="2400" dirty="0">
                <a:solidFill>
                  <a:schemeClr val="accent2">
                    <a:lumMod val="50000"/>
                  </a:schemeClr>
                </a:solidFill>
              </a:rPr>
              <a:t> </a:t>
            </a:r>
            <a:r>
              <a:rPr lang="ru-RU" sz="2400" dirty="0" err="1">
                <a:solidFill>
                  <a:schemeClr val="accent2">
                    <a:lumMod val="50000"/>
                  </a:schemeClr>
                </a:solidFill>
              </a:rPr>
              <a:t>Story</a:t>
            </a:r>
            <a:r>
              <a:rPr lang="ru-RU" sz="2400" dirty="0">
                <a:solidFill>
                  <a:schemeClr val="accent2">
                    <a:lumMod val="50000"/>
                  </a:schemeClr>
                </a:solidFill>
              </a:rPr>
              <a:t>);</a:t>
            </a:r>
          </a:p>
          <a:p>
            <a:pPr lvl="2"/>
            <a:r>
              <a:rPr lang="ru-RU" sz="2400" dirty="0">
                <a:solidFill>
                  <a:schemeClr val="accent2">
                    <a:lumMod val="50000"/>
                  </a:schemeClr>
                </a:solidFill>
              </a:rPr>
              <a:t>отчет о дефекте</a:t>
            </a:r>
            <a:r>
              <a:rPr lang="ru-RU" sz="2400" dirty="0" smtClean="0">
                <a:solidFill>
                  <a:schemeClr val="accent2">
                    <a:lumMod val="50000"/>
                  </a:schemeClr>
                </a:solidFill>
              </a:rPr>
              <a:t>.</a:t>
            </a:r>
            <a:endParaRPr lang="ru-RU" sz="2400" dirty="0">
              <a:solidFill>
                <a:schemeClr val="accent2">
                  <a:lumMod val="50000"/>
                </a:schemeClr>
              </a:solidFill>
            </a:endParaRPr>
          </a:p>
        </p:txBody>
      </p:sp>
    </p:spTree>
    <p:extLst>
      <p:ext uri="{BB962C8B-B14F-4D97-AF65-F5344CB8AC3E}">
        <p14:creationId xmlns:p14="http://schemas.microsoft.com/office/powerpoint/2010/main" val="363350427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dirty="0" smtClean="0"/>
              <a:t>Тест план</a:t>
            </a:r>
            <a:endParaRPr lang="ru-RU" dirty="0"/>
          </a:p>
        </p:txBody>
      </p:sp>
      <p:sp>
        <p:nvSpPr>
          <p:cNvPr id="3" name="Объект 2"/>
          <p:cNvSpPr>
            <a:spLocks noGrp="1"/>
          </p:cNvSpPr>
          <p:nvPr>
            <p:ph idx="1"/>
          </p:nvPr>
        </p:nvSpPr>
        <p:spPr>
          <a:xfrm>
            <a:off x="374073" y="1593273"/>
            <a:ext cx="11429999" cy="4849091"/>
          </a:xfrm>
        </p:spPr>
        <p:txBody>
          <a:bodyPr>
            <a:normAutofit/>
          </a:bodyPr>
          <a:lstStyle/>
          <a:p>
            <a:pPr marL="45720" indent="0">
              <a:buNone/>
            </a:pPr>
            <a:r>
              <a:rPr lang="ru-RU" sz="2400" b="1" dirty="0">
                <a:solidFill>
                  <a:schemeClr val="accent2">
                    <a:lumMod val="50000"/>
                  </a:schemeClr>
                </a:solidFill>
              </a:rPr>
              <a:t>Хороший тест план должен описывать следующее:</a:t>
            </a:r>
            <a:endParaRPr lang="ru-RU" sz="2400" dirty="0">
              <a:solidFill>
                <a:schemeClr val="accent2">
                  <a:lumMod val="50000"/>
                </a:schemeClr>
              </a:solidFill>
            </a:endParaRPr>
          </a:p>
          <a:p>
            <a:r>
              <a:rPr lang="ru-RU" sz="2400" dirty="0">
                <a:solidFill>
                  <a:schemeClr val="accent2">
                    <a:lumMod val="50000"/>
                  </a:schemeClr>
                </a:solidFill>
              </a:rPr>
              <a:t>Что надо тестировать? Описание объекта тестирования: системы, приложения, оборудования.</a:t>
            </a:r>
          </a:p>
          <a:p>
            <a:r>
              <a:rPr lang="ru-RU" sz="2400" dirty="0">
                <a:solidFill>
                  <a:schemeClr val="accent2">
                    <a:lumMod val="50000"/>
                  </a:schemeClr>
                </a:solidFill>
              </a:rPr>
              <a:t>Что будете тестировать? Список функций и описание тестируемой системы и её компонент в отдельности.</a:t>
            </a:r>
          </a:p>
          <a:p>
            <a:r>
              <a:rPr lang="ru-RU" sz="2400" dirty="0">
                <a:solidFill>
                  <a:schemeClr val="accent2">
                    <a:lumMod val="50000"/>
                  </a:schemeClr>
                </a:solidFill>
              </a:rPr>
              <a:t>Как будете тестировать? Стратегия тестирования, а именно: виды тестирования и их применение по отношению к объекту тестирования.</a:t>
            </a:r>
          </a:p>
          <a:p>
            <a:r>
              <a:rPr lang="ru-RU" sz="2400" dirty="0">
                <a:solidFill>
                  <a:schemeClr val="accent2">
                    <a:lumMod val="50000"/>
                  </a:schemeClr>
                </a:solidFill>
              </a:rPr>
              <a:t>Когда будете тестировать? Последовательность проведения работ: </a:t>
            </a:r>
            <a:r>
              <a:rPr lang="ru-RU" sz="2400" dirty="0" smtClean="0">
                <a:solidFill>
                  <a:schemeClr val="accent2">
                    <a:lumMod val="50000"/>
                  </a:schemeClr>
                </a:solidFill>
              </a:rPr>
              <a:t>подготовка, тестирование, </a:t>
            </a:r>
            <a:r>
              <a:rPr lang="ru-RU" sz="2400" dirty="0">
                <a:solidFill>
                  <a:schemeClr val="accent2">
                    <a:lumMod val="50000"/>
                  </a:schemeClr>
                </a:solidFill>
              </a:rPr>
              <a:t>анализ результатов </a:t>
            </a:r>
            <a:r>
              <a:rPr lang="ru-RU" sz="2400" dirty="0" smtClean="0">
                <a:solidFill>
                  <a:schemeClr val="accent2">
                    <a:lumMod val="50000"/>
                  </a:schemeClr>
                </a:solidFill>
              </a:rPr>
              <a:t>в </a:t>
            </a:r>
            <a:r>
              <a:rPr lang="ru-RU" sz="2400" dirty="0">
                <a:solidFill>
                  <a:schemeClr val="accent2">
                    <a:lumMod val="50000"/>
                  </a:schemeClr>
                </a:solidFill>
              </a:rPr>
              <a:t>разрезе запланированных фаз разработки</a:t>
            </a:r>
            <a:r>
              <a:rPr lang="ru-RU" sz="2400" dirty="0" smtClean="0">
                <a:solidFill>
                  <a:schemeClr val="accent2">
                    <a:lumMod val="50000"/>
                  </a:schemeClr>
                </a:solidFill>
              </a:rPr>
              <a:t>.</a:t>
            </a:r>
            <a:endParaRPr lang="ru-RU" sz="2400" dirty="0">
              <a:solidFill>
                <a:schemeClr val="accent2">
                  <a:lumMod val="50000"/>
                </a:schemeClr>
              </a:solidFill>
            </a:endParaRPr>
          </a:p>
        </p:txBody>
      </p:sp>
    </p:spTree>
    <p:extLst>
      <p:ext uri="{BB962C8B-B14F-4D97-AF65-F5344CB8AC3E}">
        <p14:creationId xmlns:p14="http://schemas.microsoft.com/office/powerpoint/2010/main" val="200715325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dirty="0" smtClean="0"/>
              <a:t>Тест план</a:t>
            </a:r>
            <a:endParaRPr lang="ru-RU" dirty="0"/>
          </a:p>
        </p:txBody>
      </p:sp>
      <p:sp>
        <p:nvSpPr>
          <p:cNvPr id="3" name="Объект 2"/>
          <p:cNvSpPr>
            <a:spLocks noGrp="1"/>
          </p:cNvSpPr>
          <p:nvPr>
            <p:ph idx="1"/>
          </p:nvPr>
        </p:nvSpPr>
        <p:spPr>
          <a:xfrm>
            <a:off x="374073" y="1593273"/>
            <a:ext cx="11429999" cy="4849091"/>
          </a:xfrm>
        </p:spPr>
        <p:txBody>
          <a:bodyPr>
            <a:normAutofit/>
          </a:bodyPr>
          <a:lstStyle/>
          <a:p>
            <a:pPr marL="45720" indent="0">
              <a:buNone/>
            </a:pPr>
            <a:r>
              <a:rPr lang="ru-RU" sz="2400" b="1" dirty="0">
                <a:solidFill>
                  <a:schemeClr val="accent2">
                    <a:lumMod val="50000"/>
                  </a:schemeClr>
                </a:solidFill>
              </a:rPr>
              <a:t>Преимущества тест плана:</a:t>
            </a:r>
            <a:endParaRPr lang="ru-RU" sz="2400" dirty="0">
              <a:solidFill>
                <a:schemeClr val="accent2">
                  <a:lumMod val="50000"/>
                </a:schemeClr>
              </a:solidFill>
            </a:endParaRPr>
          </a:p>
          <a:p>
            <a:pPr lvl="1"/>
            <a:r>
              <a:rPr lang="ru-RU" sz="2400" dirty="0">
                <a:solidFill>
                  <a:schemeClr val="accent2">
                    <a:lumMod val="50000"/>
                  </a:schemeClr>
                </a:solidFill>
              </a:rPr>
              <a:t>Возможность </a:t>
            </a:r>
            <a:r>
              <a:rPr lang="ru-RU" sz="2400" dirty="0" err="1">
                <a:solidFill>
                  <a:schemeClr val="accent2">
                    <a:lumMod val="50000"/>
                  </a:schemeClr>
                </a:solidFill>
              </a:rPr>
              <a:t>приоритезации</a:t>
            </a:r>
            <a:r>
              <a:rPr lang="ru-RU" sz="2400" dirty="0">
                <a:solidFill>
                  <a:schemeClr val="accent2">
                    <a:lumMod val="50000"/>
                  </a:schemeClr>
                </a:solidFill>
              </a:rPr>
              <a:t> задач по тестированию.</a:t>
            </a:r>
          </a:p>
          <a:p>
            <a:pPr lvl="1"/>
            <a:r>
              <a:rPr lang="ru-RU" sz="2400" dirty="0">
                <a:solidFill>
                  <a:schemeClr val="accent2">
                    <a:lumMod val="50000"/>
                  </a:schemeClr>
                </a:solidFill>
              </a:rPr>
              <a:t>Построение стратегии тестирования, согласованной со всей командой.</a:t>
            </a:r>
          </a:p>
          <a:p>
            <a:pPr lvl="1"/>
            <a:r>
              <a:rPr lang="ru-RU" sz="2400" dirty="0">
                <a:solidFill>
                  <a:schemeClr val="accent2">
                    <a:lumMod val="50000"/>
                  </a:schemeClr>
                </a:solidFill>
              </a:rPr>
              <a:t>Возможность вести учет всех требуемых ресурсов (как технических, так и человеческих).</a:t>
            </a:r>
          </a:p>
          <a:p>
            <a:pPr lvl="1"/>
            <a:r>
              <a:rPr lang="ru-RU" sz="2400" dirty="0">
                <a:solidFill>
                  <a:schemeClr val="accent2">
                    <a:lumMod val="50000"/>
                  </a:schemeClr>
                </a:solidFill>
              </a:rPr>
              <a:t>Планирование использования ресурсов на тестирование.</a:t>
            </a:r>
          </a:p>
          <a:p>
            <a:pPr lvl="1"/>
            <a:r>
              <a:rPr lang="ru-RU" sz="2400" dirty="0">
                <a:solidFill>
                  <a:schemeClr val="accent2">
                    <a:lumMod val="50000"/>
                  </a:schemeClr>
                </a:solidFill>
              </a:rPr>
              <a:t>Просчет </a:t>
            </a:r>
            <a:r>
              <a:rPr lang="ru-RU" sz="2400" dirty="0" smtClean="0">
                <a:solidFill>
                  <a:schemeClr val="accent2">
                    <a:lumMod val="50000"/>
                  </a:schemeClr>
                </a:solidFill>
              </a:rPr>
              <a:t>рисков</a:t>
            </a:r>
            <a:r>
              <a:rPr lang="ru-RU" sz="2400" dirty="0">
                <a:solidFill>
                  <a:schemeClr val="accent2">
                    <a:lumMod val="50000"/>
                  </a:schemeClr>
                </a:solidFill>
              </a:rPr>
              <a:t>, возможных при проведении тестирования</a:t>
            </a:r>
            <a:r>
              <a:rPr lang="ru-RU" sz="2400" dirty="0" smtClean="0">
                <a:solidFill>
                  <a:schemeClr val="accent2">
                    <a:lumMod val="50000"/>
                  </a:schemeClr>
                </a:solidFill>
              </a:rPr>
              <a:t>.</a:t>
            </a:r>
          </a:p>
          <a:p>
            <a:pPr marL="45720" indent="0">
              <a:buNone/>
            </a:pPr>
            <a:r>
              <a:rPr lang="ru-RU" sz="2400" dirty="0">
                <a:solidFill>
                  <a:schemeClr val="accent2">
                    <a:lumMod val="50000"/>
                  </a:schemeClr>
                </a:solidFill>
              </a:rPr>
              <a:t>Составляющей частью планирования тестирования (как отдельного документа или же процесса планирования в целом) является стратегия тестирования. Стратегия может быть:</a:t>
            </a:r>
          </a:p>
          <a:p>
            <a:pPr lvl="1"/>
            <a:r>
              <a:rPr lang="ru-RU" sz="2400" dirty="0">
                <a:solidFill>
                  <a:schemeClr val="accent2">
                    <a:lumMod val="50000"/>
                  </a:schemeClr>
                </a:solidFill>
              </a:rPr>
              <a:t>Частью общего тест-плана.</a:t>
            </a:r>
          </a:p>
          <a:p>
            <a:pPr lvl="1"/>
            <a:r>
              <a:rPr lang="ru-RU" sz="2400" dirty="0">
                <a:solidFill>
                  <a:schemeClr val="accent2">
                    <a:lumMod val="50000"/>
                  </a:schemeClr>
                </a:solidFill>
              </a:rPr>
              <a:t>Отдельным документом.</a:t>
            </a:r>
          </a:p>
          <a:p>
            <a:pPr marL="45720" indent="0">
              <a:buNone/>
            </a:pPr>
            <a:endParaRPr lang="ru-RU" sz="2400" dirty="0">
              <a:solidFill>
                <a:schemeClr val="accent2">
                  <a:lumMod val="50000"/>
                </a:schemeClr>
              </a:solidFill>
            </a:endParaRPr>
          </a:p>
        </p:txBody>
      </p:sp>
    </p:spTree>
    <p:extLst>
      <p:ext uri="{BB962C8B-B14F-4D97-AF65-F5344CB8AC3E}">
        <p14:creationId xmlns:p14="http://schemas.microsoft.com/office/powerpoint/2010/main" val="197192744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dirty="0"/>
              <a:t>Тестовая стратегия</a:t>
            </a:r>
            <a:endParaRPr lang="ru-RU" dirty="0"/>
          </a:p>
        </p:txBody>
      </p:sp>
      <p:sp>
        <p:nvSpPr>
          <p:cNvPr id="3" name="Объект 2"/>
          <p:cNvSpPr>
            <a:spLocks noGrp="1"/>
          </p:cNvSpPr>
          <p:nvPr>
            <p:ph idx="1"/>
          </p:nvPr>
        </p:nvSpPr>
        <p:spPr>
          <a:xfrm>
            <a:off x="374073" y="2057400"/>
            <a:ext cx="11485417" cy="4468092"/>
          </a:xfrm>
        </p:spPr>
        <p:txBody>
          <a:bodyPr>
            <a:normAutofit/>
          </a:bodyPr>
          <a:lstStyle/>
          <a:p>
            <a:pPr marL="45720" indent="0">
              <a:buNone/>
            </a:pPr>
            <a:r>
              <a:rPr lang="ru-RU" sz="2400" b="1" dirty="0">
                <a:solidFill>
                  <a:schemeClr val="accent2">
                    <a:lumMod val="50000"/>
                  </a:schemeClr>
                </a:solidFill>
              </a:rPr>
              <a:t>Тестовая стратегия </a:t>
            </a:r>
            <a:r>
              <a:rPr lang="ru-RU" sz="2400" dirty="0">
                <a:solidFill>
                  <a:schemeClr val="accent2">
                    <a:lumMod val="50000"/>
                  </a:schemeClr>
                </a:solidFill>
              </a:rPr>
              <a:t>определяет то, как мы тестируем продукт. Это набор мыслей и идей, которые направляют процесс тестирования.</a:t>
            </a:r>
          </a:p>
          <a:p>
            <a:pPr marL="45720" indent="0">
              <a:buNone/>
            </a:pPr>
            <a:r>
              <a:rPr lang="ru-RU" sz="2400" dirty="0">
                <a:solidFill>
                  <a:schemeClr val="accent2">
                    <a:lumMod val="50000"/>
                  </a:schemeClr>
                </a:solidFill>
              </a:rPr>
              <a:t>В стратегии тестирования описывают:</a:t>
            </a:r>
          </a:p>
          <a:p>
            <a:pPr lvl="1"/>
            <a:r>
              <a:rPr lang="ru-RU" sz="2400" dirty="0">
                <a:solidFill>
                  <a:schemeClr val="accent2">
                    <a:lumMod val="50000"/>
                  </a:schemeClr>
                </a:solidFill>
              </a:rPr>
              <a:t>Тестовую среду.</a:t>
            </a:r>
          </a:p>
          <a:p>
            <a:pPr lvl="1"/>
            <a:r>
              <a:rPr lang="ru-RU" sz="2400" dirty="0">
                <a:solidFill>
                  <a:schemeClr val="accent2">
                    <a:lumMod val="50000"/>
                  </a:schemeClr>
                </a:solidFill>
              </a:rPr>
              <a:t>Анализ рисков проекта.</a:t>
            </a:r>
          </a:p>
          <a:p>
            <a:pPr lvl="1"/>
            <a:r>
              <a:rPr lang="ru-RU" sz="2400" dirty="0">
                <a:solidFill>
                  <a:schemeClr val="accent2">
                    <a:lumMod val="50000"/>
                  </a:schemeClr>
                </a:solidFill>
              </a:rPr>
              <a:t>Инструменты, которые будут использовать, чтобы провести автоматизированное тестирование и для других целей.</a:t>
            </a:r>
          </a:p>
          <a:p>
            <a:pPr lvl="1"/>
            <a:r>
              <a:rPr lang="ru-RU" sz="2400" dirty="0">
                <a:solidFill>
                  <a:schemeClr val="accent2">
                    <a:lumMod val="50000"/>
                  </a:schemeClr>
                </a:solidFill>
              </a:rPr>
              <a:t>План действий при непредвиденных обстоятельствах</a:t>
            </a:r>
            <a:r>
              <a:rPr lang="ru-RU" sz="2400" dirty="0" smtClean="0">
                <a:solidFill>
                  <a:schemeClr val="accent2">
                    <a:lumMod val="50000"/>
                  </a:schemeClr>
                </a:solidFill>
              </a:rPr>
              <a:t>.</a:t>
            </a:r>
            <a:endParaRPr lang="ru-RU" sz="2400" dirty="0">
              <a:solidFill>
                <a:schemeClr val="accent2">
                  <a:lumMod val="50000"/>
                </a:schemeClr>
              </a:solidFill>
            </a:endParaRPr>
          </a:p>
        </p:txBody>
      </p:sp>
    </p:spTree>
    <p:extLst>
      <p:ext uri="{BB962C8B-B14F-4D97-AF65-F5344CB8AC3E}">
        <p14:creationId xmlns:p14="http://schemas.microsoft.com/office/powerpoint/2010/main" val="76270390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dirty="0" smtClean="0"/>
              <a:t>Чек-листы</a:t>
            </a:r>
            <a:endParaRPr lang="ru-RU" dirty="0"/>
          </a:p>
        </p:txBody>
      </p:sp>
      <p:sp>
        <p:nvSpPr>
          <p:cNvPr id="3" name="Объект 2"/>
          <p:cNvSpPr>
            <a:spLocks noGrp="1"/>
          </p:cNvSpPr>
          <p:nvPr>
            <p:ph idx="1"/>
          </p:nvPr>
        </p:nvSpPr>
        <p:spPr>
          <a:xfrm>
            <a:off x="512618" y="1731818"/>
            <a:ext cx="10503253" cy="4364182"/>
          </a:xfrm>
        </p:spPr>
        <p:txBody>
          <a:bodyPr>
            <a:normAutofit/>
          </a:bodyPr>
          <a:lstStyle/>
          <a:p>
            <a:pPr marL="45720" indent="0">
              <a:buNone/>
            </a:pPr>
            <a:r>
              <a:rPr lang="ru-RU" sz="2400" dirty="0">
                <a:solidFill>
                  <a:schemeClr val="accent2">
                    <a:lumMod val="50000"/>
                  </a:schemeClr>
                </a:solidFill>
              </a:rPr>
              <a:t>Обязательно должен содержать в себе следующую информацию:</a:t>
            </a:r>
          </a:p>
          <a:p>
            <a:pPr lvl="1"/>
            <a:r>
              <a:rPr lang="ru-RU" sz="2400" dirty="0">
                <a:solidFill>
                  <a:schemeClr val="accent2">
                    <a:lumMod val="50000"/>
                  </a:schemeClr>
                </a:solidFill>
              </a:rPr>
              <a:t>идея проверок;</a:t>
            </a:r>
          </a:p>
          <a:p>
            <a:pPr lvl="1"/>
            <a:r>
              <a:rPr lang="ru-RU" sz="2400" dirty="0">
                <a:solidFill>
                  <a:schemeClr val="accent2">
                    <a:lumMod val="50000"/>
                  </a:schemeClr>
                </a:solidFill>
              </a:rPr>
              <a:t>набор входных данных;</a:t>
            </a:r>
          </a:p>
          <a:p>
            <a:pPr lvl="1"/>
            <a:r>
              <a:rPr lang="ru-RU" sz="2400" dirty="0">
                <a:solidFill>
                  <a:schemeClr val="accent2">
                    <a:lumMod val="50000"/>
                  </a:schemeClr>
                </a:solidFill>
              </a:rPr>
              <a:t>ожидаемые результаты;</a:t>
            </a:r>
          </a:p>
          <a:p>
            <a:pPr lvl="1"/>
            <a:r>
              <a:rPr lang="ru-RU" sz="2400" dirty="0" err="1">
                <a:solidFill>
                  <a:schemeClr val="accent2">
                    <a:lumMod val="50000"/>
                  </a:schemeClr>
                </a:solidFill>
              </a:rPr>
              <a:t>булевая</a:t>
            </a:r>
            <a:r>
              <a:rPr lang="ru-RU" sz="2400" dirty="0">
                <a:solidFill>
                  <a:schemeClr val="accent2">
                    <a:lumMod val="50000"/>
                  </a:schemeClr>
                </a:solidFill>
              </a:rPr>
              <a:t> отметка о </a:t>
            </a:r>
            <a:r>
              <a:rPr lang="ru-RU" sz="2400" dirty="0" smtClean="0">
                <a:solidFill>
                  <a:schemeClr val="accent2">
                    <a:lumMod val="50000"/>
                  </a:schemeClr>
                </a:solidFill>
              </a:rPr>
              <a:t>прохождении/не прохождении </a:t>
            </a:r>
            <a:r>
              <a:rPr lang="ru-RU" sz="2400" dirty="0">
                <a:solidFill>
                  <a:schemeClr val="accent2">
                    <a:lumMod val="50000"/>
                  </a:schemeClr>
                </a:solidFill>
              </a:rPr>
              <a:t>тестового случая;</a:t>
            </a:r>
          </a:p>
          <a:p>
            <a:pPr lvl="1"/>
            <a:r>
              <a:rPr lang="ru-RU" sz="2400" dirty="0" err="1">
                <a:solidFill>
                  <a:schemeClr val="accent2">
                    <a:lumMod val="50000"/>
                  </a:schemeClr>
                </a:solidFill>
              </a:rPr>
              <a:t>булевая</a:t>
            </a:r>
            <a:r>
              <a:rPr lang="ru-RU" sz="2400" dirty="0">
                <a:solidFill>
                  <a:schemeClr val="accent2">
                    <a:lumMod val="50000"/>
                  </a:schemeClr>
                </a:solidFill>
              </a:rPr>
              <a:t> отметка о совпадении/несовпадении фактического и ожидаемого результата по каждой проверке.</a:t>
            </a:r>
          </a:p>
          <a:p>
            <a:pPr marL="45720" indent="0">
              <a:buNone/>
            </a:pPr>
            <a:r>
              <a:rPr lang="ru-RU" sz="2400" dirty="0" smtClean="0">
                <a:solidFill>
                  <a:schemeClr val="accent2">
                    <a:lumMod val="50000"/>
                  </a:schemeClr>
                </a:solidFill>
              </a:rPr>
              <a:t>Цель  </a:t>
            </a:r>
            <a:r>
              <a:rPr lang="ru-RU" sz="2400" dirty="0">
                <a:solidFill>
                  <a:schemeClr val="accent2">
                    <a:lumMod val="50000"/>
                  </a:schemeClr>
                </a:solidFill>
              </a:rPr>
              <a:t>– обеспечить стабильность покрытия требований проверками необходимыми и достаточными для заключения о соответствии им продукта. Особенностью является то, что чек-листы компонуются теми тестовыми случаями, которые показательны для определенного требования.</a:t>
            </a:r>
          </a:p>
        </p:txBody>
      </p:sp>
    </p:spTree>
    <p:extLst>
      <p:ext uri="{BB962C8B-B14F-4D97-AF65-F5344CB8AC3E}">
        <p14:creationId xmlns:p14="http://schemas.microsoft.com/office/powerpoint/2010/main" val="113347987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dirty="0" smtClean="0"/>
              <a:t>Чек-листы</a:t>
            </a:r>
            <a:endParaRPr lang="ru-RU" dirty="0"/>
          </a:p>
        </p:txBody>
      </p:sp>
      <p:sp>
        <p:nvSpPr>
          <p:cNvPr id="3" name="Объект 2"/>
          <p:cNvSpPr>
            <a:spLocks noGrp="1"/>
          </p:cNvSpPr>
          <p:nvPr>
            <p:ph idx="1"/>
          </p:nvPr>
        </p:nvSpPr>
        <p:spPr>
          <a:xfrm>
            <a:off x="484910" y="1607127"/>
            <a:ext cx="11457708" cy="4890655"/>
          </a:xfrm>
        </p:spPr>
        <p:txBody>
          <a:bodyPr>
            <a:normAutofit/>
          </a:bodyPr>
          <a:lstStyle/>
          <a:p>
            <a:pPr marL="45720" indent="0">
              <a:buNone/>
            </a:pPr>
            <a:r>
              <a:rPr lang="ru-RU" b="1" dirty="0">
                <a:solidFill>
                  <a:schemeClr val="accent2">
                    <a:lumMod val="50000"/>
                  </a:schemeClr>
                </a:solidFill>
              </a:rPr>
              <a:t>Чек-лист должен обладать рядом важных свойств:</a:t>
            </a:r>
            <a:endParaRPr lang="ru-RU" dirty="0">
              <a:solidFill>
                <a:schemeClr val="accent2">
                  <a:lumMod val="50000"/>
                </a:schemeClr>
              </a:solidFill>
            </a:endParaRPr>
          </a:p>
          <a:p>
            <a:r>
              <a:rPr lang="ru-RU" b="1" dirty="0" err="1">
                <a:solidFill>
                  <a:schemeClr val="accent2">
                    <a:lumMod val="50000"/>
                  </a:schemeClr>
                </a:solidFill>
              </a:rPr>
              <a:t>Логичность.</a:t>
            </a:r>
            <a:r>
              <a:rPr lang="ru-RU" dirty="0" err="1">
                <a:solidFill>
                  <a:schemeClr val="accent2">
                    <a:lumMod val="50000"/>
                  </a:schemeClr>
                </a:solidFill>
              </a:rPr>
              <a:t>Чек</a:t>
            </a:r>
            <a:r>
              <a:rPr lang="ru-RU" dirty="0">
                <a:solidFill>
                  <a:schemeClr val="accent2">
                    <a:lumMod val="50000"/>
                  </a:schemeClr>
                </a:solidFill>
              </a:rPr>
              <a:t>-лист пишется не «просто так», а на основе целей и для того, чтобы помочь в достижении этих целей. </a:t>
            </a:r>
            <a:endParaRPr lang="ru-RU" dirty="0" smtClean="0">
              <a:solidFill>
                <a:schemeClr val="accent2">
                  <a:lumMod val="50000"/>
                </a:schemeClr>
              </a:solidFill>
            </a:endParaRPr>
          </a:p>
          <a:p>
            <a:r>
              <a:rPr lang="ru-RU" b="1" dirty="0" smtClean="0">
                <a:solidFill>
                  <a:schemeClr val="accent2">
                    <a:lumMod val="50000"/>
                  </a:schemeClr>
                </a:solidFill>
              </a:rPr>
              <a:t>Последовательность </a:t>
            </a:r>
            <a:r>
              <a:rPr lang="ru-RU" b="1" dirty="0">
                <a:solidFill>
                  <a:schemeClr val="accent2">
                    <a:lumMod val="50000"/>
                  </a:schemeClr>
                </a:solidFill>
              </a:rPr>
              <a:t>и структурированность. </a:t>
            </a:r>
            <a:r>
              <a:rPr lang="ru-RU" b="1" dirty="0" smtClean="0">
                <a:solidFill>
                  <a:schemeClr val="accent2">
                    <a:lumMod val="50000"/>
                  </a:schemeClr>
                </a:solidFill>
              </a:rPr>
              <a:t>С</a:t>
            </a:r>
            <a:r>
              <a:rPr lang="ru-RU" dirty="0" smtClean="0">
                <a:solidFill>
                  <a:schemeClr val="accent2">
                    <a:lumMod val="50000"/>
                  </a:schemeClr>
                </a:solidFill>
              </a:rPr>
              <a:t>труктурированность достигается </a:t>
            </a:r>
            <a:r>
              <a:rPr lang="ru-RU" dirty="0">
                <a:solidFill>
                  <a:schemeClr val="accent2">
                    <a:lumMod val="50000"/>
                  </a:schemeClr>
                </a:solidFill>
              </a:rPr>
              <a:t>за счёт оформления чек-листа в виде многоуровневого списка. Что касается последовательности, то, даже в том случае, когда пункты чек-листа не описывают цепочку действий, человеку всё равно удобнее воспринимать информацию в виде неких небольших групп идей, переход между которыми является понятным и </a:t>
            </a:r>
            <a:r>
              <a:rPr lang="ru-RU" dirty="0" smtClean="0">
                <a:solidFill>
                  <a:schemeClr val="accent2">
                    <a:lumMod val="50000"/>
                  </a:schemeClr>
                </a:solidFill>
              </a:rPr>
              <a:t>очевидным.</a:t>
            </a:r>
            <a:endParaRPr lang="ru-RU" dirty="0">
              <a:solidFill>
                <a:schemeClr val="accent2">
                  <a:lumMod val="50000"/>
                </a:schemeClr>
              </a:solidFill>
            </a:endParaRPr>
          </a:p>
          <a:p>
            <a:r>
              <a:rPr lang="ru-RU" b="1" dirty="0">
                <a:solidFill>
                  <a:schemeClr val="accent2">
                    <a:lumMod val="50000"/>
                  </a:schemeClr>
                </a:solidFill>
              </a:rPr>
              <a:t>Полнота и </a:t>
            </a:r>
            <a:r>
              <a:rPr lang="ru-RU" b="1" dirty="0" err="1">
                <a:solidFill>
                  <a:schemeClr val="accent2">
                    <a:lumMod val="50000"/>
                  </a:schemeClr>
                </a:solidFill>
              </a:rPr>
              <a:t>неизбыточность</a:t>
            </a:r>
            <a:r>
              <a:rPr lang="ru-RU" b="1" dirty="0">
                <a:solidFill>
                  <a:schemeClr val="accent2">
                    <a:lumMod val="50000"/>
                  </a:schemeClr>
                </a:solidFill>
              </a:rPr>
              <a:t>. </a:t>
            </a:r>
            <a:r>
              <a:rPr lang="ru-RU" dirty="0">
                <a:solidFill>
                  <a:schemeClr val="accent2">
                    <a:lumMod val="50000"/>
                  </a:schemeClr>
                </a:solidFill>
              </a:rPr>
              <a:t>Чек-лист должен представлять собой аккуратную «сухую выжимку» идей, в которых нет дублирования </a:t>
            </a:r>
            <a:r>
              <a:rPr lang="ru-RU" dirty="0" smtClean="0">
                <a:solidFill>
                  <a:schemeClr val="accent2">
                    <a:lumMod val="50000"/>
                  </a:schemeClr>
                </a:solidFill>
              </a:rPr>
              <a:t>и</a:t>
            </a:r>
            <a:r>
              <a:rPr lang="ru-RU" dirty="0">
                <a:solidFill>
                  <a:schemeClr val="accent2">
                    <a:lumMod val="50000"/>
                  </a:schemeClr>
                </a:solidFill>
              </a:rPr>
              <a:t>, в то же время ничто важное не упущено</a:t>
            </a:r>
            <a:r>
              <a:rPr lang="ru-RU" dirty="0" smtClean="0">
                <a:solidFill>
                  <a:schemeClr val="accent2">
                    <a:lumMod val="50000"/>
                  </a:schemeClr>
                </a:solidFill>
              </a:rPr>
              <a:t>.</a:t>
            </a:r>
            <a:endParaRPr lang="ru-RU" dirty="0">
              <a:solidFill>
                <a:schemeClr val="accent2">
                  <a:lumMod val="50000"/>
                </a:schemeClr>
              </a:solidFill>
            </a:endParaRPr>
          </a:p>
        </p:txBody>
      </p:sp>
    </p:spTree>
    <p:extLst>
      <p:ext uri="{BB962C8B-B14F-4D97-AF65-F5344CB8AC3E}">
        <p14:creationId xmlns:p14="http://schemas.microsoft.com/office/powerpoint/2010/main" val="111470039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dirty="0" smtClean="0"/>
              <a:t>Чек-листы</a:t>
            </a:r>
            <a:endParaRPr lang="ru-RU" dirty="0"/>
          </a:p>
        </p:txBody>
      </p:sp>
      <p:sp>
        <p:nvSpPr>
          <p:cNvPr id="3" name="Объект 2"/>
          <p:cNvSpPr>
            <a:spLocks noGrp="1"/>
          </p:cNvSpPr>
          <p:nvPr>
            <p:ph idx="1"/>
          </p:nvPr>
        </p:nvSpPr>
        <p:spPr>
          <a:xfrm>
            <a:off x="443345" y="1662545"/>
            <a:ext cx="11374581" cy="4862946"/>
          </a:xfrm>
        </p:spPr>
        <p:txBody>
          <a:bodyPr>
            <a:normAutofit/>
          </a:bodyPr>
          <a:lstStyle/>
          <a:p>
            <a:pPr marL="45720" indent="0">
              <a:buNone/>
            </a:pPr>
            <a:r>
              <a:rPr lang="ru-RU" sz="2400" b="1" dirty="0">
                <a:solidFill>
                  <a:schemeClr val="accent2">
                    <a:lumMod val="50000"/>
                  </a:schemeClr>
                </a:solidFill>
              </a:rPr>
              <a:t>Правила составления чек-листов:</a:t>
            </a:r>
          </a:p>
          <a:p>
            <a:r>
              <a:rPr lang="ru-RU" sz="2400" dirty="0">
                <a:solidFill>
                  <a:schemeClr val="accent2">
                    <a:lumMod val="50000"/>
                  </a:schemeClr>
                </a:solidFill>
              </a:rPr>
              <a:t>Одна операция.</a:t>
            </a:r>
          </a:p>
          <a:p>
            <a:r>
              <a:rPr lang="ru-RU" sz="2400" dirty="0">
                <a:solidFill>
                  <a:schemeClr val="accent2">
                    <a:lumMod val="50000"/>
                  </a:schemeClr>
                </a:solidFill>
              </a:rPr>
              <a:t>Пункты чек-листа - это минимальные полные операции. Например, заказать изготовление визиток и доставить визитки в офис - это 2 разных операции. Поэтому в чек-листе они отображаются отдельными пунктами: визитки заказаны и визитки доставлены в офис.</a:t>
            </a:r>
          </a:p>
          <a:p>
            <a:r>
              <a:rPr lang="ru-RU" sz="2400" dirty="0">
                <a:solidFill>
                  <a:schemeClr val="accent2">
                    <a:lumMod val="50000"/>
                  </a:schemeClr>
                </a:solidFill>
              </a:rPr>
              <a:t>Пункты пишутся в утвердительной форме. Цель чек-листа – проверка готовности задачи, поэтому лучше составлять пункты в утвердительной форме - «заказаны, доставлены». Сравните формулировку: «заказать визитки» и «визитки заказаны».</a:t>
            </a:r>
          </a:p>
          <a:p>
            <a:r>
              <a:rPr lang="ru-RU" sz="2400" dirty="0">
                <a:solidFill>
                  <a:schemeClr val="accent2">
                    <a:lumMod val="50000"/>
                  </a:schemeClr>
                </a:solidFill>
              </a:rPr>
              <a:t>Оптимальное количество пунктов - до 20. Чек-листы не должны быть длинными. Если все же это требуется, то лучше разбить задачу на несколько этапов и составить к каждому этапу отдельный чек-лист.</a:t>
            </a:r>
          </a:p>
          <a:p>
            <a:endParaRPr lang="ru-RU" sz="2400" dirty="0">
              <a:solidFill>
                <a:schemeClr val="accent2">
                  <a:lumMod val="50000"/>
                </a:schemeClr>
              </a:solidFill>
            </a:endParaRPr>
          </a:p>
        </p:txBody>
      </p:sp>
    </p:spTree>
    <p:extLst>
      <p:ext uri="{BB962C8B-B14F-4D97-AF65-F5344CB8AC3E}">
        <p14:creationId xmlns:p14="http://schemas.microsoft.com/office/powerpoint/2010/main" val="60819602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dirty="0" smtClean="0"/>
              <a:t>Чек-листы</a:t>
            </a:r>
            <a:endParaRPr lang="ru-RU" dirty="0"/>
          </a:p>
        </p:txBody>
      </p:sp>
      <p:sp>
        <p:nvSpPr>
          <p:cNvPr id="3" name="Объект 2"/>
          <p:cNvSpPr>
            <a:spLocks noGrp="1"/>
          </p:cNvSpPr>
          <p:nvPr>
            <p:ph idx="1"/>
          </p:nvPr>
        </p:nvSpPr>
        <p:spPr>
          <a:xfrm>
            <a:off x="429491" y="1690255"/>
            <a:ext cx="11526981" cy="4821381"/>
          </a:xfrm>
        </p:spPr>
        <p:txBody>
          <a:bodyPr>
            <a:normAutofit/>
          </a:bodyPr>
          <a:lstStyle/>
          <a:p>
            <a:pPr marL="45720" indent="0">
              <a:buNone/>
            </a:pPr>
            <a:r>
              <a:rPr lang="ru-RU" sz="2400" b="1" dirty="0">
                <a:solidFill>
                  <a:schemeClr val="accent2">
                    <a:lumMod val="50000"/>
                  </a:schemeClr>
                </a:solidFill>
              </a:rPr>
              <a:t>Преимущества использования чек-листов:</a:t>
            </a:r>
          </a:p>
          <a:p>
            <a:r>
              <a:rPr lang="ru-RU" sz="2400" dirty="0">
                <a:solidFill>
                  <a:schemeClr val="accent2">
                    <a:lumMod val="50000"/>
                  </a:schemeClr>
                </a:solidFill>
              </a:rPr>
              <a:t>Структурирование информации у сотрудника. При записи необходимых действий у сотрудника чётко вырисовывается нужная последовательность задач.</a:t>
            </a:r>
          </a:p>
          <a:p>
            <a:r>
              <a:rPr lang="ru-RU" sz="2400" dirty="0">
                <a:solidFill>
                  <a:schemeClr val="accent2">
                    <a:lumMod val="50000"/>
                  </a:schemeClr>
                </a:solidFill>
              </a:rPr>
              <a:t>Повышение скорости обучения новых сотрудников. Не нужно повторять несколько раз последовательность операций. Достаточно провести короткий инструктаж и дать чек-лист для самостоятельной работы.</a:t>
            </a:r>
          </a:p>
          <a:p>
            <a:r>
              <a:rPr lang="ru-RU" sz="2400" dirty="0">
                <a:solidFill>
                  <a:schemeClr val="accent2">
                    <a:lumMod val="50000"/>
                  </a:schemeClr>
                </a:solidFill>
              </a:rPr>
              <a:t>Высокий результат, уменьшение количества ошибок. Как уже говорилось ранее, чек-листы помогают избежать проколов и ошибок по невнимательности.</a:t>
            </a:r>
          </a:p>
          <a:p>
            <a:r>
              <a:rPr lang="ru-RU" sz="2400" dirty="0">
                <a:solidFill>
                  <a:schemeClr val="accent2">
                    <a:lumMod val="50000"/>
                  </a:schemeClr>
                </a:solidFill>
              </a:rPr>
              <a:t>Взаимозаменяемость сотрудников.</a:t>
            </a:r>
          </a:p>
          <a:p>
            <a:r>
              <a:rPr lang="ru-RU" sz="2400" dirty="0">
                <a:solidFill>
                  <a:schemeClr val="accent2">
                    <a:lumMod val="50000"/>
                  </a:schemeClr>
                </a:solidFill>
              </a:rPr>
              <a:t>Экономия рабочего времени. Сотрудники будут значительно меньше времени тратить на переделывание задач</a:t>
            </a:r>
            <a:r>
              <a:rPr lang="ru-RU" sz="2400" dirty="0" smtClean="0">
                <a:solidFill>
                  <a:schemeClr val="accent2">
                    <a:lumMod val="50000"/>
                  </a:schemeClr>
                </a:solidFill>
              </a:rPr>
              <a:t>.</a:t>
            </a:r>
            <a:endParaRPr lang="ru-RU" sz="2400" dirty="0">
              <a:solidFill>
                <a:schemeClr val="accent2">
                  <a:lumMod val="50000"/>
                </a:schemeClr>
              </a:solidFill>
            </a:endParaRPr>
          </a:p>
        </p:txBody>
      </p:sp>
    </p:spTree>
    <p:extLst>
      <p:ext uri="{BB962C8B-B14F-4D97-AF65-F5344CB8AC3E}">
        <p14:creationId xmlns:p14="http://schemas.microsoft.com/office/powerpoint/2010/main" val="305958256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226127" y="0"/>
            <a:ext cx="9875520" cy="1356360"/>
          </a:xfrm>
        </p:spPr>
        <p:txBody>
          <a:bodyPr/>
          <a:lstStyle/>
          <a:p>
            <a:pPr algn="ctr"/>
            <a:r>
              <a:rPr lang="ru-RU" dirty="0" smtClean="0"/>
              <a:t>Пример чек-листа</a:t>
            </a:r>
            <a:endParaRPr lang="ru-RU" dirty="0"/>
          </a:p>
        </p:txBody>
      </p:sp>
      <p:pic>
        <p:nvPicPr>
          <p:cNvPr id="1026" name="Picture 2" descr="https://lh4.googleusercontent.com/AEoE2VX28HjODBFfvRLPQ6YFkCvpzmSx3QothuYQnVVVKnKdguHi0UkWxl6In3jUIfcfpgQU7a7uO8RtWUDNBMI4wgGTzwoZi_1YAHitbjRt2eSYS7n9n9vivUM5Wf-gAo9BOWPI"/>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20338" y="885292"/>
            <a:ext cx="9781309" cy="5612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10846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151312" y="374072"/>
            <a:ext cx="9875520" cy="928255"/>
          </a:xfrm>
        </p:spPr>
        <p:txBody>
          <a:bodyPr/>
          <a:lstStyle/>
          <a:p>
            <a:pPr algn="ctr"/>
            <a:r>
              <a:rPr lang="ru-RU" b="1" dirty="0"/>
              <a:t>Тест </a:t>
            </a:r>
            <a:r>
              <a:rPr lang="ru-RU" b="1" dirty="0" smtClean="0"/>
              <a:t>кейсы</a:t>
            </a:r>
            <a:endParaRPr lang="ru-RU" dirty="0"/>
          </a:p>
        </p:txBody>
      </p:sp>
      <p:sp>
        <p:nvSpPr>
          <p:cNvPr id="3" name="Объект 2"/>
          <p:cNvSpPr>
            <a:spLocks noGrp="1"/>
          </p:cNvSpPr>
          <p:nvPr>
            <p:ph idx="1"/>
          </p:nvPr>
        </p:nvSpPr>
        <p:spPr>
          <a:xfrm>
            <a:off x="318655" y="1108364"/>
            <a:ext cx="11540835" cy="5430981"/>
          </a:xfrm>
        </p:spPr>
        <p:txBody>
          <a:bodyPr>
            <a:noAutofit/>
          </a:bodyPr>
          <a:lstStyle/>
          <a:p>
            <a:pPr marL="45720" indent="0">
              <a:spcBef>
                <a:spcPts val="400"/>
              </a:spcBef>
              <a:buNone/>
            </a:pPr>
            <a:r>
              <a:rPr lang="ru-RU" sz="2400" dirty="0" smtClean="0">
                <a:solidFill>
                  <a:schemeClr val="accent2">
                    <a:lumMod val="50000"/>
                  </a:schemeClr>
                </a:solidFill>
              </a:rPr>
              <a:t>Наличие  </a:t>
            </a:r>
            <a:r>
              <a:rPr lang="ru-RU" sz="2400" dirty="0">
                <a:solidFill>
                  <a:schemeClr val="accent2">
                    <a:lumMod val="50000"/>
                  </a:schemeClr>
                </a:solidFill>
              </a:rPr>
              <a:t>тест-кейсов позволяет:</a:t>
            </a:r>
          </a:p>
          <a:p>
            <a:pPr>
              <a:spcBef>
                <a:spcPts val="400"/>
              </a:spcBef>
            </a:pPr>
            <a:r>
              <a:rPr lang="ru-RU" sz="2400" dirty="0">
                <a:solidFill>
                  <a:schemeClr val="accent2">
                    <a:lumMod val="50000"/>
                  </a:schemeClr>
                </a:solidFill>
              </a:rPr>
              <a:t>Структурировать и систематизировать подход к </a:t>
            </a:r>
            <a:r>
              <a:rPr lang="ru-RU" sz="2400" dirty="0" smtClean="0">
                <a:solidFill>
                  <a:schemeClr val="accent2">
                    <a:lumMod val="50000"/>
                  </a:schemeClr>
                </a:solidFill>
              </a:rPr>
              <a:t>тестированию.</a:t>
            </a:r>
            <a:endParaRPr lang="ru-RU" sz="2400" dirty="0">
              <a:solidFill>
                <a:schemeClr val="accent2">
                  <a:lumMod val="50000"/>
                </a:schemeClr>
              </a:solidFill>
            </a:endParaRPr>
          </a:p>
          <a:p>
            <a:pPr>
              <a:spcBef>
                <a:spcPts val="400"/>
              </a:spcBef>
            </a:pPr>
            <a:r>
              <a:rPr lang="ru-RU" sz="2400" dirty="0">
                <a:solidFill>
                  <a:schemeClr val="accent2">
                    <a:lumMod val="50000"/>
                  </a:schemeClr>
                </a:solidFill>
              </a:rPr>
              <a:t>Вычислять метрики тестового покрытия </a:t>
            </a:r>
            <a:r>
              <a:rPr lang="ru-RU" sz="2400" dirty="0" smtClean="0">
                <a:solidFill>
                  <a:schemeClr val="accent2">
                    <a:lumMod val="50000"/>
                  </a:schemeClr>
                </a:solidFill>
              </a:rPr>
              <a:t>и </a:t>
            </a:r>
            <a:r>
              <a:rPr lang="ru-RU" sz="2400" dirty="0">
                <a:solidFill>
                  <a:schemeClr val="accent2">
                    <a:lumMod val="50000"/>
                  </a:schemeClr>
                </a:solidFill>
              </a:rPr>
              <a:t>принимать меры по его увеличению (тест-кейсы здесь являются главным источником информации, без которого существование подобных метрик теряет смысл).</a:t>
            </a:r>
          </a:p>
          <a:p>
            <a:pPr>
              <a:spcBef>
                <a:spcPts val="400"/>
              </a:spcBef>
            </a:pPr>
            <a:r>
              <a:rPr lang="ru-RU" sz="2400" dirty="0">
                <a:solidFill>
                  <a:schemeClr val="accent2">
                    <a:lumMod val="50000"/>
                  </a:schemeClr>
                </a:solidFill>
              </a:rPr>
              <a:t>Отслеживать соответствие текущей ситуации </a:t>
            </a:r>
            <a:r>
              <a:rPr lang="ru-RU" sz="2400" dirty="0" smtClean="0">
                <a:solidFill>
                  <a:schemeClr val="accent2">
                    <a:lumMod val="50000"/>
                  </a:schemeClr>
                </a:solidFill>
              </a:rPr>
              <a:t>плану.</a:t>
            </a:r>
          </a:p>
          <a:p>
            <a:pPr>
              <a:spcBef>
                <a:spcPts val="400"/>
              </a:spcBef>
            </a:pPr>
            <a:r>
              <a:rPr lang="ru-RU" sz="2400" dirty="0" smtClean="0">
                <a:solidFill>
                  <a:schemeClr val="accent2">
                    <a:lumMod val="50000"/>
                  </a:schemeClr>
                </a:solidFill>
              </a:rPr>
              <a:t>Уточнить </a:t>
            </a:r>
            <a:r>
              <a:rPr lang="ru-RU" sz="2400" dirty="0">
                <a:solidFill>
                  <a:schemeClr val="accent2">
                    <a:lumMod val="50000"/>
                  </a:schemeClr>
                </a:solidFill>
              </a:rPr>
              <a:t>взаимопонимание между заказчиком, разработчиками и </a:t>
            </a:r>
            <a:r>
              <a:rPr lang="ru-RU" sz="2400" dirty="0" err="1">
                <a:solidFill>
                  <a:schemeClr val="accent2">
                    <a:lumMod val="50000"/>
                  </a:schemeClr>
                </a:solidFill>
              </a:rPr>
              <a:t>тестировщиками</a:t>
            </a:r>
            <a:r>
              <a:rPr lang="ru-RU" sz="2400" dirty="0">
                <a:solidFill>
                  <a:schemeClr val="accent2">
                    <a:lumMod val="50000"/>
                  </a:schemeClr>
                </a:solidFill>
              </a:rPr>
              <a:t> (тест-кейсы зачастую намного более наглядно показывают поведение приложения, чем это отражено в требованиях</a:t>
            </a:r>
            <a:r>
              <a:rPr lang="ru-RU" sz="2400" dirty="0" smtClean="0">
                <a:solidFill>
                  <a:schemeClr val="accent2">
                    <a:lumMod val="50000"/>
                  </a:schemeClr>
                </a:solidFill>
              </a:rPr>
              <a:t>).</a:t>
            </a:r>
            <a:endParaRPr lang="ru-RU" sz="2400" dirty="0">
              <a:solidFill>
                <a:schemeClr val="accent2">
                  <a:lumMod val="50000"/>
                </a:schemeClr>
              </a:solidFill>
            </a:endParaRPr>
          </a:p>
          <a:p>
            <a:pPr>
              <a:spcBef>
                <a:spcPts val="400"/>
              </a:spcBef>
            </a:pPr>
            <a:r>
              <a:rPr lang="ru-RU" sz="2400" dirty="0">
                <a:solidFill>
                  <a:schemeClr val="accent2">
                    <a:lumMod val="50000"/>
                  </a:schemeClr>
                </a:solidFill>
              </a:rPr>
              <a:t>Хранить информацию для длительного использования и обмена опытом между сотрудниками и </a:t>
            </a:r>
            <a:r>
              <a:rPr lang="ru-RU" sz="2400" dirty="0" smtClean="0">
                <a:solidFill>
                  <a:schemeClr val="accent2">
                    <a:lumMod val="50000"/>
                  </a:schemeClr>
                </a:solidFill>
              </a:rPr>
              <a:t>командами.</a:t>
            </a:r>
            <a:endParaRPr lang="ru-RU" sz="2400" dirty="0">
              <a:solidFill>
                <a:schemeClr val="accent2">
                  <a:lumMod val="50000"/>
                </a:schemeClr>
              </a:solidFill>
            </a:endParaRPr>
          </a:p>
          <a:p>
            <a:pPr>
              <a:spcBef>
                <a:spcPts val="400"/>
              </a:spcBef>
            </a:pPr>
            <a:r>
              <a:rPr lang="ru-RU" sz="2400" dirty="0">
                <a:solidFill>
                  <a:schemeClr val="accent2">
                    <a:lumMod val="50000"/>
                  </a:schemeClr>
                </a:solidFill>
              </a:rPr>
              <a:t>Проводить регрессионное тестирование и повторное </a:t>
            </a:r>
            <a:r>
              <a:rPr lang="ru-RU" sz="2400" dirty="0" smtClean="0">
                <a:solidFill>
                  <a:schemeClr val="accent2">
                    <a:lumMod val="50000"/>
                  </a:schemeClr>
                </a:solidFill>
              </a:rPr>
              <a:t>тестирование.</a:t>
            </a:r>
            <a:endParaRPr lang="ru-RU" sz="2400" dirty="0">
              <a:solidFill>
                <a:schemeClr val="accent2">
                  <a:lumMod val="50000"/>
                </a:schemeClr>
              </a:solidFill>
            </a:endParaRPr>
          </a:p>
          <a:p>
            <a:pPr>
              <a:spcBef>
                <a:spcPts val="400"/>
              </a:spcBef>
            </a:pPr>
            <a:r>
              <a:rPr lang="ru-RU" sz="2400" dirty="0">
                <a:solidFill>
                  <a:schemeClr val="accent2">
                    <a:lumMod val="50000"/>
                  </a:schemeClr>
                </a:solidFill>
              </a:rPr>
              <a:t>Повышать качество </a:t>
            </a:r>
            <a:r>
              <a:rPr lang="ru-RU" sz="2400" dirty="0" smtClean="0">
                <a:solidFill>
                  <a:schemeClr val="accent2">
                    <a:lumMod val="50000"/>
                  </a:schemeClr>
                </a:solidFill>
              </a:rPr>
              <a:t>требований.</a:t>
            </a:r>
            <a:endParaRPr lang="ru-RU" sz="2400" dirty="0">
              <a:solidFill>
                <a:schemeClr val="accent2">
                  <a:lumMod val="50000"/>
                </a:schemeClr>
              </a:solidFill>
            </a:endParaRPr>
          </a:p>
          <a:p>
            <a:pPr>
              <a:spcBef>
                <a:spcPts val="400"/>
              </a:spcBef>
            </a:pPr>
            <a:r>
              <a:rPr lang="ru-RU" sz="2400" dirty="0">
                <a:solidFill>
                  <a:schemeClr val="accent2">
                    <a:lumMod val="50000"/>
                  </a:schemeClr>
                </a:solidFill>
              </a:rPr>
              <a:t>Быстро вводить в курс дела нового сотрудника, недавно подключившегося к проекту.</a:t>
            </a:r>
          </a:p>
          <a:p>
            <a:pPr>
              <a:spcBef>
                <a:spcPts val="400"/>
              </a:spcBef>
            </a:pPr>
            <a:endParaRPr lang="ru-RU" sz="2400" dirty="0">
              <a:solidFill>
                <a:schemeClr val="accent2">
                  <a:lumMod val="50000"/>
                </a:schemeClr>
              </a:solidFill>
            </a:endParaRPr>
          </a:p>
        </p:txBody>
      </p:sp>
    </p:spTree>
    <p:extLst>
      <p:ext uri="{BB962C8B-B14F-4D97-AF65-F5344CB8AC3E}">
        <p14:creationId xmlns:p14="http://schemas.microsoft.com/office/powerpoint/2010/main" val="42181267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https://lh4.googleusercontent.com/yBm0qNM9Xt8aZYFIJG1vHW7kw4aVvKT1UP_fb5bOVTo7DQDx5t5HT3ZRa9RH5GFfmJ-ptNAq5FIdwA9JuZLq1wJx4RgnCZHFN04J5zKunNUwC6DzUtuRDD8QjBuEN00Zg3_gzN2c"/>
          <p:cNvPicPr>
            <a:picLocks noGrp="1" noChangeAspect="1" noChangeArrowheads="1"/>
          </p:cNvPicPr>
          <p:nvPr>
            <p:ph type="pic" idx="1"/>
          </p:nvPr>
        </p:nvPicPr>
        <p:blipFill>
          <a:blip r:embed="rId2">
            <a:extLst>
              <a:ext uri="{28A0092B-C50C-407E-A947-70E740481C1C}">
                <a14:useLocalDpi xmlns:a14="http://schemas.microsoft.com/office/drawing/2010/main" val="0"/>
              </a:ext>
            </a:extLst>
          </a:blip>
          <a:srcRect t="331" b="331"/>
          <a:stretch>
            <a:fillRect/>
          </a:stretch>
        </p:blipFill>
        <p:spPr bwMode="auto">
          <a:xfrm>
            <a:off x="4433455" y="376844"/>
            <a:ext cx="7619999" cy="5997751"/>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2" name="Заголовок 1"/>
          <p:cNvSpPr>
            <a:spLocks noGrp="1"/>
          </p:cNvSpPr>
          <p:nvPr>
            <p:ph type="title"/>
          </p:nvPr>
        </p:nvSpPr>
        <p:spPr>
          <a:xfrm>
            <a:off x="446117" y="515390"/>
            <a:ext cx="5483628" cy="1202574"/>
          </a:xfrm>
        </p:spPr>
        <p:txBody>
          <a:bodyPr/>
          <a:lstStyle/>
          <a:p>
            <a:pPr algn="ctr"/>
            <a:r>
              <a:rPr lang="ru-RU" b="1" dirty="0" smtClean="0"/>
              <a:t>Жизненный цикл тест кейса</a:t>
            </a:r>
            <a:endParaRPr lang="ru-RU" dirty="0"/>
          </a:p>
        </p:txBody>
      </p:sp>
    </p:spTree>
    <p:extLst>
      <p:ext uri="{BB962C8B-B14F-4D97-AF65-F5344CB8AC3E}">
        <p14:creationId xmlns:p14="http://schemas.microsoft.com/office/powerpoint/2010/main" val="275277222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dirty="0"/>
              <a:t>Жизненный цикл тест кейса</a:t>
            </a:r>
            <a:endParaRPr lang="ru-RU" dirty="0"/>
          </a:p>
        </p:txBody>
      </p:sp>
      <p:sp>
        <p:nvSpPr>
          <p:cNvPr id="3" name="Объект 2"/>
          <p:cNvSpPr>
            <a:spLocks noGrp="1"/>
          </p:cNvSpPr>
          <p:nvPr>
            <p:ph idx="1"/>
          </p:nvPr>
        </p:nvSpPr>
        <p:spPr>
          <a:xfrm>
            <a:off x="526473" y="1662545"/>
            <a:ext cx="11346871" cy="4849091"/>
          </a:xfrm>
        </p:spPr>
        <p:txBody>
          <a:bodyPr>
            <a:noAutofit/>
          </a:bodyPr>
          <a:lstStyle/>
          <a:p>
            <a:pPr marL="45720" indent="0">
              <a:buNone/>
            </a:pPr>
            <a:r>
              <a:rPr lang="ru-RU" sz="2400" b="1" dirty="0" smtClean="0">
                <a:solidFill>
                  <a:schemeClr val="accent2">
                    <a:lumMod val="50000"/>
                  </a:schemeClr>
                </a:solidFill>
              </a:rPr>
              <a:t>Создан</a:t>
            </a:r>
            <a:r>
              <a:rPr lang="ru-RU" sz="2400" b="1" dirty="0">
                <a:solidFill>
                  <a:schemeClr val="accent2">
                    <a:lumMod val="50000"/>
                  </a:schemeClr>
                </a:solidFill>
              </a:rPr>
              <a:t> </a:t>
            </a:r>
            <a:r>
              <a:rPr lang="ru-RU" sz="2400" dirty="0">
                <a:solidFill>
                  <a:schemeClr val="accent2">
                    <a:lumMod val="50000"/>
                  </a:schemeClr>
                </a:solidFill>
              </a:rPr>
              <a:t>- типичное начальное состояние практически любого артефакта. Тест-кейс автоматически переходит в это состояние после создания.</a:t>
            </a:r>
          </a:p>
          <a:p>
            <a:pPr marL="45720" indent="0">
              <a:buNone/>
            </a:pPr>
            <a:r>
              <a:rPr lang="ru-RU" sz="2400" b="1" dirty="0" smtClean="0">
                <a:solidFill>
                  <a:schemeClr val="accent2">
                    <a:lumMod val="50000"/>
                  </a:schemeClr>
                </a:solidFill>
              </a:rPr>
              <a:t>Запланирован</a:t>
            </a:r>
            <a:r>
              <a:rPr lang="ru-RU" sz="2400" b="1" dirty="0">
                <a:solidFill>
                  <a:schemeClr val="accent2">
                    <a:lumMod val="50000"/>
                  </a:schemeClr>
                </a:solidFill>
              </a:rPr>
              <a:t> </a:t>
            </a:r>
            <a:r>
              <a:rPr lang="ru-RU" sz="2400" dirty="0">
                <a:solidFill>
                  <a:schemeClr val="accent2">
                    <a:lumMod val="50000"/>
                  </a:schemeClr>
                </a:solidFill>
              </a:rPr>
              <a:t>- в этом состоянии тест-кейс находится, когда он или явно включён в план ближайшей итерации тестирования, или, как минимум, готов для выполнения.</a:t>
            </a:r>
          </a:p>
          <a:p>
            <a:pPr marL="45720" indent="0">
              <a:buNone/>
            </a:pPr>
            <a:r>
              <a:rPr lang="ru-RU" sz="2400" b="1" dirty="0">
                <a:solidFill>
                  <a:schemeClr val="accent2">
                    <a:lumMod val="50000"/>
                  </a:schemeClr>
                </a:solidFill>
              </a:rPr>
              <a:t>Не выполнен </a:t>
            </a:r>
            <a:r>
              <a:rPr lang="ru-RU" sz="2400" dirty="0" smtClean="0">
                <a:solidFill>
                  <a:schemeClr val="accent2">
                    <a:lumMod val="50000"/>
                  </a:schemeClr>
                </a:solidFill>
              </a:rPr>
              <a:t>- нахождение </a:t>
            </a:r>
            <a:r>
              <a:rPr lang="ru-RU" sz="2400" dirty="0">
                <a:solidFill>
                  <a:schemeClr val="accent2">
                    <a:lumMod val="50000"/>
                  </a:schemeClr>
                </a:solidFill>
              </a:rPr>
              <a:t>тест-кейса в данном состоянии означает, что он готов к выполнению, но ещё не был выполнен.</a:t>
            </a:r>
          </a:p>
          <a:p>
            <a:pPr marL="45720" indent="0">
              <a:buNone/>
            </a:pPr>
            <a:r>
              <a:rPr lang="ru-RU" sz="2400" b="1" dirty="0" smtClean="0">
                <a:solidFill>
                  <a:schemeClr val="accent2">
                    <a:lumMod val="50000"/>
                  </a:schemeClr>
                </a:solidFill>
              </a:rPr>
              <a:t>Выполняется</a:t>
            </a:r>
            <a:r>
              <a:rPr lang="ru-RU" sz="2400" dirty="0">
                <a:solidFill>
                  <a:schemeClr val="accent2">
                    <a:lumMod val="50000"/>
                  </a:schemeClr>
                </a:solidFill>
              </a:rPr>
              <a:t> - если тест-кейс требует длительное время для выполнения, то он может быть переведён в это состояние для подчёркивания того факта, что работа идёт, и скоро можно ожидать её результатов. </a:t>
            </a:r>
          </a:p>
        </p:txBody>
      </p:sp>
    </p:spTree>
    <p:extLst>
      <p:ext uri="{BB962C8B-B14F-4D97-AF65-F5344CB8AC3E}">
        <p14:creationId xmlns:p14="http://schemas.microsoft.com/office/powerpoint/2010/main" val="22033351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dirty="0"/>
              <a:t>Жизненный цикл тест кейса</a:t>
            </a:r>
            <a:endParaRPr lang="ru-RU" dirty="0"/>
          </a:p>
        </p:txBody>
      </p:sp>
      <p:sp>
        <p:nvSpPr>
          <p:cNvPr id="3" name="Объект 2"/>
          <p:cNvSpPr>
            <a:spLocks noGrp="1"/>
          </p:cNvSpPr>
          <p:nvPr>
            <p:ph idx="1"/>
          </p:nvPr>
        </p:nvSpPr>
        <p:spPr>
          <a:xfrm>
            <a:off x="360218" y="1773382"/>
            <a:ext cx="11499273" cy="4627418"/>
          </a:xfrm>
        </p:spPr>
        <p:txBody>
          <a:bodyPr>
            <a:normAutofit/>
          </a:bodyPr>
          <a:lstStyle/>
          <a:p>
            <a:pPr marL="45720" indent="0">
              <a:buNone/>
            </a:pPr>
            <a:r>
              <a:rPr lang="ru-RU" sz="2400" b="1" dirty="0" smtClean="0">
                <a:solidFill>
                  <a:schemeClr val="accent2">
                    <a:lumMod val="50000"/>
                  </a:schemeClr>
                </a:solidFill>
              </a:rPr>
              <a:t>Пропущен</a:t>
            </a:r>
            <a:r>
              <a:rPr lang="ru-RU" sz="2400" b="1" dirty="0">
                <a:solidFill>
                  <a:schemeClr val="accent2">
                    <a:lumMod val="50000"/>
                  </a:schemeClr>
                </a:solidFill>
              </a:rPr>
              <a:t> </a:t>
            </a:r>
            <a:r>
              <a:rPr lang="ru-RU" sz="2400" dirty="0">
                <a:solidFill>
                  <a:schemeClr val="accent2">
                    <a:lumMod val="50000"/>
                  </a:schemeClr>
                </a:solidFill>
              </a:rPr>
              <a:t>- бывают ситуации, когда выполнение тест-кейса отменяется по соображениям нехватки времени или изменения логики тестирования.</a:t>
            </a:r>
          </a:p>
          <a:p>
            <a:pPr marL="45720" indent="0">
              <a:buNone/>
            </a:pPr>
            <a:r>
              <a:rPr lang="ru-RU" sz="2400" b="1" dirty="0" smtClean="0">
                <a:solidFill>
                  <a:schemeClr val="accent2">
                    <a:lumMod val="50000"/>
                  </a:schemeClr>
                </a:solidFill>
              </a:rPr>
              <a:t>Провален</a:t>
            </a:r>
            <a:r>
              <a:rPr lang="ru-RU" sz="2400" b="1" dirty="0">
                <a:solidFill>
                  <a:schemeClr val="accent2">
                    <a:lumMod val="50000"/>
                  </a:schemeClr>
                </a:solidFill>
              </a:rPr>
              <a:t> </a:t>
            </a:r>
            <a:r>
              <a:rPr lang="ru-RU" sz="2400" dirty="0">
                <a:solidFill>
                  <a:schemeClr val="accent2">
                    <a:lumMod val="50000"/>
                  </a:schemeClr>
                </a:solidFill>
              </a:rPr>
              <a:t>- данное состояние означает, что в процессе выполнения тест-кейса был обнаружен дефект, заключающийся в том, что ожидаемый результат по как минимум одному шагу тест-кейса не совпадает с фактическим результатом. </a:t>
            </a:r>
            <a:endParaRPr lang="ru-RU" sz="2400" dirty="0" smtClean="0">
              <a:solidFill>
                <a:schemeClr val="accent2">
                  <a:lumMod val="50000"/>
                </a:schemeClr>
              </a:solidFill>
            </a:endParaRPr>
          </a:p>
          <a:p>
            <a:pPr marL="45720" indent="0">
              <a:buNone/>
            </a:pPr>
            <a:r>
              <a:rPr lang="ru-RU" sz="2400" b="1" dirty="0" smtClean="0">
                <a:solidFill>
                  <a:schemeClr val="accent2">
                    <a:lumMod val="50000"/>
                  </a:schemeClr>
                </a:solidFill>
              </a:rPr>
              <a:t>Пройден </a:t>
            </a:r>
            <a:r>
              <a:rPr lang="ru-RU" sz="2400" b="1" dirty="0">
                <a:solidFill>
                  <a:schemeClr val="accent2">
                    <a:lumMod val="50000"/>
                  </a:schemeClr>
                </a:solidFill>
              </a:rPr>
              <a:t>успешно </a:t>
            </a:r>
            <a:r>
              <a:rPr lang="ru-RU" sz="2400" dirty="0">
                <a:solidFill>
                  <a:schemeClr val="accent2">
                    <a:lumMod val="50000"/>
                  </a:schemeClr>
                </a:solidFill>
              </a:rPr>
              <a:t> - данное состояние означает, что в процессе выполнения тест-кейса не было обнаружено дефектов, связанных с расхождением ожидаемых и фактических результатов его шагов.</a:t>
            </a:r>
          </a:p>
          <a:p>
            <a:endParaRPr lang="ru-RU" dirty="0"/>
          </a:p>
        </p:txBody>
      </p:sp>
    </p:spTree>
    <p:extLst>
      <p:ext uri="{BB962C8B-B14F-4D97-AF65-F5344CB8AC3E}">
        <p14:creationId xmlns:p14="http://schemas.microsoft.com/office/powerpoint/2010/main" val="7376662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dirty="0"/>
              <a:t>Жизненный цикл тест кейса</a:t>
            </a:r>
            <a:endParaRPr lang="ru-RU" dirty="0"/>
          </a:p>
        </p:txBody>
      </p:sp>
      <p:sp>
        <p:nvSpPr>
          <p:cNvPr id="3" name="Объект 2"/>
          <p:cNvSpPr>
            <a:spLocks noGrp="1"/>
          </p:cNvSpPr>
          <p:nvPr>
            <p:ph idx="1"/>
          </p:nvPr>
        </p:nvSpPr>
        <p:spPr>
          <a:xfrm>
            <a:off x="429492" y="1676400"/>
            <a:ext cx="11416144" cy="4821382"/>
          </a:xfrm>
        </p:spPr>
        <p:txBody>
          <a:bodyPr>
            <a:normAutofit/>
          </a:bodyPr>
          <a:lstStyle/>
          <a:p>
            <a:pPr marL="45720" indent="0">
              <a:buNone/>
            </a:pPr>
            <a:r>
              <a:rPr lang="ru-RU" sz="2400" b="1" dirty="0">
                <a:solidFill>
                  <a:schemeClr val="accent2">
                    <a:lumMod val="50000"/>
                  </a:schemeClr>
                </a:solidFill>
              </a:rPr>
              <a:t>Заблокирован  </a:t>
            </a:r>
            <a:r>
              <a:rPr lang="ru-RU" sz="2400" dirty="0">
                <a:solidFill>
                  <a:schemeClr val="accent2">
                    <a:lumMod val="50000"/>
                  </a:schemeClr>
                </a:solidFill>
              </a:rPr>
              <a:t>- данное состояние означает, что по какой-то причине выполнение тест-кейса </a:t>
            </a:r>
            <a:r>
              <a:rPr lang="ru-RU" sz="2400" dirty="0" smtClean="0">
                <a:solidFill>
                  <a:schemeClr val="accent2">
                    <a:lumMod val="50000"/>
                  </a:schemeClr>
                </a:solidFill>
              </a:rPr>
              <a:t>невозможно.</a:t>
            </a:r>
            <a:endParaRPr lang="ru-RU" sz="2400" dirty="0">
              <a:solidFill>
                <a:schemeClr val="accent2">
                  <a:lumMod val="50000"/>
                </a:schemeClr>
              </a:solidFill>
            </a:endParaRPr>
          </a:p>
          <a:p>
            <a:pPr marL="45720" indent="0">
              <a:buNone/>
            </a:pPr>
            <a:r>
              <a:rPr lang="ru-RU" sz="2400" b="1" dirty="0" smtClean="0">
                <a:solidFill>
                  <a:schemeClr val="accent2">
                    <a:lumMod val="50000"/>
                  </a:schemeClr>
                </a:solidFill>
              </a:rPr>
              <a:t>Закрыт</a:t>
            </a:r>
            <a:r>
              <a:rPr lang="ru-RU" sz="2400" b="1" dirty="0">
                <a:solidFill>
                  <a:schemeClr val="accent2">
                    <a:lumMod val="50000"/>
                  </a:schemeClr>
                </a:solidFill>
              </a:rPr>
              <a:t> </a:t>
            </a:r>
            <a:r>
              <a:rPr lang="ru-RU" sz="2400" dirty="0">
                <a:solidFill>
                  <a:schemeClr val="accent2">
                    <a:lumMod val="50000"/>
                  </a:schemeClr>
                </a:solidFill>
              </a:rPr>
              <a:t>- </a:t>
            </a:r>
            <a:r>
              <a:rPr lang="ru-RU" sz="2400" dirty="0" smtClean="0">
                <a:solidFill>
                  <a:schemeClr val="accent2">
                    <a:lumMod val="50000"/>
                  </a:schemeClr>
                </a:solidFill>
              </a:rPr>
              <a:t>в </a:t>
            </a:r>
            <a:r>
              <a:rPr lang="ru-RU" sz="2400" dirty="0">
                <a:solidFill>
                  <a:schemeClr val="accent2">
                    <a:lumMod val="50000"/>
                  </a:schemeClr>
                </a:solidFill>
              </a:rPr>
              <a:t>некоторых системах управления тест-кейс переводят в данное состояние, чтобы подчеркнуть тот факт, что на данной итерации тестирования все действия с ним завершены.</a:t>
            </a:r>
          </a:p>
          <a:p>
            <a:pPr marL="45720" indent="0">
              <a:buNone/>
            </a:pPr>
            <a:r>
              <a:rPr lang="ru-RU" sz="2400" b="1" dirty="0" smtClean="0">
                <a:solidFill>
                  <a:schemeClr val="accent2">
                    <a:lumMod val="50000"/>
                  </a:schemeClr>
                </a:solidFill>
              </a:rPr>
              <a:t>Требует доработки  </a:t>
            </a:r>
            <a:r>
              <a:rPr lang="ru-RU" sz="2400" dirty="0" smtClean="0">
                <a:solidFill>
                  <a:schemeClr val="accent2">
                    <a:lumMod val="50000"/>
                  </a:schemeClr>
                </a:solidFill>
              </a:rPr>
              <a:t>- в это состояние (или из него) тест-кейс может быть переведён в любой момент времени, если в нём будет обнаружена ошибка, если изменятся требования, по которым он был написан, или наступит иная ситуация, не позволяющая считать тест-кейс пригодным для выполнения и перевода в иные состояния.</a:t>
            </a:r>
          </a:p>
          <a:p>
            <a:endParaRPr lang="ru-RU" sz="2400" dirty="0">
              <a:solidFill>
                <a:schemeClr val="accent2">
                  <a:lumMod val="50000"/>
                </a:schemeClr>
              </a:solidFill>
            </a:endParaRPr>
          </a:p>
        </p:txBody>
      </p:sp>
    </p:spTree>
    <p:extLst>
      <p:ext uri="{BB962C8B-B14F-4D97-AF65-F5344CB8AC3E}">
        <p14:creationId xmlns:p14="http://schemas.microsoft.com/office/powerpoint/2010/main" val="28278925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253836" y="0"/>
            <a:ext cx="9875520" cy="1356360"/>
          </a:xfrm>
        </p:spPr>
        <p:txBody>
          <a:bodyPr/>
          <a:lstStyle/>
          <a:p>
            <a:pPr algn="ctr"/>
            <a:r>
              <a:rPr lang="ru-RU" b="1" dirty="0"/>
              <a:t>Структура тест </a:t>
            </a:r>
            <a:r>
              <a:rPr lang="ru-RU" b="1" dirty="0" smtClean="0"/>
              <a:t>кейса</a:t>
            </a:r>
            <a:endParaRPr lang="ru-RU" dirty="0"/>
          </a:p>
        </p:txBody>
      </p:sp>
      <p:pic>
        <p:nvPicPr>
          <p:cNvPr id="3074" name="Picture 2" descr="https://lh4.googleusercontent.com/Qn0Qnmu6lLEaNFDgdy_GwRRLnpDNy3fVvcYUnkEFyRbcHDZc35iYiCcOitKOwQPMYHWFEbqeSpPhQPeHn4LWGBCWpkYMv7BoHCWLt0mOjo2TEuWv2FElZtRYe4I2DNVgo3BJUt3y"/>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32412" y="1015962"/>
            <a:ext cx="10196944" cy="54229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02887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dirty="0"/>
              <a:t>Структура тест кейса</a:t>
            </a:r>
            <a:endParaRPr lang="ru-RU" dirty="0"/>
          </a:p>
        </p:txBody>
      </p:sp>
      <p:sp>
        <p:nvSpPr>
          <p:cNvPr id="3" name="Объект 2"/>
          <p:cNvSpPr>
            <a:spLocks noGrp="1"/>
          </p:cNvSpPr>
          <p:nvPr>
            <p:ph idx="1"/>
          </p:nvPr>
        </p:nvSpPr>
        <p:spPr>
          <a:xfrm>
            <a:off x="360218" y="1717964"/>
            <a:ext cx="11513127" cy="4378036"/>
          </a:xfrm>
        </p:spPr>
        <p:txBody>
          <a:bodyPr>
            <a:normAutofit/>
          </a:bodyPr>
          <a:lstStyle/>
          <a:p>
            <a:pPr marL="45720" indent="0">
              <a:buNone/>
            </a:pPr>
            <a:r>
              <a:rPr lang="ru-RU" sz="2400" b="1" dirty="0" smtClean="0">
                <a:solidFill>
                  <a:schemeClr val="accent2">
                    <a:lumMod val="50000"/>
                  </a:schemeClr>
                </a:solidFill>
              </a:rPr>
              <a:t>Идентификатор</a:t>
            </a:r>
            <a:r>
              <a:rPr lang="ru-RU" sz="2400" b="1" dirty="0">
                <a:solidFill>
                  <a:schemeClr val="accent2">
                    <a:lumMod val="50000"/>
                  </a:schemeClr>
                </a:solidFill>
              </a:rPr>
              <a:t> </a:t>
            </a:r>
            <a:r>
              <a:rPr lang="ru-RU" sz="2400" dirty="0">
                <a:solidFill>
                  <a:schemeClr val="accent2">
                    <a:lumMod val="50000"/>
                  </a:schemeClr>
                </a:solidFill>
              </a:rPr>
              <a:t>представляет собой уникальное значение, позволяющее однозначно отличить один тест-кейс от другого и используемое во всевозможных ссылках</a:t>
            </a:r>
            <a:r>
              <a:rPr lang="ru-RU" sz="2400" dirty="0" smtClean="0">
                <a:solidFill>
                  <a:schemeClr val="accent2">
                    <a:lumMod val="50000"/>
                  </a:schemeClr>
                </a:solidFill>
              </a:rPr>
              <a:t>.</a:t>
            </a:r>
          </a:p>
          <a:p>
            <a:pPr marL="45720" indent="0">
              <a:buNone/>
            </a:pPr>
            <a:r>
              <a:rPr lang="ru-RU" sz="2400" b="1" dirty="0">
                <a:solidFill>
                  <a:schemeClr val="accent2">
                    <a:lumMod val="50000"/>
                  </a:schemeClr>
                </a:solidFill>
              </a:rPr>
              <a:t>Приоритет </a:t>
            </a:r>
            <a:r>
              <a:rPr lang="ru-RU" sz="2400" dirty="0" smtClean="0">
                <a:solidFill>
                  <a:schemeClr val="accent2">
                    <a:lumMod val="50000"/>
                  </a:schemeClr>
                </a:solidFill>
              </a:rPr>
              <a:t>показывает </a:t>
            </a:r>
            <a:r>
              <a:rPr lang="ru-RU" sz="2400" dirty="0">
                <a:solidFill>
                  <a:schemeClr val="accent2">
                    <a:lumMod val="50000"/>
                  </a:schemeClr>
                </a:solidFill>
              </a:rPr>
              <a:t>важность тест-кейса. Он может быть выражен буквами (A, B, C, D, E), цифрами (1, 2, 3, 4, 5), словами («крайне высокий», «высокий», «средний», «низкий», «крайне низкий») или иным удобным способом. Количество градаций также не фиксировано, но, чаще всего, лежит в диапазоне от трёх до пяти</a:t>
            </a:r>
            <a:r>
              <a:rPr lang="ru-RU" sz="2400" dirty="0" smtClean="0">
                <a:solidFill>
                  <a:schemeClr val="accent2">
                    <a:lumMod val="50000"/>
                  </a:schemeClr>
                </a:solidFill>
              </a:rPr>
              <a:t>.</a:t>
            </a:r>
          </a:p>
          <a:p>
            <a:pPr marL="45720" indent="0">
              <a:buNone/>
            </a:pPr>
            <a:r>
              <a:rPr lang="ru-RU" sz="2400" b="1" dirty="0">
                <a:solidFill>
                  <a:schemeClr val="accent2">
                    <a:lumMod val="50000"/>
                  </a:schemeClr>
                </a:solidFill>
              </a:rPr>
              <a:t>Связанное с тест-кейсом требование </a:t>
            </a:r>
            <a:r>
              <a:rPr lang="ru-RU" sz="2400" dirty="0" smtClean="0">
                <a:solidFill>
                  <a:schemeClr val="accent2">
                    <a:lumMod val="50000"/>
                  </a:schemeClr>
                </a:solidFill>
              </a:rPr>
              <a:t>показывает </a:t>
            </a:r>
            <a:r>
              <a:rPr lang="ru-RU" sz="2400" dirty="0">
                <a:solidFill>
                  <a:schemeClr val="accent2">
                    <a:lumMod val="50000"/>
                  </a:schemeClr>
                </a:solidFill>
              </a:rPr>
              <a:t>то основное требование, проверке выполнения которого посвящён </a:t>
            </a:r>
            <a:r>
              <a:rPr lang="ru-RU" sz="2400" dirty="0" smtClean="0">
                <a:solidFill>
                  <a:schemeClr val="accent2">
                    <a:lumMod val="50000"/>
                  </a:schemeClr>
                </a:solidFill>
              </a:rPr>
              <a:t>тест-кейс.</a:t>
            </a:r>
          </a:p>
          <a:p>
            <a:pPr marL="45720" indent="0">
              <a:buNone/>
            </a:pPr>
            <a:r>
              <a:rPr lang="ru-RU" sz="2400" b="1" dirty="0">
                <a:solidFill>
                  <a:schemeClr val="accent2">
                    <a:lumMod val="50000"/>
                  </a:schemeClr>
                </a:solidFill>
              </a:rPr>
              <a:t>Модуль и подмодуль </a:t>
            </a:r>
            <a:r>
              <a:rPr lang="ru-RU" sz="2400" b="1" dirty="0" smtClean="0">
                <a:solidFill>
                  <a:schemeClr val="accent2">
                    <a:lumMod val="50000"/>
                  </a:schemeClr>
                </a:solidFill>
              </a:rPr>
              <a:t>приложения </a:t>
            </a:r>
            <a:r>
              <a:rPr lang="ru-RU" sz="2400" dirty="0">
                <a:solidFill>
                  <a:schemeClr val="accent2">
                    <a:lumMod val="50000"/>
                  </a:schemeClr>
                </a:solidFill>
              </a:rPr>
              <a:t>указывают на части приложения, к которым относится тест-кейс, и позволяют лучше понять его цель.</a:t>
            </a:r>
          </a:p>
        </p:txBody>
      </p:sp>
    </p:spTree>
    <p:extLst>
      <p:ext uri="{BB962C8B-B14F-4D97-AF65-F5344CB8AC3E}">
        <p14:creationId xmlns:p14="http://schemas.microsoft.com/office/powerpoint/2010/main" val="6933305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dirty="0"/>
              <a:t>Структура тест кейса</a:t>
            </a:r>
            <a:endParaRPr lang="ru-RU" dirty="0"/>
          </a:p>
        </p:txBody>
      </p:sp>
      <p:sp>
        <p:nvSpPr>
          <p:cNvPr id="3" name="Объект 2"/>
          <p:cNvSpPr>
            <a:spLocks noGrp="1"/>
          </p:cNvSpPr>
          <p:nvPr>
            <p:ph idx="1"/>
          </p:nvPr>
        </p:nvSpPr>
        <p:spPr>
          <a:xfrm>
            <a:off x="471056" y="1856509"/>
            <a:ext cx="11360726" cy="4668982"/>
          </a:xfrm>
        </p:spPr>
        <p:txBody>
          <a:bodyPr/>
          <a:lstStyle/>
          <a:p>
            <a:pPr marL="45720" indent="0">
              <a:buNone/>
            </a:pPr>
            <a:r>
              <a:rPr lang="ru-RU" sz="2400" b="1" dirty="0">
                <a:solidFill>
                  <a:schemeClr val="accent2">
                    <a:lumMod val="50000"/>
                  </a:schemeClr>
                </a:solidFill>
              </a:rPr>
              <a:t>Заглавие (суть) </a:t>
            </a:r>
            <a:r>
              <a:rPr lang="ru-RU" sz="2400" b="1" dirty="0" smtClean="0">
                <a:solidFill>
                  <a:schemeClr val="accent2">
                    <a:lumMod val="50000"/>
                  </a:schemeClr>
                </a:solidFill>
              </a:rPr>
              <a:t>тест-кейса</a:t>
            </a:r>
            <a:r>
              <a:rPr lang="ru-RU" sz="2400" b="1" dirty="0">
                <a:solidFill>
                  <a:schemeClr val="accent2">
                    <a:lumMod val="50000"/>
                  </a:schemeClr>
                </a:solidFill>
              </a:rPr>
              <a:t> </a:t>
            </a:r>
            <a:r>
              <a:rPr lang="ru-RU" sz="2400" dirty="0">
                <a:solidFill>
                  <a:schemeClr val="accent2">
                    <a:lumMod val="50000"/>
                  </a:schemeClr>
                </a:solidFill>
              </a:rPr>
              <a:t>призвано упростить и ускорить понимание основной идеи (цели) тест-кейса без обращения к его остальным атрибутам.</a:t>
            </a:r>
          </a:p>
          <a:p>
            <a:pPr marL="45720" indent="0">
              <a:buNone/>
            </a:pPr>
            <a:r>
              <a:rPr lang="ru-RU" sz="2400" b="1" dirty="0">
                <a:solidFill>
                  <a:schemeClr val="accent2">
                    <a:lumMod val="50000"/>
                  </a:schemeClr>
                </a:solidFill>
              </a:rPr>
              <a:t>Исходные данные</a:t>
            </a:r>
            <a:r>
              <a:rPr lang="ru-RU" sz="2400" dirty="0">
                <a:solidFill>
                  <a:schemeClr val="accent2">
                    <a:lumMod val="50000"/>
                  </a:schemeClr>
                </a:solidFill>
              </a:rPr>
              <a:t>, необходимые для выполнения </a:t>
            </a:r>
            <a:r>
              <a:rPr lang="ru-RU" sz="2400" dirty="0" smtClean="0">
                <a:solidFill>
                  <a:schemeClr val="accent2">
                    <a:lumMod val="50000"/>
                  </a:schemeClr>
                </a:solidFill>
              </a:rPr>
              <a:t>тест-кейса, </a:t>
            </a:r>
            <a:r>
              <a:rPr lang="ru-RU" sz="2400" dirty="0">
                <a:solidFill>
                  <a:schemeClr val="accent2">
                    <a:lumMod val="50000"/>
                  </a:schemeClr>
                </a:solidFill>
              </a:rPr>
              <a:t>позволяют описать всё то, что должно быть подготовлено до начала выполнения тест-кейса, например:</a:t>
            </a:r>
          </a:p>
          <a:p>
            <a:pPr lvl="1"/>
            <a:r>
              <a:rPr lang="ru-RU" sz="2400" dirty="0">
                <a:solidFill>
                  <a:schemeClr val="accent2">
                    <a:lumMod val="50000"/>
                  </a:schemeClr>
                </a:solidFill>
              </a:rPr>
              <a:t>состояние базы данных;</a:t>
            </a:r>
          </a:p>
          <a:p>
            <a:pPr lvl="1"/>
            <a:r>
              <a:rPr lang="ru-RU" sz="2400" dirty="0">
                <a:solidFill>
                  <a:schemeClr val="accent2">
                    <a:lumMod val="50000"/>
                  </a:schemeClr>
                </a:solidFill>
              </a:rPr>
              <a:t>состояние файловой системы и её объектов;</a:t>
            </a:r>
          </a:p>
          <a:p>
            <a:pPr lvl="1"/>
            <a:r>
              <a:rPr lang="ru-RU" sz="2400" dirty="0">
                <a:solidFill>
                  <a:schemeClr val="accent2">
                    <a:lumMod val="50000"/>
                  </a:schemeClr>
                </a:solidFill>
              </a:rPr>
              <a:t>состояние серверов и сетевой инфраструктуры.</a:t>
            </a:r>
          </a:p>
          <a:p>
            <a:pPr marL="45720" indent="0">
              <a:buNone/>
            </a:pPr>
            <a:r>
              <a:rPr lang="ru-RU" sz="2400" b="1" dirty="0">
                <a:solidFill>
                  <a:schemeClr val="accent2">
                    <a:lumMod val="50000"/>
                  </a:schemeClr>
                </a:solidFill>
              </a:rPr>
              <a:t>Шаги тест-кейса </a:t>
            </a:r>
            <a:r>
              <a:rPr lang="ru-RU" sz="2400" dirty="0" smtClean="0">
                <a:solidFill>
                  <a:schemeClr val="accent2">
                    <a:lumMod val="50000"/>
                  </a:schemeClr>
                </a:solidFill>
              </a:rPr>
              <a:t>описывают </a:t>
            </a:r>
            <a:r>
              <a:rPr lang="ru-RU" sz="2400" dirty="0">
                <a:solidFill>
                  <a:schemeClr val="accent2">
                    <a:lumMod val="50000"/>
                  </a:schemeClr>
                </a:solidFill>
              </a:rPr>
              <a:t>последовательность действий, которые необходимо реализовать в процессе выполнения тест-кейса.</a:t>
            </a:r>
          </a:p>
          <a:p>
            <a:endParaRPr lang="ru-RU" dirty="0"/>
          </a:p>
        </p:txBody>
      </p:sp>
    </p:spTree>
    <p:extLst>
      <p:ext uri="{BB962C8B-B14F-4D97-AF65-F5344CB8AC3E}">
        <p14:creationId xmlns:p14="http://schemas.microsoft.com/office/powerpoint/2010/main" val="12098400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09017" y="249381"/>
            <a:ext cx="11540836" cy="1356360"/>
          </a:xfrm>
        </p:spPr>
        <p:txBody>
          <a:bodyPr/>
          <a:lstStyle/>
          <a:p>
            <a:r>
              <a:rPr lang="ru-RU" b="1" dirty="0" smtClean="0"/>
              <a:t>Рекомендации по написанию тест-кейса</a:t>
            </a:r>
            <a:endParaRPr lang="ru-RU" b="1" dirty="0"/>
          </a:p>
        </p:txBody>
      </p:sp>
      <p:sp>
        <p:nvSpPr>
          <p:cNvPr id="3" name="Объект 2"/>
          <p:cNvSpPr>
            <a:spLocks noGrp="1"/>
          </p:cNvSpPr>
          <p:nvPr>
            <p:ph idx="1"/>
          </p:nvPr>
        </p:nvSpPr>
        <p:spPr>
          <a:xfrm>
            <a:off x="309017" y="1413164"/>
            <a:ext cx="11540835" cy="5098472"/>
          </a:xfrm>
        </p:spPr>
        <p:txBody>
          <a:bodyPr>
            <a:normAutofit/>
          </a:bodyPr>
          <a:lstStyle/>
          <a:p>
            <a:pPr marL="502920" indent="-457200">
              <a:buFont typeface="+mj-lt"/>
              <a:buAutoNum type="arabicPeriod"/>
            </a:pPr>
            <a:r>
              <a:rPr lang="ru-RU" sz="2400" dirty="0">
                <a:solidFill>
                  <a:schemeClr val="accent2">
                    <a:lumMod val="50000"/>
                  </a:schemeClr>
                </a:solidFill>
              </a:rPr>
              <a:t>Начинайте с понятного и очевидного места, не пишите лишних начальных шагов (запуск приложения, очевидные операции с интерфейсом и т.п.).</a:t>
            </a:r>
          </a:p>
          <a:p>
            <a:pPr marL="502920" indent="-457200">
              <a:buFont typeface="+mj-lt"/>
              <a:buAutoNum type="arabicPeriod"/>
            </a:pPr>
            <a:r>
              <a:rPr lang="ru-RU" sz="2400" dirty="0">
                <a:solidFill>
                  <a:schemeClr val="accent2">
                    <a:lumMod val="50000"/>
                  </a:schemeClr>
                </a:solidFill>
              </a:rPr>
              <a:t>Даже если в тест-кейсе всего один шаг, нумеруйте </a:t>
            </a:r>
            <a:r>
              <a:rPr lang="ru-RU" sz="2400" dirty="0" smtClean="0">
                <a:solidFill>
                  <a:schemeClr val="accent2">
                    <a:lumMod val="50000"/>
                  </a:schemeClr>
                </a:solidFill>
              </a:rPr>
              <a:t>его.</a:t>
            </a:r>
            <a:endParaRPr lang="ru-RU" sz="2400" dirty="0">
              <a:solidFill>
                <a:schemeClr val="accent2">
                  <a:lumMod val="50000"/>
                </a:schemeClr>
              </a:solidFill>
            </a:endParaRPr>
          </a:p>
          <a:p>
            <a:pPr marL="502920" indent="-457200">
              <a:buFont typeface="+mj-lt"/>
              <a:buAutoNum type="arabicPeriod"/>
            </a:pPr>
            <a:r>
              <a:rPr lang="ru-RU" sz="2400" dirty="0">
                <a:solidFill>
                  <a:schemeClr val="accent2">
                    <a:lumMod val="50000"/>
                  </a:schemeClr>
                </a:solidFill>
              </a:rPr>
              <a:t>Если вы пишете на русском языке, то используйте безличную форму (например, «открыть», «ввести», «добавить</a:t>
            </a:r>
            <a:r>
              <a:rPr lang="ru-RU" sz="2400" dirty="0" smtClean="0">
                <a:solidFill>
                  <a:schemeClr val="accent2">
                    <a:lumMod val="50000"/>
                  </a:schemeClr>
                </a:solidFill>
              </a:rPr>
              <a:t>»).</a:t>
            </a:r>
            <a:endParaRPr lang="ru-RU" sz="2400" dirty="0">
              <a:solidFill>
                <a:schemeClr val="accent2">
                  <a:lumMod val="50000"/>
                </a:schemeClr>
              </a:solidFill>
            </a:endParaRPr>
          </a:p>
          <a:p>
            <a:pPr marL="502920" indent="-457200">
              <a:buFont typeface="+mj-lt"/>
              <a:buAutoNum type="arabicPeriod"/>
            </a:pPr>
            <a:r>
              <a:rPr lang="ru-RU" sz="2400" dirty="0">
                <a:solidFill>
                  <a:schemeClr val="accent2">
                    <a:lumMod val="50000"/>
                  </a:schemeClr>
                </a:solidFill>
              </a:rPr>
              <a:t>Соотносите степень детализации шагов и их параметров с целью тест-кейса, его сложностью, уровнем и т.д. В зависимости от этих и многих других факторов степень детализации может варьироваться от общих идей до предельно чётко прописанных значений и указаний.</a:t>
            </a:r>
          </a:p>
          <a:p>
            <a:pPr marL="502920" indent="-457200">
              <a:buFont typeface="+mj-lt"/>
              <a:buAutoNum type="arabicPeriod"/>
            </a:pPr>
            <a:r>
              <a:rPr lang="ru-RU" sz="2400" dirty="0">
                <a:solidFill>
                  <a:schemeClr val="accent2">
                    <a:lumMod val="50000"/>
                  </a:schemeClr>
                </a:solidFill>
              </a:rPr>
              <a:t>Ссылайтесь на предыдущие шаги и их диапазоны для сокращения объёма текста (например, «повторить шаги 3–5 со значением…»).</a:t>
            </a:r>
          </a:p>
          <a:p>
            <a:pPr marL="502920" indent="-457200">
              <a:buFont typeface="+mj-lt"/>
              <a:buAutoNum type="arabicPeriod"/>
            </a:pPr>
            <a:r>
              <a:rPr lang="ru-RU" sz="2400" dirty="0">
                <a:solidFill>
                  <a:schemeClr val="accent2">
                    <a:lumMod val="50000"/>
                  </a:schemeClr>
                </a:solidFill>
              </a:rPr>
              <a:t>Пишите шаги последовательно, без условных конструкций вида «если… то</a:t>
            </a:r>
            <a:r>
              <a:rPr lang="ru-RU" sz="2400" dirty="0" smtClean="0">
                <a:solidFill>
                  <a:schemeClr val="accent2">
                    <a:lumMod val="50000"/>
                  </a:schemeClr>
                </a:solidFill>
              </a:rPr>
              <a:t>…».</a:t>
            </a:r>
            <a:endParaRPr lang="ru-RU" sz="2400" dirty="0">
              <a:solidFill>
                <a:schemeClr val="accent2">
                  <a:lumMod val="50000"/>
                </a:schemeClr>
              </a:solidFill>
            </a:endParaRPr>
          </a:p>
        </p:txBody>
      </p:sp>
    </p:spTree>
    <p:extLst>
      <p:ext uri="{BB962C8B-B14F-4D97-AF65-F5344CB8AC3E}">
        <p14:creationId xmlns:p14="http://schemas.microsoft.com/office/powerpoint/2010/main" val="2122675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140351" y="277091"/>
            <a:ext cx="9875520" cy="1356360"/>
          </a:xfrm>
        </p:spPr>
        <p:txBody>
          <a:bodyPr/>
          <a:lstStyle/>
          <a:p>
            <a:pPr algn="ctr"/>
            <a:r>
              <a:rPr lang="ru-RU" b="1" dirty="0"/>
              <a:t>Структура тест кейса</a:t>
            </a:r>
            <a:endParaRPr lang="ru-RU" dirty="0"/>
          </a:p>
        </p:txBody>
      </p:sp>
      <p:sp>
        <p:nvSpPr>
          <p:cNvPr id="3" name="Объект 2"/>
          <p:cNvSpPr>
            <a:spLocks noGrp="1"/>
          </p:cNvSpPr>
          <p:nvPr>
            <p:ph idx="1"/>
          </p:nvPr>
        </p:nvSpPr>
        <p:spPr>
          <a:xfrm>
            <a:off x="332509" y="1468582"/>
            <a:ext cx="11499273" cy="5084618"/>
          </a:xfrm>
        </p:spPr>
        <p:txBody>
          <a:bodyPr>
            <a:normAutofit/>
          </a:bodyPr>
          <a:lstStyle/>
          <a:p>
            <a:pPr marL="45720" indent="0">
              <a:buNone/>
            </a:pPr>
            <a:r>
              <a:rPr lang="ru-RU" sz="2400" b="1" dirty="0">
                <a:solidFill>
                  <a:schemeClr val="accent2">
                    <a:lumMod val="50000"/>
                  </a:schemeClr>
                </a:solidFill>
              </a:rPr>
              <a:t>Ожидаемые </a:t>
            </a:r>
            <a:r>
              <a:rPr lang="ru-RU" sz="2400" b="1" dirty="0" smtClean="0">
                <a:solidFill>
                  <a:schemeClr val="accent2">
                    <a:lumMod val="50000"/>
                  </a:schemeClr>
                </a:solidFill>
              </a:rPr>
              <a:t>результаты</a:t>
            </a:r>
            <a:r>
              <a:rPr lang="ru-RU" sz="2400" b="1" dirty="0">
                <a:solidFill>
                  <a:schemeClr val="accent2">
                    <a:lumMod val="50000"/>
                  </a:schemeClr>
                </a:solidFill>
              </a:rPr>
              <a:t> </a:t>
            </a:r>
            <a:r>
              <a:rPr lang="ru-RU" sz="2400" dirty="0">
                <a:solidFill>
                  <a:schemeClr val="accent2">
                    <a:lumMod val="50000"/>
                  </a:schemeClr>
                </a:solidFill>
              </a:rPr>
              <a:t>по каждому шагу тест-кейса описывают реакцию приложения на действия, описанные в поле «шаги тест-кейса». Номер шага соответствует номеру результата.</a:t>
            </a:r>
          </a:p>
          <a:p>
            <a:pPr marL="45720" indent="0">
              <a:buNone/>
            </a:pPr>
            <a:r>
              <a:rPr lang="ru-RU" sz="2400" dirty="0">
                <a:solidFill>
                  <a:schemeClr val="accent2">
                    <a:lumMod val="50000"/>
                  </a:schemeClr>
                </a:solidFill>
              </a:rPr>
              <a:t>По написанию ожидаемых результатов можно порекомендовать следующее:</a:t>
            </a:r>
          </a:p>
          <a:p>
            <a:pPr lvl="1"/>
            <a:r>
              <a:rPr lang="ru-RU" sz="2400" dirty="0">
                <a:solidFill>
                  <a:schemeClr val="accent2">
                    <a:lumMod val="50000"/>
                  </a:schemeClr>
                </a:solidFill>
              </a:rPr>
              <a:t>Описывайте поведение системы так, чтобы исключить субъективное толкование (например, «приложение работает верно» — плохо, «появляется окно с надписью…» — хорошо).</a:t>
            </a:r>
          </a:p>
          <a:p>
            <a:pPr lvl="1"/>
            <a:r>
              <a:rPr lang="ru-RU" sz="2400" dirty="0">
                <a:solidFill>
                  <a:schemeClr val="accent2">
                    <a:lumMod val="50000"/>
                  </a:schemeClr>
                </a:solidFill>
              </a:rPr>
              <a:t>Пишите ожидаемый результат по всем шагам без исключения, если у вас есть хоть малейшие сомнения в том, что результат некоего шага будет совершенно тривиальным и </a:t>
            </a:r>
            <a:r>
              <a:rPr lang="ru-RU" sz="2400" dirty="0" smtClean="0">
                <a:solidFill>
                  <a:schemeClr val="accent2">
                    <a:lumMod val="50000"/>
                  </a:schemeClr>
                </a:solidFill>
              </a:rPr>
              <a:t>очевидным.</a:t>
            </a:r>
            <a:endParaRPr lang="ru-RU" sz="2400" dirty="0">
              <a:solidFill>
                <a:schemeClr val="accent2">
                  <a:lumMod val="50000"/>
                </a:schemeClr>
              </a:solidFill>
            </a:endParaRPr>
          </a:p>
          <a:p>
            <a:pPr lvl="1"/>
            <a:r>
              <a:rPr lang="ru-RU" sz="2400" dirty="0">
                <a:solidFill>
                  <a:schemeClr val="accent2">
                    <a:lumMod val="50000"/>
                  </a:schemeClr>
                </a:solidFill>
              </a:rPr>
              <a:t>Пишите кратко, но не в ущерб информативности.</a:t>
            </a:r>
          </a:p>
          <a:p>
            <a:pPr lvl="1"/>
            <a:r>
              <a:rPr lang="ru-RU" sz="2400" dirty="0">
                <a:solidFill>
                  <a:schemeClr val="accent2">
                    <a:lumMod val="50000"/>
                  </a:schemeClr>
                </a:solidFill>
              </a:rPr>
              <a:t>Избегайте условных конструкций вида «если… то…».</a:t>
            </a:r>
          </a:p>
          <a:p>
            <a:endParaRPr lang="ru-RU" dirty="0"/>
          </a:p>
        </p:txBody>
      </p:sp>
    </p:spTree>
    <p:extLst>
      <p:ext uri="{BB962C8B-B14F-4D97-AF65-F5344CB8AC3E}">
        <p14:creationId xmlns:p14="http://schemas.microsoft.com/office/powerpoint/2010/main" val="25094625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220585" y="0"/>
            <a:ext cx="9875520" cy="1356360"/>
          </a:xfrm>
        </p:spPr>
        <p:txBody>
          <a:bodyPr/>
          <a:lstStyle/>
          <a:p>
            <a:pPr algn="ctr"/>
            <a:r>
              <a:rPr lang="ru-RU" b="1" dirty="0" smtClean="0"/>
              <a:t>Наборы тест-кейсов</a:t>
            </a:r>
            <a:endParaRPr lang="ru-RU" b="1" dirty="0"/>
          </a:p>
        </p:txBody>
      </p:sp>
      <p:sp>
        <p:nvSpPr>
          <p:cNvPr id="3" name="Объект 2"/>
          <p:cNvSpPr>
            <a:spLocks noGrp="1"/>
          </p:cNvSpPr>
          <p:nvPr>
            <p:ph idx="1"/>
          </p:nvPr>
        </p:nvSpPr>
        <p:spPr>
          <a:xfrm>
            <a:off x="235528" y="1025237"/>
            <a:ext cx="11679382" cy="5389418"/>
          </a:xfrm>
        </p:spPr>
        <p:txBody>
          <a:bodyPr>
            <a:noAutofit/>
          </a:bodyPr>
          <a:lstStyle/>
          <a:p>
            <a:pPr marL="45720" indent="0">
              <a:buNone/>
            </a:pPr>
            <a:r>
              <a:rPr lang="ru-RU" b="1" dirty="0">
                <a:solidFill>
                  <a:schemeClr val="accent2">
                    <a:lumMod val="50000"/>
                  </a:schemeClr>
                </a:solidFill>
              </a:rPr>
              <a:t>Набор тест-кейсов </a:t>
            </a:r>
            <a:r>
              <a:rPr lang="ru-RU" dirty="0" smtClean="0">
                <a:solidFill>
                  <a:schemeClr val="accent2">
                    <a:lumMod val="50000"/>
                  </a:schemeClr>
                </a:solidFill>
              </a:rPr>
              <a:t>- </a:t>
            </a:r>
            <a:r>
              <a:rPr lang="ru-RU" dirty="0">
                <a:solidFill>
                  <a:schemeClr val="accent2">
                    <a:lumMod val="50000"/>
                  </a:schemeClr>
                </a:solidFill>
              </a:rPr>
              <a:t>совокупность тест-кейсов, выбранных с некоторой общей целью или по некоторому общему признаку.</a:t>
            </a:r>
          </a:p>
          <a:p>
            <a:pPr marL="45720" indent="0">
              <a:buNone/>
            </a:pPr>
            <a:r>
              <a:rPr lang="ru-RU" dirty="0">
                <a:solidFill>
                  <a:schemeClr val="accent2">
                    <a:lumMod val="50000"/>
                  </a:schemeClr>
                </a:solidFill>
              </a:rPr>
              <a:t>Наборы тест-кейсов можно разделить на </a:t>
            </a:r>
            <a:r>
              <a:rPr lang="ru-RU" b="1" dirty="0">
                <a:solidFill>
                  <a:schemeClr val="accent2">
                    <a:lumMod val="50000"/>
                  </a:schemeClr>
                </a:solidFill>
              </a:rPr>
              <a:t>свободные</a:t>
            </a:r>
            <a:r>
              <a:rPr lang="ru-RU" dirty="0">
                <a:solidFill>
                  <a:schemeClr val="accent2">
                    <a:lumMod val="50000"/>
                  </a:schemeClr>
                </a:solidFill>
              </a:rPr>
              <a:t> (порядок выполнения тест-кейсов не важен) и </a:t>
            </a:r>
            <a:r>
              <a:rPr lang="ru-RU" b="1" dirty="0">
                <a:solidFill>
                  <a:schemeClr val="accent2">
                    <a:lumMod val="50000"/>
                  </a:schemeClr>
                </a:solidFill>
              </a:rPr>
              <a:t>последовательные </a:t>
            </a:r>
            <a:r>
              <a:rPr lang="ru-RU" dirty="0">
                <a:solidFill>
                  <a:schemeClr val="accent2">
                    <a:lumMod val="50000"/>
                  </a:schemeClr>
                </a:solidFill>
              </a:rPr>
              <a:t>(порядок выполнения тест-кейсов важен).</a:t>
            </a:r>
          </a:p>
          <a:p>
            <a:pPr marL="45720" indent="0">
              <a:buNone/>
            </a:pPr>
            <a:r>
              <a:rPr lang="ru-RU" b="1" dirty="0">
                <a:solidFill>
                  <a:schemeClr val="accent2">
                    <a:lumMod val="50000"/>
                  </a:schemeClr>
                </a:solidFill>
              </a:rPr>
              <a:t>Преимущества свободных наборов:</a:t>
            </a:r>
            <a:endParaRPr lang="ru-RU" dirty="0">
              <a:solidFill>
                <a:schemeClr val="accent2">
                  <a:lumMod val="50000"/>
                </a:schemeClr>
              </a:solidFill>
            </a:endParaRPr>
          </a:p>
          <a:p>
            <a:pPr lvl="1"/>
            <a:r>
              <a:rPr lang="ru-RU" sz="2200" dirty="0">
                <a:solidFill>
                  <a:schemeClr val="accent2">
                    <a:lumMod val="50000"/>
                  </a:schemeClr>
                </a:solidFill>
              </a:rPr>
              <a:t>Тест-кейсы можно выполнять в любом удобном порядке, а также создавать «наборы внутри наборов».</a:t>
            </a:r>
          </a:p>
          <a:p>
            <a:pPr lvl="1"/>
            <a:r>
              <a:rPr lang="ru-RU" sz="2200" dirty="0">
                <a:solidFill>
                  <a:schemeClr val="accent2">
                    <a:lumMod val="50000"/>
                  </a:schemeClr>
                </a:solidFill>
              </a:rPr>
              <a:t>Если какой-то тест-кейс завершился ошибкой, это не повлияет на возможность выполнения других тест-кейсов.</a:t>
            </a:r>
          </a:p>
          <a:p>
            <a:pPr marL="45720" indent="0">
              <a:buNone/>
            </a:pPr>
            <a:r>
              <a:rPr lang="ru-RU" b="1" dirty="0">
                <a:solidFill>
                  <a:schemeClr val="accent2">
                    <a:lumMod val="50000"/>
                  </a:schemeClr>
                </a:solidFill>
              </a:rPr>
              <a:t>Преимущества последовательных наборов:</a:t>
            </a:r>
            <a:endParaRPr lang="ru-RU" dirty="0">
              <a:solidFill>
                <a:schemeClr val="accent2">
                  <a:lumMod val="50000"/>
                </a:schemeClr>
              </a:solidFill>
            </a:endParaRPr>
          </a:p>
          <a:p>
            <a:pPr lvl="1"/>
            <a:r>
              <a:rPr lang="ru-RU" sz="2200" dirty="0">
                <a:solidFill>
                  <a:schemeClr val="accent2">
                    <a:lumMod val="50000"/>
                  </a:schemeClr>
                </a:solidFill>
              </a:rPr>
              <a:t>Каждый следующий в наборе тест-кейс, в качестве входного состояния приложения, получает результат работы предыдущего тест-кейса, что позволяет сильно сократить количество шагов в отдельных тест-кейсах.</a:t>
            </a:r>
          </a:p>
          <a:p>
            <a:pPr lvl="1"/>
            <a:r>
              <a:rPr lang="ru-RU" sz="2200" dirty="0">
                <a:solidFill>
                  <a:schemeClr val="accent2">
                    <a:lumMod val="50000"/>
                  </a:schemeClr>
                </a:solidFill>
              </a:rPr>
              <a:t>Длинные последовательности действий куда лучше имитируют работу реальных пользователей, чем отдельные «точечные» воздействия на приложение.</a:t>
            </a:r>
          </a:p>
          <a:p>
            <a:pPr lvl="1"/>
            <a:endParaRPr lang="ru-RU" sz="2200" dirty="0">
              <a:solidFill>
                <a:schemeClr val="accent2">
                  <a:lumMod val="50000"/>
                </a:schemeClr>
              </a:solidFill>
            </a:endParaRPr>
          </a:p>
        </p:txBody>
      </p:sp>
    </p:spTree>
    <p:extLst>
      <p:ext uri="{BB962C8B-B14F-4D97-AF65-F5344CB8AC3E}">
        <p14:creationId xmlns:p14="http://schemas.microsoft.com/office/powerpoint/2010/main" val="3676156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dirty="0"/>
              <a:t>Пользовательские истории</a:t>
            </a:r>
          </a:p>
        </p:txBody>
      </p:sp>
      <p:sp>
        <p:nvSpPr>
          <p:cNvPr id="3" name="Объект 2"/>
          <p:cNvSpPr>
            <a:spLocks noGrp="1"/>
          </p:cNvSpPr>
          <p:nvPr>
            <p:ph idx="1"/>
          </p:nvPr>
        </p:nvSpPr>
        <p:spPr>
          <a:xfrm>
            <a:off x="457200" y="1731818"/>
            <a:ext cx="11416145" cy="4613564"/>
          </a:xfrm>
        </p:spPr>
        <p:txBody>
          <a:bodyPr>
            <a:noAutofit/>
          </a:bodyPr>
          <a:lstStyle/>
          <a:p>
            <a:pPr marL="45720" indent="0">
              <a:buNone/>
            </a:pPr>
            <a:r>
              <a:rPr lang="ru-RU" sz="2400" b="1" dirty="0">
                <a:solidFill>
                  <a:schemeClr val="accent2">
                    <a:lumMod val="50000"/>
                  </a:schemeClr>
                </a:solidFill>
              </a:rPr>
              <a:t>Пользовательские истории</a:t>
            </a:r>
            <a:r>
              <a:rPr lang="ru-RU" sz="2400" dirty="0">
                <a:solidFill>
                  <a:schemeClr val="accent2">
                    <a:lumMod val="50000"/>
                  </a:schemeClr>
                </a:solidFill>
              </a:rPr>
              <a:t> (</a:t>
            </a:r>
            <a:r>
              <a:rPr lang="ru-RU" sz="2400" dirty="0" err="1">
                <a:solidFill>
                  <a:schemeClr val="accent2">
                    <a:lumMod val="50000"/>
                  </a:schemeClr>
                </a:solidFill>
              </a:rPr>
              <a:t>User</a:t>
            </a:r>
            <a:r>
              <a:rPr lang="ru-RU" sz="2400" dirty="0">
                <a:solidFill>
                  <a:schemeClr val="accent2">
                    <a:lumMod val="50000"/>
                  </a:schemeClr>
                </a:solidFill>
              </a:rPr>
              <a:t> </a:t>
            </a:r>
            <a:r>
              <a:rPr lang="ru-RU" sz="2400" dirty="0" err="1">
                <a:solidFill>
                  <a:schemeClr val="accent2">
                    <a:lumMod val="50000"/>
                  </a:schemeClr>
                </a:solidFill>
              </a:rPr>
              <a:t>Story</a:t>
            </a:r>
            <a:r>
              <a:rPr lang="ru-RU" sz="2400" dirty="0">
                <a:solidFill>
                  <a:schemeClr val="accent2">
                    <a:lumMod val="50000"/>
                  </a:schemeClr>
                </a:solidFill>
              </a:rPr>
              <a:t>) — способ описания требований к разрабатываемой системе, сформулированных как одно или более предложений на повседневном или деловом языке пользователя. Пользовательские истории используются гибкими методологиями разработки программного обеспечения для спецификации требований.</a:t>
            </a:r>
          </a:p>
          <a:p>
            <a:pPr marL="45720" indent="0">
              <a:buNone/>
            </a:pPr>
            <a:r>
              <a:rPr lang="ru-RU" sz="2400" b="1" dirty="0" err="1">
                <a:solidFill>
                  <a:schemeClr val="accent2">
                    <a:lumMod val="50000"/>
                  </a:schemeClr>
                </a:solidFill>
              </a:rPr>
              <a:t>User</a:t>
            </a:r>
            <a:r>
              <a:rPr lang="ru-RU" sz="2400" b="1" dirty="0">
                <a:solidFill>
                  <a:schemeClr val="accent2">
                    <a:lumMod val="50000"/>
                  </a:schemeClr>
                </a:solidFill>
              </a:rPr>
              <a:t> </a:t>
            </a:r>
            <a:r>
              <a:rPr lang="ru-RU" sz="2400" b="1" dirty="0" err="1">
                <a:solidFill>
                  <a:schemeClr val="accent2">
                    <a:lumMod val="50000"/>
                  </a:schemeClr>
                </a:solidFill>
              </a:rPr>
              <a:t>Story</a:t>
            </a:r>
            <a:r>
              <a:rPr lang="ru-RU" sz="2400" b="1" dirty="0">
                <a:solidFill>
                  <a:schemeClr val="accent2">
                    <a:lumMod val="50000"/>
                  </a:schemeClr>
                </a:solidFill>
              </a:rPr>
              <a:t>  </a:t>
            </a:r>
            <a:r>
              <a:rPr lang="ru-RU" sz="2400" dirty="0">
                <a:solidFill>
                  <a:schemeClr val="accent2">
                    <a:lumMod val="50000"/>
                  </a:schemeClr>
                </a:solidFill>
              </a:rPr>
              <a:t>—  это короткая формулировка намерения, описывающая что-то, что система должна делать для пользователя.</a:t>
            </a:r>
          </a:p>
          <a:p>
            <a:pPr marL="45720" indent="0">
              <a:buNone/>
            </a:pPr>
            <a:r>
              <a:rPr lang="ru-RU" sz="2400" b="1" dirty="0">
                <a:solidFill>
                  <a:schemeClr val="accent2">
                    <a:lumMod val="50000"/>
                  </a:schemeClr>
                </a:solidFill>
              </a:rPr>
              <a:t>Структура юзер </a:t>
            </a:r>
            <a:r>
              <a:rPr lang="ru-RU" sz="2400" b="1" dirty="0" err="1">
                <a:solidFill>
                  <a:schemeClr val="accent2">
                    <a:lumMod val="50000"/>
                  </a:schemeClr>
                </a:solidFill>
              </a:rPr>
              <a:t>стори</a:t>
            </a:r>
            <a:endParaRPr lang="ru-RU" sz="2400" dirty="0">
              <a:solidFill>
                <a:schemeClr val="accent2">
                  <a:lumMod val="50000"/>
                </a:schemeClr>
              </a:solidFill>
            </a:endParaRPr>
          </a:p>
          <a:p>
            <a:pPr marL="45720" indent="0">
              <a:buNone/>
            </a:pPr>
            <a:r>
              <a:rPr lang="ru-RU" sz="2400" dirty="0">
                <a:solidFill>
                  <a:schemeClr val="accent2">
                    <a:lumMod val="50000"/>
                  </a:schemeClr>
                </a:solidFill>
              </a:rPr>
              <a:t>Текст самой юзер </a:t>
            </a:r>
            <a:r>
              <a:rPr lang="ru-RU" sz="2400" dirty="0" err="1">
                <a:solidFill>
                  <a:schemeClr val="accent2">
                    <a:lumMod val="50000"/>
                  </a:schemeClr>
                </a:solidFill>
              </a:rPr>
              <a:t>стори</a:t>
            </a:r>
            <a:r>
              <a:rPr lang="ru-RU" sz="2400" dirty="0">
                <a:solidFill>
                  <a:schemeClr val="accent2">
                    <a:lumMod val="50000"/>
                  </a:schemeClr>
                </a:solidFill>
              </a:rPr>
              <a:t> должен объяснять роль/действия юзера в системе, его потребность и профит, который юзер получит после того как история случится.</a:t>
            </a:r>
          </a:p>
          <a:p>
            <a:pPr marL="45720" indent="0">
              <a:buNone/>
            </a:pPr>
            <a:r>
              <a:rPr lang="ru-RU" sz="2400" b="1" dirty="0">
                <a:solidFill>
                  <a:schemeClr val="accent2">
                    <a:lumMod val="50000"/>
                  </a:schemeClr>
                </a:solidFill>
              </a:rPr>
              <a:t>К примеру: Как, &lt;роль/персона юзера&gt;, я &lt;что-то хочу получить&gt;, &lt;с такой-то целью&gt; </a:t>
            </a:r>
            <a:endParaRPr lang="ru-RU" sz="2400" dirty="0">
              <a:solidFill>
                <a:schemeClr val="accent2">
                  <a:lumMod val="50000"/>
                </a:schemeClr>
              </a:solidFill>
            </a:endParaRPr>
          </a:p>
        </p:txBody>
      </p:sp>
    </p:spTree>
    <p:extLst>
      <p:ext uri="{BB962C8B-B14F-4D97-AF65-F5344CB8AC3E}">
        <p14:creationId xmlns:p14="http://schemas.microsoft.com/office/powerpoint/2010/main" val="826036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47266" y="0"/>
            <a:ext cx="10464338" cy="1356360"/>
          </a:xfrm>
        </p:spPr>
        <p:txBody>
          <a:bodyPr/>
          <a:lstStyle/>
          <a:p>
            <a:pPr algn="ctr"/>
            <a:r>
              <a:rPr lang="ru-RU" b="1" dirty="0"/>
              <a:t>Пользовательские истории</a:t>
            </a:r>
            <a:endParaRPr lang="ru-RU" dirty="0"/>
          </a:p>
        </p:txBody>
      </p:sp>
      <p:sp>
        <p:nvSpPr>
          <p:cNvPr id="3" name="Объект 2"/>
          <p:cNvSpPr>
            <a:spLocks noGrp="1"/>
          </p:cNvSpPr>
          <p:nvPr>
            <p:ph idx="1"/>
          </p:nvPr>
        </p:nvSpPr>
        <p:spPr>
          <a:xfrm>
            <a:off x="360218" y="1094509"/>
            <a:ext cx="11596255" cy="5389417"/>
          </a:xfrm>
        </p:spPr>
        <p:txBody>
          <a:bodyPr>
            <a:normAutofit lnSpcReduction="10000"/>
          </a:bodyPr>
          <a:lstStyle/>
          <a:p>
            <a:pPr marL="45720" indent="0">
              <a:buNone/>
            </a:pPr>
            <a:r>
              <a:rPr lang="ru-RU" sz="2400" dirty="0">
                <a:solidFill>
                  <a:schemeClr val="accent2">
                    <a:lumMod val="50000"/>
                  </a:schemeClr>
                </a:solidFill>
              </a:rPr>
              <a:t>Правила на написание </a:t>
            </a:r>
            <a:r>
              <a:rPr lang="ru-RU" sz="2400" dirty="0" err="1">
                <a:solidFill>
                  <a:schemeClr val="accent2">
                    <a:lumMod val="50000"/>
                  </a:schemeClr>
                </a:solidFill>
              </a:rPr>
              <a:t>User</a:t>
            </a:r>
            <a:r>
              <a:rPr lang="ru-RU" sz="2400" dirty="0">
                <a:solidFill>
                  <a:schemeClr val="accent2">
                    <a:lumMod val="50000"/>
                  </a:schemeClr>
                </a:solidFill>
              </a:rPr>
              <a:t> </a:t>
            </a:r>
            <a:r>
              <a:rPr lang="ru-RU" sz="2400" dirty="0" err="1" smtClean="0">
                <a:solidFill>
                  <a:schemeClr val="accent2">
                    <a:lumMod val="50000"/>
                  </a:schemeClr>
                </a:solidFill>
              </a:rPr>
              <a:t>Story</a:t>
            </a:r>
            <a:endParaRPr lang="ru-RU" sz="2400" dirty="0">
              <a:solidFill>
                <a:schemeClr val="accent2">
                  <a:lumMod val="50000"/>
                </a:schemeClr>
              </a:solidFill>
            </a:endParaRPr>
          </a:p>
          <a:p>
            <a:pPr lvl="1"/>
            <a:r>
              <a:rPr lang="ru-RU" sz="2400" dirty="0">
                <a:solidFill>
                  <a:schemeClr val="accent2">
                    <a:lumMod val="50000"/>
                  </a:schemeClr>
                </a:solidFill>
              </a:rPr>
              <a:t>Есть один </a:t>
            </a:r>
            <a:r>
              <a:rPr lang="ru-RU" sz="2400" dirty="0" err="1">
                <a:solidFill>
                  <a:schemeClr val="accent2">
                    <a:lumMod val="50000"/>
                  </a:schemeClr>
                </a:solidFill>
              </a:rPr>
              <a:t>actor</a:t>
            </a:r>
            <a:r>
              <a:rPr lang="ru-RU" sz="2400" dirty="0" smtClean="0">
                <a:solidFill>
                  <a:schemeClr val="accent2">
                    <a:lumMod val="50000"/>
                  </a:schemeClr>
                </a:solidFill>
              </a:rPr>
              <a:t>.</a:t>
            </a:r>
            <a:endParaRPr lang="ru-RU" sz="2400" dirty="0">
              <a:solidFill>
                <a:schemeClr val="accent2">
                  <a:lumMod val="50000"/>
                </a:schemeClr>
              </a:solidFill>
            </a:endParaRPr>
          </a:p>
          <a:p>
            <a:pPr lvl="1"/>
            <a:r>
              <a:rPr lang="ru-RU" sz="2400" dirty="0" smtClean="0">
                <a:solidFill>
                  <a:schemeClr val="accent2">
                    <a:lumMod val="50000"/>
                  </a:schemeClr>
                </a:solidFill>
              </a:rPr>
              <a:t>Есть </a:t>
            </a:r>
            <a:r>
              <a:rPr lang="ru-RU" sz="2400" dirty="0">
                <a:solidFill>
                  <a:schemeClr val="accent2">
                    <a:lumMod val="50000"/>
                  </a:schemeClr>
                </a:solidFill>
              </a:rPr>
              <a:t>одно действие</a:t>
            </a:r>
            <a:r>
              <a:rPr lang="ru-RU" sz="2400" dirty="0" smtClean="0">
                <a:solidFill>
                  <a:schemeClr val="accent2">
                    <a:lumMod val="50000"/>
                  </a:schemeClr>
                </a:solidFill>
              </a:rPr>
              <a:t>.</a:t>
            </a:r>
            <a:endParaRPr lang="ru-RU" sz="2400" dirty="0">
              <a:solidFill>
                <a:schemeClr val="accent2">
                  <a:lumMod val="50000"/>
                </a:schemeClr>
              </a:solidFill>
            </a:endParaRPr>
          </a:p>
          <a:p>
            <a:pPr lvl="1"/>
            <a:r>
              <a:rPr lang="ru-RU" sz="2400" dirty="0">
                <a:solidFill>
                  <a:schemeClr val="accent2">
                    <a:lumMod val="50000"/>
                  </a:schemeClr>
                </a:solidFill>
              </a:rPr>
              <a:t>Есть одна ценность / </a:t>
            </a:r>
            <a:r>
              <a:rPr lang="ru-RU" sz="2400" dirty="0" err="1">
                <a:solidFill>
                  <a:schemeClr val="accent2">
                    <a:lumMod val="50000"/>
                  </a:schemeClr>
                </a:solidFill>
              </a:rPr>
              <a:t>value</a:t>
            </a:r>
            <a:r>
              <a:rPr lang="ru-RU" sz="2400" dirty="0">
                <a:solidFill>
                  <a:schemeClr val="accent2">
                    <a:lumMod val="50000"/>
                  </a:schemeClr>
                </a:solidFill>
              </a:rPr>
              <a:t> / </a:t>
            </a:r>
            <a:r>
              <a:rPr lang="ru-RU" sz="2400" dirty="0" err="1">
                <a:solidFill>
                  <a:schemeClr val="accent2">
                    <a:lumMod val="50000"/>
                  </a:schemeClr>
                </a:solidFill>
              </a:rPr>
              <a:t>impact</a:t>
            </a:r>
            <a:r>
              <a:rPr lang="ru-RU" sz="2400" dirty="0" smtClean="0">
                <a:solidFill>
                  <a:schemeClr val="accent2">
                    <a:lumMod val="50000"/>
                  </a:schemeClr>
                </a:solidFill>
              </a:rPr>
              <a:t>.</a:t>
            </a:r>
          </a:p>
          <a:p>
            <a:pPr marL="45720" indent="0">
              <a:buNone/>
            </a:pPr>
            <a:r>
              <a:rPr lang="ru-RU" sz="2600" b="1" dirty="0" err="1" smtClean="0">
                <a:solidFill>
                  <a:schemeClr val="accent2">
                    <a:lumMod val="50000"/>
                  </a:schemeClr>
                </a:solidFill>
              </a:rPr>
              <a:t>Actor</a:t>
            </a:r>
            <a:r>
              <a:rPr lang="ru-RU" sz="2600" dirty="0">
                <a:solidFill>
                  <a:schemeClr val="accent2">
                    <a:lumMod val="50000"/>
                  </a:schemeClr>
                </a:solidFill>
              </a:rPr>
              <a:t> </a:t>
            </a:r>
            <a:r>
              <a:rPr lang="ru-RU" sz="2600" dirty="0" smtClean="0">
                <a:solidFill>
                  <a:schemeClr val="accent2">
                    <a:lumMod val="50000"/>
                  </a:schemeClr>
                </a:solidFill>
              </a:rPr>
              <a:t>- Вы </a:t>
            </a:r>
            <a:r>
              <a:rPr lang="ru-RU" sz="2600" dirty="0">
                <a:solidFill>
                  <a:schemeClr val="accent2">
                    <a:lumMod val="50000"/>
                  </a:schemeClr>
                </a:solidFill>
              </a:rPr>
              <a:t>выделили персоны, или у вас есть роли, и вы легко их вписываете в начало истории. </a:t>
            </a:r>
            <a:r>
              <a:rPr lang="ru-RU" sz="2600" dirty="0" smtClean="0">
                <a:solidFill>
                  <a:schemeClr val="accent2">
                    <a:lumMod val="50000"/>
                  </a:schemeClr>
                </a:solidFill>
              </a:rPr>
              <a:t>Убери </a:t>
            </a:r>
            <a:r>
              <a:rPr lang="ru-RU" sz="2600" dirty="0">
                <a:solidFill>
                  <a:schemeClr val="accent2">
                    <a:lumMod val="50000"/>
                  </a:schemeClr>
                </a:solidFill>
              </a:rPr>
              <a:t>часть истории про актера. Если история ничего при этом не потеряла - значит эта часть </a:t>
            </a:r>
            <a:r>
              <a:rPr lang="ru-RU" sz="2600" dirty="0" smtClean="0">
                <a:solidFill>
                  <a:schemeClr val="accent2">
                    <a:lumMod val="50000"/>
                  </a:schemeClr>
                </a:solidFill>
              </a:rPr>
              <a:t>бесполезна (например, пользователь амортизировался в системе).</a:t>
            </a:r>
          </a:p>
          <a:p>
            <a:pPr marL="45720" indent="0">
              <a:buNone/>
            </a:pPr>
            <a:r>
              <a:rPr lang="ru-RU" sz="2400" b="1" dirty="0" smtClean="0">
                <a:solidFill>
                  <a:schemeClr val="accent2">
                    <a:lumMod val="50000"/>
                  </a:schemeClr>
                </a:solidFill>
              </a:rPr>
              <a:t>Действие</a:t>
            </a:r>
            <a:r>
              <a:rPr lang="ru-RU" sz="2400" dirty="0">
                <a:solidFill>
                  <a:schemeClr val="accent2">
                    <a:lumMod val="50000"/>
                  </a:schemeClr>
                </a:solidFill>
              </a:rPr>
              <a:t> </a:t>
            </a:r>
            <a:r>
              <a:rPr lang="ru-RU" sz="2400" dirty="0" smtClean="0">
                <a:solidFill>
                  <a:schemeClr val="accent2">
                    <a:lumMod val="50000"/>
                  </a:schemeClr>
                </a:solidFill>
              </a:rPr>
              <a:t>- это </a:t>
            </a:r>
            <a:r>
              <a:rPr lang="ru-RU" sz="2400" dirty="0">
                <a:solidFill>
                  <a:schemeClr val="accent2">
                    <a:lumMod val="50000"/>
                  </a:schemeClr>
                </a:solidFill>
              </a:rPr>
              <a:t>суть истории, "что нужно сделать". Что можно улучшить. Действие должно быть одно - основное. Нет смысла описывать" авторизуется и выполняется поиск" или "указывает параметры поиска и выполняет поиск</a:t>
            </a:r>
            <a:r>
              <a:rPr lang="ru-RU" sz="2400" dirty="0" smtClean="0">
                <a:solidFill>
                  <a:schemeClr val="accent2">
                    <a:lumMod val="50000"/>
                  </a:schemeClr>
                </a:solidFill>
              </a:rPr>
              <a:t>".</a:t>
            </a:r>
          </a:p>
          <a:p>
            <a:pPr marL="45720" indent="0">
              <a:buNone/>
            </a:pPr>
            <a:r>
              <a:rPr lang="ru-RU" sz="2400" b="1" dirty="0" smtClean="0">
                <a:solidFill>
                  <a:schemeClr val="accent2">
                    <a:lumMod val="50000"/>
                  </a:schemeClr>
                </a:solidFill>
              </a:rPr>
              <a:t>Ценность</a:t>
            </a:r>
            <a:r>
              <a:rPr lang="ru-RU" sz="2400" dirty="0">
                <a:solidFill>
                  <a:schemeClr val="accent2">
                    <a:lumMod val="50000"/>
                  </a:schemeClr>
                </a:solidFill>
              </a:rPr>
              <a:t> </a:t>
            </a:r>
            <a:r>
              <a:rPr lang="ru-RU" sz="2400" dirty="0" smtClean="0">
                <a:solidFill>
                  <a:schemeClr val="accent2">
                    <a:lumMod val="50000"/>
                  </a:schemeClr>
                </a:solidFill>
              </a:rPr>
              <a:t>- главная </a:t>
            </a:r>
            <a:r>
              <a:rPr lang="ru-RU" sz="2400" dirty="0">
                <a:solidFill>
                  <a:schemeClr val="accent2">
                    <a:lumMod val="50000"/>
                  </a:schemeClr>
                </a:solidFill>
              </a:rPr>
              <a:t>проблема с </a:t>
            </a:r>
            <a:r>
              <a:rPr lang="ru-RU" sz="2400" dirty="0" err="1">
                <a:solidFill>
                  <a:schemeClr val="accent2">
                    <a:lumMod val="50000"/>
                  </a:schemeClr>
                </a:solidFill>
              </a:rPr>
              <a:t>User</a:t>
            </a:r>
            <a:r>
              <a:rPr lang="ru-RU" sz="2400" dirty="0">
                <a:solidFill>
                  <a:schemeClr val="accent2">
                    <a:lumMod val="50000"/>
                  </a:schemeClr>
                </a:solidFill>
              </a:rPr>
              <a:t> </a:t>
            </a:r>
            <a:r>
              <a:rPr lang="ru-RU" sz="2400" dirty="0" err="1">
                <a:solidFill>
                  <a:schemeClr val="accent2">
                    <a:lumMod val="50000"/>
                  </a:schemeClr>
                </a:solidFill>
              </a:rPr>
              <a:t>Story</a:t>
            </a:r>
            <a:r>
              <a:rPr lang="ru-RU" sz="2400" dirty="0">
                <a:solidFill>
                  <a:schemeClr val="accent2">
                    <a:lumMod val="50000"/>
                  </a:schemeClr>
                </a:solidFill>
              </a:rPr>
              <a:t>. Вы всегда знаете первую часть истории, но всегда сложно указать для чего это </a:t>
            </a:r>
            <a:r>
              <a:rPr lang="ru-RU" sz="2400" dirty="0" smtClean="0">
                <a:solidFill>
                  <a:schemeClr val="accent2">
                    <a:lumMod val="50000"/>
                  </a:schemeClr>
                </a:solidFill>
              </a:rPr>
              <a:t>делается. Согласно шаблону </a:t>
            </a:r>
            <a:r>
              <a:rPr lang="ru-RU" sz="2400" dirty="0" err="1">
                <a:solidFill>
                  <a:schemeClr val="accent2">
                    <a:lumMod val="50000"/>
                  </a:schemeClr>
                </a:solidFill>
              </a:rPr>
              <a:t>User</a:t>
            </a:r>
            <a:r>
              <a:rPr lang="ru-RU" sz="2400" dirty="0">
                <a:solidFill>
                  <a:schemeClr val="accent2">
                    <a:lumMod val="50000"/>
                  </a:schemeClr>
                </a:solidFill>
              </a:rPr>
              <a:t> </a:t>
            </a:r>
            <a:r>
              <a:rPr lang="ru-RU" sz="2400" dirty="0" err="1" smtClean="0">
                <a:solidFill>
                  <a:schemeClr val="accent2">
                    <a:lumMod val="50000"/>
                  </a:schemeClr>
                </a:solidFill>
              </a:rPr>
              <a:t>Story</a:t>
            </a:r>
            <a:r>
              <a:rPr lang="ru-RU" sz="2400" dirty="0" smtClean="0">
                <a:solidFill>
                  <a:schemeClr val="accent2">
                    <a:lumMod val="50000"/>
                  </a:schemeClr>
                </a:solidFill>
              </a:rPr>
              <a:t> </a:t>
            </a:r>
            <a:r>
              <a:rPr lang="ru-RU" sz="2400" dirty="0">
                <a:solidFill>
                  <a:schemeClr val="accent2">
                    <a:lumMod val="50000"/>
                  </a:schemeClr>
                </a:solidFill>
              </a:rPr>
              <a:t>потому вы пишите "чтобы </a:t>
            </a:r>
            <a:r>
              <a:rPr lang="ru-RU" sz="2400" dirty="0" smtClean="0">
                <a:solidFill>
                  <a:schemeClr val="accent2">
                    <a:lumMod val="50000"/>
                  </a:schemeClr>
                </a:solidFill>
              </a:rPr>
              <a:t>...". Уберите </a:t>
            </a:r>
            <a:r>
              <a:rPr lang="ru-RU" sz="2400" dirty="0">
                <a:solidFill>
                  <a:schemeClr val="accent2">
                    <a:lumMod val="50000"/>
                  </a:schemeClr>
                </a:solidFill>
              </a:rPr>
              <a:t>эту часть из истории. Если ничего не потеряли - значит формализация ценности в истории была бесполезна. </a:t>
            </a:r>
          </a:p>
          <a:p>
            <a:pPr marL="45720" indent="0">
              <a:buNone/>
            </a:pPr>
            <a:endParaRPr lang="ru-RU" dirty="0"/>
          </a:p>
          <a:p>
            <a:pPr marL="45720" indent="0">
              <a:buNone/>
            </a:pPr>
            <a:endParaRPr lang="ru-RU" dirty="0"/>
          </a:p>
          <a:p>
            <a:pPr marL="274320" lvl="1" indent="0">
              <a:buNone/>
            </a:pPr>
            <a:endParaRPr lang="ru-RU" sz="2400" dirty="0">
              <a:solidFill>
                <a:schemeClr val="accent2">
                  <a:lumMod val="50000"/>
                </a:schemeClr>
              </a:solidFill>
            </a:endParaRPr>
          </a:p>
        </p:txBody>
      </p:sp>
    </p:spTree>
    <p:extLst>
      <p:ext uri="{BB962C8B-B14F-4D97-AF65-F5344CB8AC3E}">
        <p14:creationId xmlns:p14="http://schemas.microsoft.com/office/powerpoint/2010/main" val="29462860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156855" y="110836"/>
            <a:ext cx="9875520" cy="1356360"/>
          </a:xfrm>
        </p:spPr>
        <p:txBody>
          <a:bodyPr>
            <a:normAutofit fontScale="90000"/>
          </a:bodyPr>
          <a:lstStyle/>
          <a:p>
            <a:pPr algn="ctr"/>
            <a:r>
              <a:rPr lang="ru-RU" b="1" dirty="0"/>
              <a:t>Практические советы по написанию пользовательских историй</a:t>
            </a:r>
            <a:endParaRPr lang="ru-RU" dirty="0"/>
          </a:p>
        </p:txBody>
      </p:sp>
      <p:sp>
        <p:nvSpPr>
          <p:cNvPr id="3" name="Объект 2"/>
          <p:cNvSpPr>
            <a:spLocks noGrp="1"/>
          </p:cNvSpPr>
          <p:nvPr>
            <p:ph idx="1"/>
          </p:nvPr>
        </p:nvSpPr>
        <p:spPr>
          <a:xfrm>
            <a:off x="387928" y="1467196"/>
            <a:ext cx="11610108" cy="5113712"/>
          </a:xfrm>
        </p:spPr>
        <p:txBody>
          <a:bodyPr>
            <a:normAutofit/>
          </a:bodyPr>
          <a:lstStyle/>
          <a:p>
            <a:r>
              <a:rPr lang="ru-RU" sz="2400" dirty="0">
                <a:solidFill>
                  <a:schemeClr val="accent2">
                    <a:lumMod val="50000"/>
                  </a:schemeClr>
                </a:solidFill>
              </a:rPr>
              <a:t>Лучше написать много историй поменьше, чем несколько громоздких.</a:t>
            </a:r>
          </a:p>
          <a:p>
            <a:r>
              <a:rPr lang="ru-RU" sz="2400" dirty="0">
                <a:solidFill>
                  <a:schemeClr val="accent2">
                    <a:lumMod val="50000"/>
                  </a:schemeClr>
                </a:solidFill>
              </a:rPr>
              <a:t>Каждая история в идеале должна быть написана избегая технического жаргона — чтобы клиент мог </a:t>
            </a:r>
            <a:r>
              <a:rPr lang="ru-RU" sz="2400" dirty="0" err="1">
                <a:solidFill>
                  <a:schemeClr val="accent2">
                    <a:lumMod val="50000"/>
                  </a:schemeClr>
                </a:solidFill>
              </a:rPr>
              <a:t>приоритезировать</a:t>
            </a:r>
            <a:r>
              <a:rPr lang="ru-RU" sz="2400" dirty="0">
                <a:solidFill>
                  <a:schemeClr val="accent2">
                    <a:lumMod val="50000"/>
                  </a:schemeClr>
                </a:solidFill>
              </a:rPr>
              <a:t> истории и включать их в итерации.</a:t>
            </a:r>
          </a:p>
          <a:p>
            <a:r>
              <a:rPr lang="ru-RU" sz="2400" dirty="0">
                <a:solidFill>
                  <a:schemeClr val="accent2">
                    <a:lumMod val="50000"/>
                  </a:schemeClr>
                </a:solidFill>
              </a:rPr>
              <a:t>Истории должны быть написаны таким образом, чтобы их можно было протестировать</a:t>
            </a:r>
          </a:p>
          <a:p>
            <a:r>
              <a:rPr lang="ru-RU" sz="2400" dirty="0">
                <a:solidFill>
                  <a:schemeClr val="accent2">
                    <a:lumMod val="50000"/>
                  </a:schemeClr>
                </a:solidFill>
              </a:rPr>
              <a:t>Тесты должны быть написаны до кода.</a:t>
            </a:r>
          </a:p>
          <a:p>
            <a:r>
              <a:rPr lang="ru-RU" sz="2400" dirty="0">
                <a:solidFill>
                  <a:schemeClr val="accent2">
                    <a:lumMod val="50000"/>
                  </a:schemeClr>
                </a:solidFill>
              </a:rPr>
              <a:t>Как можно дольше стоит избегать UI. История должна выполняться без привязки к конкретным элементам.</a:t>
            </a:r>
          </a:p>
          <a:p>
            <a:r>
              <a:rPr lang="ru-RU" sz="2400" dirty="0">
                <a:solidFill>
                  <a:schemeClr val="accent2">
                    <a:lumMod val="50000"/>
                  </a:schemeClr>
                </a:solidFill>
              </a:rPr>
              <a:t>Каждая история должна содержать оценку.</a:t>
            </a:r>
          </a:p>
          <a:p>
            <a:r>
              <a:rPr lang="ru-RU" sz="2400" dirty="0">
                <a:solidFill>
                  <a:schemeClr val="accent2">
                    <a:lumMod val="50000"/>
                  </a:schemeClr>
                </a:solidFill>
              </a:rPr>
              <a:t>История должна иметь концовку — т.е. приводить к конкретному результату.</a:t>
            </a:r>
          </a:p>
          <a:p>
            <a:r>
              <a:rPr lang="ru-RU" sz="2400" dirty="0">
                <a:solidFill>
                  <a:schemeClr val="accent2">
                    <a:lumMod val="50000"/>
                  </a:schemeClr>
                </a:solidFill>
              </a:rPr>
              <a:t>История должна вмещаться в итерацию.</a:t>
            </a:r>
          </a:p>
          <a:p>
            <a:endParaRPr lang="ru-RU" dirty="0"/>
          </a:p>
        </p:txBody>
      </p:sp>
    </p:spTree>
    <p:extLst>
      <p:ext uri="{BB962C8B-B14F-4D97-AF65-F5344CB8AC3E}">
        <p14:creationId xmlns:p14="http://schemas.microsoft.com/office/powerpoint/2010/main" val="2957123519"/>
      </p:ext>
    </p:extLst>
  </p:cSld>
  <p:clrMapOvr>
    <a:masterClrMapping/>
  </p:clrMapOvr>
</p:sld>
</file>

<file path=ppt/theme/theme1.xml><?xml version="1.0" encoding="utf-8"?>
<a:theme xmlns:a="http://schemas.openxmlformats.org/drawingml/2006/main" name="Базис">
  <a:themeElements>
    <a:clrScheme name="Оранжевый и красный">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Arial/Times New Roman">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Базис">
      <a:fillStyleLst>
        <a:solidFill>
          <a:schemeClr val="phClr"/>
        </a:solidFill>
        <a:solidFill>
          <a:schemeClr val="phClr">
            <a:tint val="63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446C221D-F63F-4DD8-B509-CFE168687BF2}"/>
    </a:ext>
  </a:extLst>
</a:theme>
</file>

<file path=docProps/app.xml><?xml version="1.0" encoding="utf-8"?>
<Properties xmlns="http://schemas.openxmlformats.org/officeDocument/2006/extended-properties" xmlns:vt="http://schemas.openxmlformats.org/officeDocument/2006/docPropsVTypes">
  <Template>TM03457444[[fn=Основа]]</Template>
  <TotalTime>192</TotalTime>
  <Words>1022</Words>
  <Application>Microsoft Office PowerPoint</Application>
  <PresentationFormat>Широкоэкранный</PresentationFormat>
  <Paragraphs>145</Paragraphs>
  <Slides>24</Slides>
  <Notes>0</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24</vt:i4>
      </vt:variant>
    </vt:vector>
  </HeadingPairs>
  <TitlesOfParts>
    <vt:vector size="28" baseType="lpstr">
      <vt:lpstr>Arial</vt:lpstr>
      <vt:lpstr>Corbel</vt:lpstr>
      <vt:lpstr>Times New Roman</vt:lpstr>
      <vt:lpstr>Базис</vt:lpstr>
      <vt:lpstr>Тестовая документация</vt:lpstr>
      <vt:lpstr>Тестовая документация</vt:lpstr>
      <vt:lpstr>Тест план</vt:lpstr>
      <vt:lpstr>Тест план</vt:lpstr>
      <vt:lpstr>Тестовая стратегия</vt:lpstr>
      <vt:lpstr>Чек-листы</vt:lpstr>
      <vt:lpstr>Чек-листы</vt:lpstr>
      <vt:lpstr>Чек-листы</vt:lpstr>
      <vt:lpstr>Чек-листы</vt:lpstr>
      <vt:lpstr>Пример чек-листа</vt:lpstr>
      <vt:lpstr>Тест кейсы</vt:lpstr>
      <vt:lpstr>Жизненный цикл тест кейса</vt:lpstr>
      <vt:lpstr>Жизненный цикл тест кейса</vt:lpstr>
      <vt:lpstr>Жизненный цикл тест кейса</vt:lpstr>
      <vt:lpstr>Жизненный цикл тест кейса</vt:lpstr>
      <vt:lpstr>Структура тест кейса</vt:lpstr>
      <vt:lpstr>Структура тест кейса</vt:lpstr>
      <vt:lpstr>Структура тест кейса</vt:lpstr>
      <vt:lpstr>Рекомендации по написанию тест-кейса</vt:lpstr>
      <vt:lpstr>Структура тест кейса</vt:lpstr>
      <vt:lpstr>Наборы тест-кейсов</vt:lpstr>
      <vt:lpstr>Пользовательские истории</vt:lpstr>
      <vt:lpstr>Пользовательские истории</vt:lpstr>
      <vt:lpstr>Практические советы по написанию пользовательских историй</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Тестовая документация</dc:title>
  <dc:creator>Пользователь</dc:creator>
  <cp:lastModifiedBy>Пользователь</cp:lastModifiedBy>
  <cp:revision>16</cp:revision>
  <dcterms:created xsi:type="dcterms:W3CDTF">2021-03-17T09:01:57Z</dcterms:created>
  <dcterms:modified xsi:type="dcterms:W3CDTF">2022-01-19T11:47:34Z</dcterms:modified>
</cp:coreProperties>
</file>