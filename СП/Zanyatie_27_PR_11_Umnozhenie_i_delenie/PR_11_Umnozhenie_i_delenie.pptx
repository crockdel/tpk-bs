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0" r:id="rId2"/>
    <p:sldId id="353" r:id="rId3"/>
    <p:sldId id="359" r:id="rId4"/>
    <p:sldId id="360" r:id="rId5"/>
    <p:sldId id="361" r:id="rId6"/>
    <p:sldId id="362" r:id="rId7"/>
    <p:sldId id="352" r:id="rId8"/>
    <p:sldId id="350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990033"/>
    <a:srgbClr val="CC0000"/>
    <a:srgbClr val="A3A3FF"/>
    <a:srgbClr val="FF0000"/>
    <a:srgbClr val="FFCCCC"/>
    <a:srgbClr val="00CC00"/>
    <a:srgbClr val="D7E8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9" autoAdjust="0"/>
    <p:restoredTop sz="94617" autoAdjust="0"/>
  </p:normalViewPr>
  <p:slideViewPr>
    <p:cSldViewPr>
      <p:cViewPr varScale="1">
        <p:scale>
          <a:sx n="108" d="100"/>
          <a:sy n="108" d="100"/>
        </p:scale>
        <p:origin x="1902" y="102"/>
      </p:cViewPr>
      <p:guideLst>
        <p:guide orient="horz" pos="2160"/>
        <p:guide pos="283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90"/>
    </p:cViewPr>
  </p:sorterViewPr>
  <p:notesViewPr>
    <p:cSldViewPr>
      <p:cViewPr varScale="1">
        <p:scale>
          <a:sx n="83" d="100"/>
          <a:sy n="83" d="100"/>
        </p:scale>
        <p:origin x="-190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 altLang="ru-RU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84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84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ru-RU"/>
          </a:p>
        </p:txBody>
      </p:sp>
      <p:sp>
        <p:nvSpPr>
          <p:cNvPr id="184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BCFE16-878C-4025-99B2-ED59639A48D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0975793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493096-F2AE-4767-B014-A17DB62BB98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25622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D2C48A-C5D0-4AD9-9122-EC5B563B79B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43043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DBD-8E48-4C61-BA9D-DCB98C56DD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34955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D90257-8140-4A15-A208-A42F0A317762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342247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1323-A8CD-40D0-8F42-3FE3D291FC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38198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1AB729-C862-44E1-9BD8-C749DB4E8093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5587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39D2D-78AC-4F21-B29D-5E1B7BACF1E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44649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3A95E-E0D7-4E8E-8AA1-EDFAF320839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44991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B09D65-2B39-4F26-9D3D-79182DE1C0B9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234444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C623CD-E8CE-4874-8B1D-D4323977315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504143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F9B8BC-36AD-47BB-B5B6-77F56A52D4EA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60766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 alt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 alt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BEB2377-E7FF-4880-9419-CA00A819ED18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904" y="871513"/>
            <a:ext cx="7848600" cy="4648200"/>
          </a:xfrm>
        </p:spPr>
        <p:txBody>
          <a:bodyPr/>
          <a:lstStyle/>
          <a:p>
            <a:r>
              <a:rPr lang="ru-RU" sz="2000" b="1" dirty="0"/>
              <a:t>Дисциплина: </a:t>
            </a:r>
            <a:r>
              <a:rPr lang="ru-RU" sz="2000" dirty="0"/>
              <a:t>МДК.01.04 Системное </a:t>
            </a:r>
            <a:r>
              <a:rPr lang="ru-RU" sz="2000" dirty="0" smtClean="0"/>
              <a:t>программирование</a:t>
            </a:r>
            <a:br>
              <a:rPr lang="ru-RU" sz="2000" dirty="0" smtClean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altLang="ru-RU" sz="2800" b="1" dirty="0">
                <a:solidFill>
                  <a:schemeClr val="tx1"/>
                </a:solidFill>
              </a:rPr>
              <a:t/>
            </a:r>
            <a:br>
              <a:rPr lang="ru-RU" altLang="ru-RU" sz="2800" b="1" dirty="0">
                <a:solidFill>
                  <a:schemeClr val="tx1"/>
                </a:solidFill>
              </a:rPr>
            </a:br>
            <a:r>
              <a:rPr lang="ru-RU" altLang="ru-RU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Практическая работа № 11</a:t>
            </a:r>
            <a:br>
              <a:rPr lang="ru-RU" altLang="ru-RU" sz="28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altLang="ru-RU" sz="2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Тема: Программирование умножения и деления</a:t>
            </a:r>
            <a:b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8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Цель: </a:t>
            </a:r>
            <a: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программировать команды </a:t>
            </a:r>
            <a: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умножения и деления на </a:t>
            </a:r>
            <a: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ассемблере</a:t>
            </a:r>
            <a:br>
              <a:rPr lang="ru-RU" altLang="ru-RU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ru-RU" altLang="ru-RU" sz="2400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ru-RU" altLang="ru-RU" sz="2400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22531" name="Picture 3" descr="BD21315_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43" y="620688"/>
            <a:ext cx="5064125" cy="25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DD01009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23" y="5036343"/>
            <a:ext cx="1935163" cy="1433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67544" y="5986487"/>
            <a:ext cx="180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29.10.2025</a:t>
            </a: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1449" y="188640"/>
            <a:ext cx="7772400" cy="659160"/>
          </a:xfrm>
        </p:spPr>
        <p:txBody>
          <a:bodyPr/>
          <a:lstStyle/>
          <a:p>
            <a:r>
              <a:rPr lang="ru-RU" sz="2800" b="1" i="1" dirty="0" smtClean="0">
                <a:solidFill>
                  <a:srgbClr val="CC0000"/>
                </a:solidFill>
              </a:rPr>
              <a:t>Умножение чисел </a:t>
            </a:r>
            <a:r>
              <a:rPr lang="ru-RU" sz="2800" b="1" i="1" dirty="0">
                <a:solidFill>
                  <a:srgbClr val="CC0000"/>
                </a:solidFill>
              </a:rPr>
              <a:t>без знака</a:t>
            </a:r>
            <a:endParaRPr lang="ru-RU" sz="2600" b="1" i="1" dirty="0">
              <a:solidFill>
                <a:srgbClr val="CC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847800"/>
            <a:ext cx="7772400" cy="288032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 smtClean="0"/>
              <a:t>	</a:t>
            </a:r>
            <a:r>
              <a:rPr lang="ru-RU" altLang="ru-RU" sz="1800" dirty="0">
                <a:latin typeface="Times New Roman" panose="02020603050405020304" pitchFamily="18" charset="0"/>
              </a:rPr>
              <a:t>Для умножения чисел без 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знака</a:t>
            </a:r>
            <a:endParaRPr lang="ru-RU" altLang="ru-RU" sz="1800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            </a:t>
            </a:r>
            <a:r>
              <a:rPr lang="ru-RU" altLang="ru-RU" sz="1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mul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 сомножитель_1</a:t>
            </a:r>
          </a:p>
          <a:p>
            <a:pPr>
              <a:buFontTx/>
              <a:buNone/>
            </a:pPr>
            <a:r>
              <a:rPr lang="ru-RU" altLang="ru-RU" sz="18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Размеры </a:t>
            </a:r>
            <a:r>
              <a:rPr lang="ru-RU" altLang="ru-RU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сомножителей и </a:t>
            </a:r>
            <a:r>
              <a:rPr lang="ru-RU" altLang="ru-RU" sz="18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размещение </a:t>
            </a:r>
            <a:r>
              <a:rPr lang="ru-RU" altLang="ru-RU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второго операнда и </a:t>
            </a:r>
            <a:r>
              <a:rPr lang="ru-RU" altLang="ru-RU" sz="18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результата</a:t>
            </a:r>
            <a:endParaRPr lang="ru-RU" altLang="ru-RU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ru-RU" sz="1800" dirty="0">
              <a:solidFill>
                <a:srgbClr val="C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047303"/>
              </p:ext>
            </p:extLst>
          </p:nvPr>
        </p:nvGraphicFramePr>
        <p:xfrm>
          <a:off x="733253" y="1916832"/>
          <a:ext cx="7924296" cy="26855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53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1391">
                <a:tc>
                  <a:txBody>
                    <a:bodyPr/>
                    <a:lstStyle/>
                    <a:p>
                      <a:pPr indent="21590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Первый сомножитель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Второй сомножитель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21590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Результат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1391">
                <a:tc>
                  <a:txBody>
                    <a:bodyPr/>
                    <a:lstStyle/>
                    <a:p>
                      <a:pPr indent="49530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Байт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3975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AL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16 битов в АХ: </a:t>
                      </a:r>
                      <a:endParaRPr lang="en-US" sz="1800" dirty="0" smtClean="0">
                        <a:effectLst/>
                      </a:endParaRPr>
                    </a:p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AL </a:t>
                      </a:r>
                      <a:r>
                        <a:rPr lang="ru-RU" sz="1800" dirty="0">
                          <a:effectLst/>
                        </a:rPr>
                        <a:t>— младшая часть результата; </a:t>
                      </a:r>
                      <a:r>
                        <a:rPr lang="uk-UA" sz="1800" dirty="0">
                          <a:effectLst/>
                        </a:rPr>
                        <a:t>АН </a:t>
                      </a:r>
                      <a:r>
                        <a:rPr lang="ru-RU" sz="1800" dirty="0">
                          <a:effectLst/>
                        </a:rPr>
                        <a:t> — </a:t>
                      </a:r>
                      <a:r>
                        <a:rPr lang="ru-RU" sz="1800" dirty="0" smtClean="0">
                          <a:effectLst/>
                        </a:rPr>
                        <a:t>старшая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1391">
                <a:tc>
                  <a:txBody>
                    <a:bodyPr/>
                    <a:lstStyle/>
                    <a:p>
                      <a:pPr indent="4953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Слово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3975" algn="ctr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АХ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32 бита в паре DX:AX: </a:t>
                      </a:r>
                      <a:endParaRPr lang="en-US" sz="1800" dirty="0" smtClean="0">
                        <a:effectLst/>
                      </a:endParaRPr>
                    </a:p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ru-RU" sz="1800" dirty="0" smtClean="0">
                          <a:effectLst/>
                        </a:rPr>
                        <a:t>АХ </a:t>
                      </a:r>
                      <a:r>
                        <a:rPr lang="ru-RU" sz="1800" dirty="0">
                          <a:effectLst/>
                        </a:rPr>
                        <a:t>— младшая </a:t>
                      </a:r>
                      <a:r>
                        <a:rPr lang="ru-RU" sz="1800" dirty="0" smtClean="0">
                          <a:effectLst/>
                        </a:rPr>
                        <a:t>часть; </a:t>
                      </a:r>
                      <a:r>
                        <a:rPr lang="ru-RU" sz="1800" dirty="0">
                          <a:effectLst/>
                        </a:rPr>
                        <a:t>DX — старшая </a:t>
                      </a:r>
                      <a:r>
                        <a:rPr lang="ru-RU" sz="1800" dirty="0" smtClean="0">
                          <a:effectLst/>
                        </a:rPr>
                        <a:t>часть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1391">
                <a:tc>
                  <a:txBody>
                    <a:bodyPr/>
                    <a:lstStyle/>
                    <a:p>
                      <a:pPr indent="49530" algn="ctr"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Двойное слово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53975" algn="ctr">
                        <a:spcAft>
                          <a:spcPts val="0"/>
                        </a:spcAft>
                      </a:pPr>
                      <a:r>
                        <a:rPr lang="uk-UA" sz="1800">
                          <a:effectLst/>
                        </a:rPr>
                        <a:t>ЕАХ</a:t>
                      </a:r>
                      <a:endParaRPr lang="ru-RU" sz="1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64 бита в паре </a:t>
                      </a:r>
                      <a:r>
                        <a:rPr lang="ru-RU" sz="1800" dirty="0" smtClean="0">
                          <a:effectLst/>
                        </a:rPr>
                        <a:t>EDX:EAX</a:t>
                      </a:r>
                      <a:r>
                        <a:rPr lang="ru-RU" sz="1800" dirty="0">
                          <a:effectLst/>
                        </a:rPr>
                        <a:t>: </a:t>
                      </a:r>
                      <a:endParaRPr lang="en-US" sz="1800" dirty="0" smtClean="0">
                        <a:effectLst/>
                      </a:endParaRPr>
                    </a:p>
                    <a:p>
                      <a:pPr indent="70485">
                        <a:spcAft>
                          <a:spcPts val="0"/>
                        </a:spcAft>
                      </a:pPr>
                      <a:r>
                        <a:rPr lang="uk-UA" sz="1800" dirty="0" smtClean="0">
                          <a:effectLst/>
                        </a:rPr>
                        <a:t>ЕАХ</a:t>
                      </a:r>
                      <a:r>
                        <a:rPr lang="ru-RU" sz="1800" dirty="0" smtClean="0">
                          <a:effectLst/>
                        </a:rPr>
                        <a:t> </a:t>
                      </a:r>
                      <a:r>
                        <a:rPr lang="ru-RU" sz="1800" dirty="0">
                          <a:effectLst/>
                        </a:rPr>
                        <a:t>— младшая </a:t>
                      </a:r>
                      <a:r>
                        <a:rPr lang="ru-RU" sz="1800" dirty="0" smtClean="0">
                          <a:effectLst/>
                        </a:rPr>
                        <a:t>часть; </a:t>
                      </a:r>
                      <a:r>
                        <a:rPr lang="ru-RU" sz="1800" dirty="0">
                          <a:effectLst/>
                        </a:rPr>
                        <a:t>EDX — старшая </a:t>
                      </a:r>
                      <a:r>
                        <a:rPr lang="ru-RU" sz="1800" dirty="0" smtClean="0">
                          <a:effectLst/>
                        </a:rPr>
                        <a:t>часть</a:t>
                      </a:r>
                      <a:endParaRPr lang="ru-RU" sz="1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5400" marR="25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253698" y="4655765"/>
            <a:ext cx="889719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spcAft>
                <a:spcPts val="0"/>
              </a:spcAft>
            </a:pPr>
            <a:r>
              <a:rPr lang="ru-RU" sz="1800" dirty="0" smtClean="0">
                <a:solidFill>
                  <a:srgbClr val="0000FF"/>
                </a:solidFill>
                <a:ea typeface="Times New Roman" panose="02020603050405020304" pitchFamily="18" charset="0"/>
              </a:rPr>
              <a:t>Отличие</a:t>
            </a:r>
            <a:r>
              <a:rPr lang="en-US" sz="1800" dirty="0" smtClean="0">
                <a:solidFill>
                  <a:srgbClr val="0000FF"/>
                </a:solidFill>
                <a:ea typeface="Times New Roman" panose="02020603050405020304" pitchFamily="18" charset="0"/>
              </a:rPr>
              <a:t>:</a:t>
            </a:r>
            <a:r>
              <a:rPr lang="en-US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 </a:t>
            </a: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разрядность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результата </a:t>
            </a: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в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2 раза больше, чем разрядность сомножителей</a:t>
            </a:r>
            <a:endParaRPr lang="en-US" sz="1800" dirty="0" smtClean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indent="215900" algn="just">
              <a:spcAft>
                <a:spcPts val="0"/>
              </a:spcAft>
            </a:pP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Флаги 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переноса</a:t>
            </a:r>
            <a:r>
              <a:rPr lang="ru-RU" sz="1800" dirty="0">
                <a:ea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0000FF"/>
                </a:solidFill>
                <a:ea typeface="Times New Roman" panose="02020603050405020304" pitchFamily="18" charset="0"/>
              </a:rPr>
              <a:t>CF</a:t>
            </a:r>
            <a:r>
              <a:rPr lang="ru-RU" sz="1800" dirty="0">
                <a:ea typeface="Times New Roman" panose="02020603050405020304" pitchFamily="18" charset="0"/>
              </a:rPr>
              <a:t> и переполнения </a:t>
            </a:r>
            <a:r>
              <a:rPr lang="ru-RU" sz="1800" dirty="0">
                <a:solidFill>
                  <a:srgbClr val="0000FF"/>
                </a:solidFill>
                <a:ea typeface="Times New Roman" panose="02020603050405020304" pitchFamily="18" charset="0"/>
              </a:rPr>
              <a:t>OF</a:t>
            </a:r>
            <a:r>
              <a:rPr lang="ru-RU" sz="1800" dirty="0">
                <a:ea typeface="Times New Roman" panose="02020603050405020304" pitchFamily="18" charset="0"/>
              </a:rPr>
              <a:t> </a:t>
            </a:r>
            <a:r>
              <a:rPr lang="ru-RU" sz="1800" dirty="0" smtClean="0">
                <a:ea typeface="Times New Roman" panose="02020603050405020304" pitchFamily="18" charset="0"/>
              </a:rPr>
              <a:t>указывают </a:t>
            </a:r>
            <a:r>
              <a:rPr lang="ru-RU" sz="1800" dirty="0">
                <a:ea typeface="Times New Roman" panose="02020603050405020304" pitchFamily="18" charset="0"/>
              </a:rPr>
              <a:t>на то, что результат достаточно малый и </a:t>
            </a:r>
            <a:r>
              <a:rPr lang="ru-RU" sz="1800" dirty="0" smtClean="0">
                <a:ea typeface="Times New Roman" panose="02020603050405020304" pitchFamily="18" charset="0"/>
              </a:rPr>
              <a:t>умещается </a:t>
            </a:r>
            <a:r>
              <a:rPr lang="ru-RU" sz="1800" dirty="0">
                <a:ea typeface="Times New Roman" panose="02020603050405020304" pitchFamily="18" charset="0"/>
              </a:rPr>
              <a:t>в одном регистре или что он превысил размерность регистра и старшая часть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оказалась</a:t>
            </a:r>
            <a:r>
              <a:rPr lang="ru-RU" sz="1800" dirty="0">
                <a:ea typeface="Times New Roman" panose="02020603050405020304" pitchFamily="18" charset="0"/>
              </a:rPr>
              <a:t> в другом регистре:</a:t>
            </a:r>
          </a:p>
          <a:p>
            <a:pPr marL="342900" lvl="0" indent="-342900" algn="just">
              <a:spcAft>
                <a:spcPts val="0"/>
              </a:spcAft>
              <a:buSzPts val="800"/>
              <a:buFont typeface="Symbol" panose="05050102010706020507" pitchFamily="18" charset="2"/>
              <a:buChar char=""/>
              <a:tabLst>
                <a:tab pos="114300" algn="l"/>
              </a:tabLst>
            </a:pP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если старшая часть результата </a:t>
            </a:r>
            <a:r>
              <a:rPr lang="ru-RU" sz="1800" dirty="0" smtClean="0">
                <a:solidFill>
                  <a:srgbClr val="0000FF"/>
                </a:solidFill>
                <a:ea typeface="Times New Roman" panose="02020603050405020304" pitchFamily="18" charset="0"/>
                <a:cs typeface="Symbol" panose="05050102010706020507" pitchFamily="18" charset="2"/>
              </a:rPr>
              <a:t>=0</a:t>
            </a:r>
            <a:r>
              <a:rPr lang="ru-RU" sz="1800" dirty="0" smtClean="0">
                <a:ea typeface="Times New Roman" panose="02020603050405020304" pitchFamily="18" charset="0"/>
                <a:cs typeface="Symbol" panose="05050102010706020507" pitchFamily="18" charset="2"/>
              </a:rPr>
              <a:t>, </a:t>
            </a: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то после завершения операции </a:t>
            </a:r>
            <a:r>
              <a:rPr lang="ru-RU" sz="1800" dirty="0">
                <a:solidFill>
                  <a:srgbClr val="0000FF"/>
                </a:solidFill>
                <a:ea typeface="Times New Roman" panose="02020603050405020304" pitchFamily="18" charset="0"/>
                <a:cs typeface="Symbol" panose="05050102010706020507" pitchFamily="18" charset="2"/>
              </a:rPr>
              <a:t>CF= 0 </a:t>
            </a: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и </a:t>
            </a:r>
            <a:r>
              <a:rPr lang="ru-RU" sz="1800" dirty="0">
                <a:solidFill>
                  <a:srgbClr val="0000FF"/>
                </a:solidFill>
                <a:ea typeface="Times New Roman" panose="02020603050405020304" pitchFamily="18" charset="0"/>
                <a:cs typeface="Symbol" panose="05050102010706020507" pitchFamily="18" charset="2"/>
              </a:rPr>
              <a:t>ОF = 0</a:t>
            </a: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;</a:t>
            </a:r>
          </a:p>
          <a:p>
            <a:pPr marL="342900" lvl="0" indent="-342900" algn="just">
              <a:spcAft>
                <a:spcPts val="0"/>
              </a:spcAft>
              <a:buSzPts val="800"/>
              <a:buFont typeface="Symbol" panose="05050102010706020507" pitchFamily="18" charset="2"/>
              <a:buChar char=""/>
              <a:tabLst>
                <a:tab pos="114300" algn="l"/>
              </a:tabLst>
            </a:pP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если же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  <a:cs typeface="Symbol" panose="05050102010706020507" pitchFamily="18" charset="2"/>
              </a:rPr>
              <a:t>флаги  CF и OF ненулевые, это значит</a:t>
            </a:r>
            <a:r>
              <a:rPr lang="ru-RU" sz="1800" dirty="0">
                <a:ea typeface="Times New Roman" panose="02020603050405020304" pitchFamily="18" charset="0"/>
                <a:cs typeface="Symbol" panose="05050102010706020507" pitchFamily="18" charset="2"/>
              </a:rPr>
              <a:t>, что результат вышел за пределы младшей части произведения  и состоит из двух частей.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01" y="847800"/>
            <a:ext cx="3869019" cy="70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57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1449" y="188640"/>
            <a:ext cx="7772400" cy="659160"/>
          </a:xfrm>
        </p:spPr>
        <p:txBody>
          <a:bodyPr/>
          <a:lstStyle/>
          <a:p>
            <a:r>
              <a:rPr lang="ru-RU" sz="2800" b="1" i="1" dirty="0" smtClean="0">
                <a:solidFill>
                  <a:srgbClr val="CC0000"/>
                </a:solidFill>
              </a:rPr>
              <a:t>Умножение чисел со знаком</a:t>
            </a:r>
            <a:endParaRPr lang="ru-RU" sz="2600" b="1" i="1" dirty="0">
              <a:solidFill>
                <a:srgbClr val="CC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995991"/>
            <a:ext cx="7772400" cy="288032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 </a:t>
            </a:r>
            <a:r>
              <a:rPr lang="en-US" altLang="ru-RU" sz="1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imul</a:t>
            </a:r>
            <a:r>
              <a:rPr lang="en-US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ru-RU" altLang="ru-RU" sz="1800" dirty="0">
                <a:solidFill>
                  <a:srgbClr val="0000FF"/>
                </a:solidFill>
                <a:latin typeface="Times New Roman" panose="02020603050405020304" pitchFamily="18" charset="0"/>
              </a:rPr>
              <a:t>операнд_1[, операнд__2,операнд_3</a:t>
            </a:r>
            <a:r>
              <a:rPr lang="ru-RU" altLang="ru-RU" sz="18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]</a:t>
            </a:r>
          </a:p>
          <a:p>
            <a:pPr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Отличительной особенностью команды </a:t>
            </a:r>
            <a:r>
              <a:rPr lang="ru-RU" altLang="ru-RU" sz="18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IMUL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 является формирование знака: Если результат малый и умещается в одном регистре (то есть если </a:t>
            </a:r>
            <a:br>
              <a:rPr lang="ru-RU" altLang="ru-RU" sz="1800" dirty="0" smtClean="0">
                <a:latin typeface="Times New Roman" panose="02020603050405020304" pitchFamily="18" charset="0"/>
              </a:rPr>
            </a:br>
            <a:r>
              <a:rPr lang="ru-RU" altLang="ru-RU" sz="1800" dirty="0" smtClean="0">
                <a:latin typeface="Times New Roman" panose="02020603050405020304" pitchFamily="18" charset="0"/>
              </a:rPr>
              <a:t>CF= OF= 0), то содержимое другого регистра (старшей части) является расширением знака — все его биты равны старшему биту (знаковому разряду) младшей части результата. </a:t>
            </a:r>
          </a:p>
          <a:p>
            <a:pPr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Иначе </a:t>
            </a:r>
            <a:r>
              <a:rPr lang="ru-RU" altLang="ru-RU" sz="1800" dirty="0">
                <a:latin typeface="Times New Roman" panose="02020603050405020304" pitchFamily="18" charset="0"/>
              </a:rPr>
              <a:t>(если CF = OF = 1) знаком результата является знаковый бит старшей части результата, а знаковый бит младшей части является значимым битом двоичного кода результата</a:t>
            </a:r>
          </a:p>
          <a:p>
            <a:pPr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.</a:t>
            </a:r>
            <a:endParaRPr lang="ru-RU" altLang="ru-RU" sz="1800" dirty="0">
              <a:latin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r="50310" b="25657"/>
          <a:stretch/>
        </p:blipFill>
        <p:spPr>
          <a:xfrm>
            <a:off x="272454" y="3645024"/>
            <a:ext cx="4078409" cy="1540618"/>
          </a:xfrm>
          <a:prstGeom prst="rect">
            <a:avLst/>
          </a:prstGeom>
          <a:ln>
            <a:solidFill>
              <a:srgbClr val="0000FF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4443805" y="3676669"/>
            <a:ext cx="448049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Clr>
                <a:srgbClr val="0000FF"/>
              </a:buClr>
              <a:buSzPct val="12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i="1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С одним операндом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множитель. </a:t>
            </a:r>
            <a:endParaRPr lang="ru-RU" sz="1800" dirty="0" smtClean="0">
              <a:solidFill>
                <a:srgbClr val="202020"/>
              </a:solidFill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Clr>
                <a:srgbClr val="0000FF"/>
              </a:buClr>
              <a:buSzPct val="12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ru-RU" sz="1800" dirty="0">
              <a:solidFill>
                <a:srgbClr val="202020"/>
              </a:solidFill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Clr>
                <a:srgbClr val="0000FF"/>
              </a:buClr>
              <a:buSzPct val="120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i="1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С </a:t>
            </a:r>
            <a:r>
              <a:rPr lang="ru-RU" sz="1800" i="1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двумя </a:t>
            </a:r>
            <a:r>
              <a:rPr lang="ru-RU" sz="1800" i="1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операндами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0363" lvl="0" indent="-90488" algn="just">
              <a:spcAft>
                <a:spcPts val="0"/>
              </a:spcAft>
              <a:buClr>
                <a:srgbClr val="0000FF"/>
              </a:buClr>
              <a:buSzPct val="120000"/>
              <a:tabLst>
                <a:tab pos="457200" algn="l"/>
              </a:tabLst>
            </a:pP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Результат 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-на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место первого 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множителя, старшая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часть результата 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игнорируется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1800" dirty="0" smtClean="0">
              <a:solidFill>
                <a:srgbClr val="202020"/>
              </a:solidFill>
              <a:latin typeface="+mn-lt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79512" y="5473206"/>
            <a:ext cx="703630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463" lvl="0" indent="-271463" algn="just">
              <a:spcAft>
                <a:spcPts val="0"/>
              </a:spcAft>
              <a:buClr>
                <a:srgbClr val="0000FF"/>
              </a:buClr>
              <a:buSzPct val="120000"/>
              <a:buFont typeface="Arial" panose="020B0604020202020204" pitchFamily="34" charset="0"/>
              <a:buChar char="•"/>
              <a:tabLst>
                <a:tab pos="185738" algn="l"/>
              </a:tabLst>
            </a:pPr>
            <a:r>
              <a:rPr lang="ru-RU" sz="1800" i="1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С тремя операндами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</a:rPr>
              <a:t> : результат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</a:rPr>
              <a:t>, 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</a:rPr>
              <a:t>первый и второй множитель</a:t>
            </a:r>
            <a:r>
              <a:rPr lang="ru-RU" sz="1800" dirty="0" smtClean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</a:rPr>
              <a:t>.</a:t>
            </a:r>
          </a:p>
          <a:p>
            <a:pPr marL="269875" lvl="0" algn="just">
              <a:spcAft>
                <a:spcPts val="0"/>
              </a:spcAft>
              <a:buSzPct val="107000"/>
              <a:tabLst>
                <a:tab pos="457200" algn="l"/>
              </a:tabLst>
            </a:pPr>
            <a:r>
              <a:rPr lang="ru-RU" sz="1800" b="1" dirty="0" smtClean="0">
                <a:solidFill>
                  <a:srgbClr val="C00000"/>
                </a:solidFill>
                <a:latin typeface="+mn-lt"/>
                <a:ea typeface="Times New Roman" panose="02020603050405020304" pitchFamily="18" charset="0"/>
              </a:rPr>
              <a:t>! </a:t>
            </a:r>
            <a:r>
              <a:rPr lang="ru-RU" sz="1800" dirty="0">
                <a:solidFill>
                  <a:srgbClr val="202020"/>
                </a:solidFill>
                <a:latin typeface="+mn-lt"/>
                <a:ea typeface="Times New Roman" panose="02020603050405020304" pitchFamily="18" charset="0"/>
              </a:rPr>
              <a:t>Второй множитель должен быть непосредственным значением. Результат имеет такой же размер, как первый множитель, старшая часть игнорируется</a:t>
            </a:r>
            <a:endParaRPr lang="ru-RU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2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1449" y="188640"/>
            <a:ext cx="7772400" cy="659160"/>
          </a:xfrm>
        </p:spPr>
        <p:txBody>
          <a:bodyPr/>
          <a:lstStyle/>
          <a:p>
            <a:r>
              <a:rPr lang="ru-RU" sz="2800" b="1" i="1" dirty="0" smtClean="0">
                <a:solidFill>
                  <a:srgbClr val="CC0000"/>
                </a:solidFill>
              </a:rPr>
              <a:t>Деление чисел </a:t>
            </a:r>
            <a:r>
              <a:rPr lang="ru-RU" sz="2800" b="1" i="1" dirty="0">
                <a:solidFill>
                  <a:srgbClr val="CC0000"/>
                </a:solidFill>
              </a:rPr>
              <a:t>без знака</a:t>
            </a:r>
            <a:endParaRPr lang="ru-RU" sz="2600" b="1" i="1" dirty="0">
              <a:solidFill>
                <a:srgbClr val="CC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847800"/>
            <a:ext cx="7772400" cy="2880320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 smtClean="0"/>
              <a:t>	</a:t>
            </a:r>
            <a:r>
              <a:rPr lang="ru-RU" altLang="ru-RU" sz="2000" dirty="0" err="1" smtClean="0">
                <a:solidFill>
                  <a:srgbClr val="0000FF"/>
                </a:solidFill>
                <a:latin typeface="Times New Roman" panose="02020603050405020304" pitchFamily="18" charset="0"/>
              </a:rPr>
              <a:t>div</a:t>
            </a:r>
            <a:r>
              <a:rPr lang="ru-RU" altLang="ru-RU" sz="2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делитель</a:t>
            </a:r>
            <a:endParaRPr lang="ru-RU" altLang="ru-RU" sz="1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Делитель может находиться в памяти или в регистре и имеет размер 8, 16 или 32 бита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.</a:t>
            </a:r>
            <a:endParaRPr lang="ru-RU" altLang="ru-RU" sz="1800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endParaRPr lang="ru-RU" altLang="ru-RU" sz="1800" dirty="0">
              <a:latin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06838" y="5108959"/>
            <a:ext cx="81416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spcAft>
                <a:spcPts val="0"/>
              </a:spcAft>
            </a:pP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После выполнения команды деления содержимое флагов не определено, но возможно возникновение прерывания с номером 0 одной из следующих причин:</a:t>
            </a:r>
          </a:p>
          <a:p>
            <a:pPr indent="215900" algn="just">
              <a:spcAft>
                <a:spcPts val="0"/>
              </a:spcAft>
              <a:tabLst>
                <a:tab pos="449263" algn="l"/>
              </a:tabLst>
            </a:pP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1.	делитель равен 0;</a:t>
            </a:r>
          </a:p>
          <a:p>
            <a:pPr indent="215900" algn="just">
              <a:spcAft>
                <a:spcPts val="0"/>
              </a:spcAft>
              <a:tabLst>
                <a:tab pos="449263" algn="l"/>
              </a:tabLst>
            </a:pP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2.	частное не входит в отведенную под него разрядную </a:t>
            </a: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сетку.</a:t>
            </a:r>
            <a:endParaRPr lang="ru-RU" sz="1800" dirty="0">
              <a:solidFill>
                <a:srgbClr val="000000"/>
              </a:solidFill>
              <a:ea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400131" y="3728088"/>
            <a:ext cx="5904656" cy="886397"/>
          </a:xfrm>
          <a:prstGeom prst="rect">
            <a:avLst/>
          </a:prstGeom>
          <a:ln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ru-RU" b="1" dirty="0" err="1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div</a:t>
            </a:r>
            <a:r>
              <a:rPr lang="ru-RU" dirty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cl</a:t>
            </a:r>
            <a:r>
              <a:rPr lang="ru-RU" dirty="0"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i="1" dirty="0">
                <a:solidFill>
                  <a:srgbClr val="0F243E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;AL = AX / CL, остаток в AH</a:t>
            </a:r>
            <a:endParaRPr lang="ru-RU" sz="1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 err="1" smtClean="0">
                <a:solidFill>
                  <a:srgbClr val="0070C0"/>
                </a:solidFill>
                <a:ea typeface="Times New Roman" panose="02020603050405020304" pitchFamily="18" charset="0"/>
              </a:rPr>
              <a:t>div</a:t>
            </a:r>
            <a:r>
              <a:rPr lang="ru-RU" dirty="0" smtClean="0">
                <a:solidFill>
                  <a:srgbClr val="0070C0"/>
                </a:solidFill>
                <a:ea typeface="Times New Roman" panose="02020603050405020304" pitchFamily="18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ea typeface="Times New Roman" panose="02020603050405020304" pitchFamily="18" charset="0"/>
              </a:rPr>
              <a:t>di</a:t>
            </a:r>
            <a:r>
              <a:rPr lang="ru-RU" dirty="0">
                <a:ea typeface="Times New Roman" panose="02020603050405020304" pitchFamily="18" charset="0"/>
              </a:rPr>
              <a:t>   </a:t>
            </a:r>
            <a:r>
              <a:rPr lang="ru-RU" i="1" dirty="0">
                <a:solidFill>
                  <a:srgbClr val="0F243E"/>
                </a:solidFill>
                <a:ea typeface="Times New Roman" panose="02020603050405020304" pitchFamily="18" charset="0"/>
              </a:rPr>
              <a:t>;AX = DX:AX / DI, остаток в DX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r="39093" b="23137"/>
          <a:stretch/>
        </p:blipFill>
        <p:spPr>
          <a:xfrm>
            <a:off x="2000868" y="2090128"/>
            <a:ext cx="4703182" cy="133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9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91449" y="188640"/>
            <a:ext cx="7772400" cy="659160"/>
          </a:xfrm>
        </p:spPr>
        <p:txBody>
          <a:bodyPr/>
          <a:lstStyle/>
          <a:p>
            <a:r>
              <a:rPr lang="ru-RU" sz="2800" b="1" i="1" dirty="0" smtClean="0">
                <a:solidFill>
                  <a:srgbClr val="CC0000"/>
                </a:solidFill>
              </a:rPr>
              <a:t>Деление чисел со знаком</a:t>
            </a:r>
            <a:endParaRPr lang="ru-RU" sz="2600" b="1" i="1" dirty="0">
              <a:solidFill>
                <a:srgbClr val="CC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1043608" y="847800"/>
            <a:ext cx="7772400" cy="4669432"/>
          </a:xfrm>
        </p:spPr>
        <p:txBody>
          <a:bodyPr/>
          <a:lstStyle/>
          <a:p>
            <a:pPr>
              <a:buFontTx/>
              <a:buNone/>
            </a:pPr>
            <a:r>
              <a:rPr lang="ru-RU" altLang="ru-RU" sz="1800" dirty="0" smtClean="0"/>
              <a:t>	</a:t>
            </a:r>
            <a:r>
              <a:rPr lang="ru-RU" altLang="ru-RU" sz="2000" dirty="0" err="1" smtClean="0">
                <a:solidFill>
                  <a:srgbClr val="0000FF"/>
                </a:solidFill>
                <a:latin typeface="Times New Roman" panose="02020603050405020304" pitchFamily="18" charset="0"/>
              </a:rPr>
              <a:t>idiv</a:t>
            </a:r>
            <a:r>
              <a:rPr lang="ru-RU" altLang="ru-RU" sz="2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ru-RU" altLang="ru-RU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делитель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Особенности возникновения исключения 0 (деление на нуль) в случае чисел со знаком. Оно возникает при выполнении команды IDIV по одной из следующих причин: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1.	делитель равен 0;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2.	частное не входит в отведенную под него разрядную сетку, что может случиться:</a:t>
            </a:r>
          </a:p>
          <a:p>
            <a:pPr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</a:rPr>
              <a:t>•	при  делении  делимого величиной в слово со знаком на делитель величиной в байт со знаком, причем значение делимого более чем в 128 </a:t>
            </a:r>
            <a:endParaRPr lang="ru-RU" altLang="ru-RU" sz="1800" dirty="0" smtClean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ru-RU" altLang="ru-RU" sz="1800" dirty="0" smtClean="0">
                <a:latin typeface="Times New Roman" panose="02020603050405020304" pitchFamily="18" charset="0"/>
              </a:rPr>
              <a:t>•</a:t>
            </a:r>
            <a:r>
              <a:rPr lang="ru-RU" altLang="ru-RU" sz="1800" dirty="0">
                <a:latin typeface="Times New Roman" panose="02020603050405020304" pitchFamily="18" charset="0"/>
              </a:rPr>
              <a:t>	при  делении делимого величиной в двойное слово со знаком на делитель величиной в слово со знаком, причем значение делимого более чем в 32 768 раз большее значение делителя (таким образом, частное не должно находиться вне диапазона от -32768 до +32768).раз большее значение делителя</a:t>
            </a:r>
            <a:r>
              <a:rPr lang="ru-RU" altLang="ru-RU" sz="1800" dirty="0" smtClean="0">
                <a:latin typeface="Times New Roman" panose="02020603050405020304" pitchFamily="18" charset="0"/>
              </a:rPr>
              <a:t>;</a:t>
            </a:r>
          </a:p>
          <a:p>
            <a:pPr>
              <a:buFontTx/>
              <a:buNone/>
            </a:pPr>
            <a:endParaRPr lang="ru-RU" altLang="ru-RU" sz="1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376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00720" y="332656"/>
            <a:ext cx="7772400" cy="299120"/>
          </a:xfrm>
        </p:spPr>
        <p:txBody>
          <a:bodyPr/>
          <a:lstStyle/>
          <a:p>
            <a:r>
              <a:rPr lang="ru-RU" sz="2800" b="1" i="1" dirty="0">
                <a:solidFill>
                  <a:srgbClr val="CC0000"/>
                </a:solidFill>
              </a:rPr>
              <a:t>Пример </a:t>
            </a:r>
            <a:r>
              <a:rPr lang="ru-RU" sz="2800" b="1" i="1" dirty="0" smtClean="0">
                <a:solidFill>
                  <a:srgbClr val="CC0000"/>
                </a:solidFill>
              </a:rPr>
              <a:t>программы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13296" y="764704"/>
            <a:ext cx="7772400" cy="720080"/>
          </a:xfrm>
        </p:spPr>
        <p:txBody>
          <a:bodyPr/>
          <a:lstStyle/>
          <a:p>
            <a:pPr marL="0" indent="0">
              <a:buNone/>
            </a:pPr>
            <a:r>
              <a:rPr lang="ru-RU" sz="2000" dirty="0" smtClean="0"/>
              <a:t>Составить программу для вычисления : </a:t>
            </a:r>
            <a:r>
              <a:rPr lang="ru-RU" sz="2000" dirty="0" smtClean="0">
                <a:solidFill>
                  <a:srgbClr val="0000FF"/>
                </a:solidFill>
              </a:rPr>
              <a:t>x </a:t>
            </a:r>
            <a:r>
              <a:rPr lang="ru-RU" sz="2000" dirty="0">
                <a:solidFill>
                  <a:srgbClr val="0000FF"/>
                </a:solidFill>
              </a:rPr>
              <a:t>= x</a:t>
            </a:r>
            <a:r>
              <a:rPr lang="ru-RU" sz="2000" baseline="-25000" dirty="0">
                <a:solidFill>
                  <a:srgbClr val="0000FF"/>
                </a:solidFill>
              </a:rPr>
              <a:t>0</a:t>
            </a:r>
            <a:r>
              <a:rPr lang="ru-RU" sz="2000" dirty="0">
                <a:solidFill>
                  <a:srgbClr val="0000FF"/>
                </a:solidFill>
              </a:rPr>
              <a:t> + v</a:t>
            </a:r>
            <a:r>
              <a:rPr lang="ru-RU" sz="2000" baseline="-25000" dirty="0">
                <a:solidFill>
                  <a:srgbClr val="0000FF"/>
                </a:solidFill>
              </a:rPr>
              <a:t>0</a:t>
            </a:r>
            <a:r>
              <a:rPr lang="ru-RU" sz="2000" dirty="0">
                <a:solidFill>
                  <a:srgbClr val="0000FF"/>
                </a:solidFill>
              </a:rPr>
              <a:t>t + at</a:t>
            </a:r>
            <a:r>
              <a:rPr lang="ru-RU" sz="2000" baseline="30000" dirty="0">
                <a:solidFill>
                  <a:srgbClr val="0000FF"/>
                </a:solidFill>
              </a:rPr>
              <a:t>2</a:t>
            </a:r>
            <a:r>
              <a:rPr lang="ru-RU" sz="2000" dirty="0">
                <a:solidFill>
                  <a:srgbClr val="0000FF"/>
                </a:solidFill>
              </a:rPr>
              <a:t>/2</a:t>
            </a:r>
          </a:p>
        </p:txBody>
      </p:sp>
      <p:pic>
        <p:nvPicPr>
          <p:cNvPr id="4" name="Рисунок 3"/>
          <p:cNvPicPr/>
          <p:nvPr/>
        </p:nvPicPr>
        <p:blipFill rotWithShape="1">
          <a:blip r:embed="rId2"/>
          <a:srcRect t="14038" r="74230" b="19232"/>
          <a:stretch/>
        </p:blipFill>
        <p:spPr bwMode="auto">
          <a:xfrm>
            <a:off x="539552" y="1268760"/>
            <a:ext cx="1800200" cy="532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 bwMode="auto">
          <a:xfrm>
            <a:off x="2339751" y="1288856"/>
            <a:ext cx="5184575" cy="411611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AL=v0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	Cl=t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2339749" y="1738810"/>
            <a:ext cx="5197685" cy="349786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AX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=AL*CL=v0*t	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	BX=AX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2339750" y="2284420"/>
            <a:ext cx="5184575" cy="341403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L=a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	AX=AL*CL=a*t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2339749" y="2710051"/>
            <a:ext cx="5184575" cy="347141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Преобразуем </a:t>
            </a: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t 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в слово;</a:t>
            </a: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  DX:AX=AX*CX=at</a:t>
            </a:r>
            <a:r>
              <a:rPr lang="en-US" sz="1800" baseline="300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2</a:t>
            </a:r>
            <a:endParaRPr kumimoji="0" lang="ru-RU" sz="1800" b="0" i="0" u="none" strike="noStrike" cap="none" normalizeH="0" baseline="3000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2339749" y="3164227"/>
            <a:ext cx="5184575" cy="363166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C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L=2=CX 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т.к.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 CH=0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;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 AX=DX:AX/2=at</a:t>
            </a:r>
            <a:r>
              <a:rPr kumimoji="0" lang="en-US" sz="1800" b="0" i="0" u="none" strike="noStrike" cap="none" normalizeH="0" baseline="3000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/2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2339749" y="4015463"/>
            <a:ext cx="5184000" cy="3240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AX=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AX+x0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 bwMode="auto">
          <a:xfrm>
            <a:off x="2352859" y="3650641"/>
            <a:ext cx="5184575" cy="3240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AX=AX+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</a:rPr>
              <a:t>В</a:t>
            </a: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X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=v0*t+at</a:t>
            </a:r>
            <a:r>
              <a:rPr kumimoji="0" lang="en-US" sz="1800" b="0" i="0" u="none" strike="noStrike" cap="none" normalizeH="0" baseline="3000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/2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2352859" y="4493920"/>
            <a:ext cx="5184000" cy="3240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Сохраняем результат в х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 bwMode="auto">
          <a:xfrm>
            <a:off x="2352859" y="4980325"/>
            <a:ext cx="5184000" cy="36004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; </a:t>
            </a:r>
            <a:r>
              <a:rPr lang="ru-RU" sz="1800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Завершение программы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7272" y="1264791"/>
            <a:ext cx="374564" cy="449353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1</a:t>
            </a:r>
          </a:p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2</a:t>
            </a:r>
          </a:p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3</a:t>
            </a:r>
          </a:p>
          <a:p>
            <a:pPr>
              <a:spcAft>
                <a:spcPts val="0"/>
              </a:spcAft>
            </a:pPr>
            <a:r>
              <a:rPr lang="ru-RU" sz="1400" dirty="0" smtClean="0">
                <a:solidFill>
                  <a:srgbClr val="0000FF"/>
                </a:solidFill>
              </a:rPr>
              <a:t>4</a:t>
            </a:r>
          </a:p>
          <a:p>
            <a:pPr>
              <a:spcAft>
                <a:spcPts val="0"/>
              </a:spcAft>
            </a:pPr>
            <a:endParaRPr lang="ru-RU" sz="1400" dirty="0" smtClean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5</a:t>
            </a:r>
            <a:endParaRPr lang="ru-RU" sz="1400" dirty="0">
              <a:solidFill>
                <a:srgbClr val="0000FF"/>
              </a:solidFill>
            </a:endParaRPr>
          </a:p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6</a:t>
            </a:r>
          </a:p>
          <a:p>
            <a:pPr>
              <a:lnSpc>
                <a:spcPct val="90000"/>
              </a:lnSpc>
            </a:pPr>
            <a:r>
              <a:rPr lang="ru-RU" sz="1400" dirty="0" smtClean="0">
                <a:solidFill>
                  <a:srgbClr val="0000FF"/>
                </a:solidFill>
              </a:rPr>
              <a:t>7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8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9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10</a:t>
            </a:r>
          </a:p>
          <a:p>
            <a:endParaRPr lang="ru-RU" sz="1400" dirty="0" smtClean="0">
              <a:solidFill>
                <a:srgbClr val="0000FF"/>
              </a:solidFill>
            </a:endParaRPr>
          </a:p>
          <a:p>
            <a:r>
              <a:rPr lang="ru-RU" sz="1400" dirty="0" smtClean="0">
                <a:solidFill>
                  <a:srgbClr val="0000FF"/>
                </a:solidFill>
              </a:rPr>
              <a:t>11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12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13</a:t>
            </a:r>
          </a:p>
          <a:p>
            <a:endParaRPr lang="ru-RU" sz="1400" dirty="0">
              <a:solidFill>
                <a:srgbClr val="0000FF"/>
              </a:solidFill>
            </a:endParaRPr>
          </a:p>
          <a:p>
            <a:r>
              <a:rPr lang="ru-RU" sz="1400" dirty="0" smtClean="0">
                <a:solidFill>
                  <a:srgbClr val="0000FF"/>
                </a:solidFill>
              </a:rPr>
              <a:t>14</a:t>
            </a:r>
          </a:p>
          <a:p>
            <a:endParaRPr lang="ru-RU" sz="1400" dirty="0">
              <a:solidFill>
                <a:srgbClr val="0000FF"/>
              </a:solidFill>
            </a:endParaRPr>
          </a:p>
          <a:p>
            <a:r>
              <a:rPr lang="ru-RU" sz="1400" dirty="0" smtClean="0">
                <a:solidFill>
                  <a:srgbClr val="0000FF"/>
                </a:solidFill>
              </a:rPr>
              <a:t>15</a:t>
            </a:r>
          </a:p>
          <a:p>
            <a:r>
              <a:rPr lang="ru-RU" sz="1400" dirty="0" smtClean="0">
                <a:solidFill>
                  <a:srgbClr val="0000FF"/>
                </a:solidFill>
              </a:rPr>
              <a:t>16</a:t>
            </a:r>
          </a:p>
          <a:p>
            <a:pPr>
              <a:lnSpc>
                <a:spcPct val="90000"/>
              </a:lnSpc>
            </a:pP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754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51520" y="99794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ru-RU" altLang="ru-RU" sz="2600" b="1" i="1" dirty="0" smtClean="0">
                <a:solidFill>
                  <a:srgbClr val="CC0000"/>
                </a:solidFill>
              </a:rPr>
              <a:t>Задание</a:t>
            </a:r>
            <a:endParaRPr lang="ru-RU" altLang="ru-RU" sz="2600" b="1" i="1" dirty="0">
              <a:solidFill>
                <a:srgbClr val="CC0000"/>
              </a:solidFill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742750" y="693560"/>
            <a:ext cx="83884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algn="just">
              <a:spcAft>
                <a:spcPts val="0"/>
              </a:spcAft>
              <a:buFont typeface="+mj-lt"/>
              <a:buAutoNum type="arabicPeriod"/>
              <a:tabLst>
                <a:tab pos="342900" algn="l"/>
                <a:tab pos="381000" algn="l"/>
              </a:tabLst>
            </a:pPr>
            <a:r>
              <a:rPr lang="ru-RU" sz="1800" dirty="0">
                <a:ea typeface="Times New Roman" panose="02020603050405020304" pitchFamily="18" charset="0"/>
              </a:rPr>
              <a:t>Описать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каждую строку  программы примера1 и </a:t>
            </a: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примера2.</a:t>
            </a:r>
            <a:endParaRPr lang="ru-RU" sz="1800" dirty="0"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0"/>
              </a:spcAft>
              <a:buFont typeface="+mj-lt"/>
              <a:buAutoNum type="arabicPeriod"/>
              <a:tabLst>
                <a:tab pos="381000" algn="l"/>
              </a:tabLst>
            </a:pP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Получить исполняемый   файл программы с примера1 и примера2.</a:t>
            </a:r>
            <a:endParaRPr lang="ru-RU" sz="1800" dirty="0">
              <a:ea typeface="Times New Roman" panose="02020603050405020304" pitchFamily="18" charset="0"/>
            </a:endParaRPr>
          </a:p>
          <a:p>
            <a:pPr marL="685800" indent="-242888" algn="just">
              <a:spcAft>
                <a:spcPts val="0"/>
              </a:spcAft>
              <a:tabLst>
                <a:tab pos="342900" algn="l"/>
              </a:tabLst>
            </a:pP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3.   Написать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и исполнить программу для:</a:t>
            </a:r>
            <a:endParaRPr lang="ru-RU" sz="1800" dirty="0">
              <a:ea typeface="Times New Roman" panose="02020603050405020304" pitchFamily="18" charset="0"/>
            </a:endParaRPr>
          </a:p>
          <a:p>
            <a:pPr marL="714375" lvl="0" indent="185738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714375" algn="l"/>
              </a:tabLst>
            </a:pP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нахождения </a:t>
            </a: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произведения чисел 99 и 9;</a:t>
            </a:r>
          </a:p>
          <a:p>
            <a:pPr marL="714375" lvl="0" indent="185738" algn="just">
              <a:spcAft>
                <a:spcPts val="0"/>
              </a:spcAft>
              <a:buFont typeface="Symbol" panose="05050102010706020507" pitchFamily="18" charset="2"/>
              <a:buChar char=""/>
              <a:tabLst>
                <a:tab pos="714375" algn="l"/>
              </a:tabLst>
            </a:pPr>
            <a:r>
              <a:rPr lang="ru-RU" sz="1800" dirty="0">
                <a:solidFill>
                  <a:srgbClr val="000000"/>
                </a:solidFill>
                <a:ea typeface="Times New Roman" panose="02020603050405020304" pitchFamily="18" charset="0"/>
              </a:rPr>
              <a:t>	 нахождения частного чисел 150 и 9</a:t>
            </a:r>
            <a:r>
              <a:rPr lang="ru-RU" sz="1800" dirty="0" smtClean="0">
                <a:solidFill>
                  <a:srgbClr val="000000"/>
                </a:solidFill>
                <a:ea typeface="Times New Roman" panose="02020603050405020304" pitchFamily="18" charset="0"/>
              </a:rPr>
              <a:t>.</a:t>
            </a:r>
          </a:p>
          <a:p>
            <a:pPr marL="714375" lvl="0" algn="just">
              <a:spcAft>
                <a:spcPts val="0"/>
              </a:spcAft>
              <a:tabLst>
                <a:tab pos="714375" algn="l"/>
              </a:tabLst>
            </a:pPr>
            <a:r>
              <a:rPr lang="ru-RU" sz="1800" dirty="0">
                <a:ea typeface="Times New Roman" panose="02020603050405020304" pitchFamily="18" charset="0"/>
              </a:rPr>
              <a:t>Результат поместить в память с меткой </a:t>
            </a:r>
            <a:r>
              <a:rPr lang="ru-RU" sz="1800" dirty="0" err="1">
                <a:ea typeface="Times New Roman" panose="02020603050405020304" pitchFamily="18" charset="0"/>
              </a:rPr>
              <a:t>rez</a:t>
            </a:r>
            <a:r>
              <a:rPr lang="ru-RU" sz="1800" dirty="0">
                <a:ea typeface="Times New Roman" panose="02020603050405020304" pitchFamily="18" charset="0"/>
              </a:rPr>
              <a:t> и размерностью байт.</a:t>
            </a:r>
            <a:endParaRPr lang="ru-RU" sz="1800" dirty="0">
              <a:ea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6767" y="27297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Пример 1</a:t>
            </a:r>
            <a:endParaRPr lang="ru-RU" sz="1800" dirty="0">
              <a:solidFill>
                <a:srgbClr val="0000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23520" y="2729754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 smtClean="0">
                <a:solidFill>
                  <a:srgbClr val="0000FF"/>
                </a:solidFill>
              </a:rPr>
              <a:t>Пример 2</a:t>
            </a:r>
            <a:endParaRPr lang="ru-RU" sz="1800" dirty="0">
              <a:solidFill>
                <a:srgbClr val="0000FF"/>
              </a:solidFill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370" y="2703186"/>
            <a:ext cx="2880320" cy="3580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/>
          <p:cNvPicPr/>
          <p:nvPr/>
        </p:nvPicPr>
        <p:blipFill>
          <a:blip r:embed="rId3"/>
          <a:stretch>
            <a:fillRect/>
          </a:stretch>
        </p:blipFill>
        <p:spPr>
          <a:xfrm>
            <a:off x="2048756" y="2735459"/>
            <a:ext cx="2200907" cy="4151116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2045982" y="2703186"/>
            <a:ext cx="2200907" cy="415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20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Ответьте на вопросы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5800" y="1981200"/>
            <a:ext cx="7342584" cy="4114800"/>
          </a:xfrm>
        </p:spPr>
        <p:txBody>
          <a:bodyPr/>
          <a:lstStyle/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1.	</a:t>
            </a:r>
            <a:r>
              <a:rPr lang="ru-RU" sz="2000" dirty="0" smtClean="0"/>
              <a:t>Как </a:t>
            </a:r>
            <a:r>
              <a:rPr lang="ru-RU" sz="2000" dirty="0"/>
              <a:t>выполняется умножение двоичных чисел без знака?</a:t>
            </a:r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2.	Как располагаются операнд и результат при умножении?</a:t>
            </a:r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3.	Как выполняется деление чисел со знаком и  без?</a:t>
            </a:r>
          </a:p>
          <a:p>
            <a:pPr marL="263525" indent="-263525">
              <a:buNone/>
              <a:tabLst>
                <a:tab pos="263525" algn="l"/>
              </a:tabLst>
            </a:pPr>
            <a:r>
              <a:rPr lang="ru-RU" sz="2000" dirty="0"/>
              <a:t>4.	Какие ошибки возникают при делении чисел без </a:t>
            </a:r>
            <a:r>
              <a:rPr lang="ru-RU" sz="2000" dirty="0" smtClean="0"/>
              <a:t>знака?</a:t>
            </a:r>
            <a:endParaRPr lang="ru-RU" sz="20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3868597"/>
      </p:ext>
    </p:extLst>
  </p:cSld>
  <p:clrMapOvr>
    <a:masterClrMapping/>
  </p:clrMapOvr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формление по умолчанию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ru-RU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Designs\Смесь.pot</Template>
  <TotalTime>1956</TotalTime>
  <Words>760</Words>
  <Application>Microsoft Office PowerPoint</Application>
  <PresentationFormat>Экран (4:3)</PresentationFormat>
  <Paragraphs>96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Times New Roman</vt:lpstr>
      <vt:lpstr>Оформление по умолчанию</vt:lpstr>
      <vt:lpstr>Дисциплина: МДК.01.04 Системное программирование   Практическая работа № 11  Тема: Программирование умножения и деления   Цель: программировать команды умножения и деления на ассемблере  </vt:lpstr>
      <vt:lpstr>Умножение чисел без знака</vt:lpstr>
      <vt:lpstr>Умножение чисел со знаком</vt:lpstr>
      <vt:lpstr>Деление чисел без знака</vt:lpstr>
      <vt:lpstr>Деление чисел со знаком</vt:lpstr>
      <vt:lpstr>Пример программы</vt:lpstr>
      <vt:lpstr>Презентация PowerPoint</vt:lpstr>
      <vt:lpstr>Ответьте на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SuperUser</dc:creator>
  <cp:lastModifiedBy>Александр Галузин</cp:lastModifiedBy>
  <cp:revision>259</cp:revision>
  <dcterms:created xsi:type="dcterms:W3CDTF">1601-01-01T00:00:00Z</dcterms:created>
  <dcterms:modified xsi:type="dcterms:W3CDTF">2025-10-29T07:59:11Z</dcterms:modified>
</cp:coreProperties>
</file>