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353" r:id="rId3"/>
    <p:sldId id="345" r:id="rId4"/>
    <p:sldId id="354" r:id="rId5"/>
    <p:sldId id="352" r:id="rId6"/>
    <p:sldId id="347" r:id="rId7"/>
    <p:sldId id="355" r:id="rId8"/>
    <p:sldId id="356" r:id="rId9"/>
    <p:sldId id="35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990033"/>
    <a:srgbClr val="CC0000"/>
    <a:srgbClr val="A3A3FF"/>
    <a:srgbClr val="FF0000"/>
    <a:srgbClr val="FFCCCC"/>
    <a:srgbClr val="00CC00"/>
    <a:srgbClr val="D7E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17" autoAdjust="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90"/>
    </p:cViewPr>
  </p:sorterViewPr>
  <p:notesViewPr>
    <p:cSldViewPr>
      <p:cViewPr varScale="1">
        <p:scale>
          <a:sx n="83" d="100"/>
          <a:sy n="83" d="100"/>
        </p:scale>
        <p:origin x="-190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 altLang="ru-RU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BCFE16-878C-4025-99B2-ED59639A48D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97579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93096-F2AE-4767-B014-A17DB62BB98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562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D2C48A-C5D0-4AD9-9122-EC5B563B79B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3043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DBD-8E48-4C61-BA9D-DCB98C56DD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495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90257-8140-4A15-A208-A42F0A31776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224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1323-A8CD-40D0-8F42-3FE3D291FC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3819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AB729-C862-44E1-9BD8-C749DB4E809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558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39D2D-78AC-4F21-B29D-5E1B7BACF1E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4649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3A95E-E0D7-4E8E-8AA1-EDFAF320839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4991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B09D65-2B39-4F26-9D3D-79182DE1C0B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3444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C623CD-E8CE-4874-8B1D-D4323977315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414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9B8BC-36AD-47BB-B5B6-77F56A52D4E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0766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EB2377-E7FF-4880-9419-CA00A819ED18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104900"/>
            <a:ext cx="7848600" cy="4648200"/>
          </a:xfrm>
        </p:spPr>
        <p:txBody>
          <a:bodyPr/>
          <a:lstStyle/>
          <a:p>
            <a:r>
              <a:rPr lang="ru-RU" sz="2000" b="1" dirty="0"/>
              <a:t>Дисциплина: </a:t>
            </a:r>
            <a:r>
              <a:rPr lang="ru-RU" sz="2000" dirty="0"/>
              <a:t>МДК.01.04 Системное </a:t>
            </a:r>
            <a:r>
              <a:rPr lang="ru-RU" sz="2000" dirty="0" smtClean="0"/>
              <a:t>программирование</a:t>
            </a:r>
            <a:br>
              <a:rPr lang="ru-RU" sz="2000" dirty="0" smtClean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2800" dirty="0"/>
              <a:t/>
            </a:r>
            <a:br>
              <a:rPr lang="ru-RU" sz="2800" dirty="0"/>
            </a:br>
            <a:r>
              <a:rPr lang="ru-RU" altLang="ru-RU" sz="2800" b="1" dirty="0">
                <a:solidFill>
                  <a:schemeClr val="tx1"/>
                </a:solidFill>
              </a:rPr>
              <a:t/>
            </a:r>
            <a:br>
              <a:rPr lang="ru-RU" altLang="ru-RU" sz="2800" b="1" dirty="0">
                <a:solidFill>
                  <a:schemeClr val="tx1"/>
                </a:solidFill>
              </a:rPr>
            </a:br>
            <a:r>
              <a:rPr lang="ru-RU" altLang="ru-RU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Практическая работа № 6</a:t>
            </a:r>
            <a:br>
              <a:rPr lang="ru-RU" altLang="ru-RU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altLang="ru-RU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Тема: Резервирование и инициализация памяти</a:t>
            </a:r>
            <a:b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Цель: </a:t>
            </a:r>
            <a: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Научиться резервировать и инициализировать память под программы на </a:t>
            </a:r>
            <a: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ассемблере</a:t>
            </a:r>
            <a: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ru-RU" altLang="ru-RU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22531" name="Picture 3" descr="BD21315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43" y="620688"/>
            <a:ext cx="5064125" cy="25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DD0100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3" y="5036343"/>
            <a:ext cx="1935163" cy="143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5986487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smtClean="0"/>
              <a:t>14.10.2025</a:t>
            </a: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1449" y="188640"/>
            <a:ext cx="7772400" cy="659160"/>
          </a:xfrm>
        </p:spPr>
        <p:txBody>
          <a:bodyPr/>
          <a:lstStyle/>
          <a:p>
            <a:r>
              <a:rPr lang="ru-RU" sz="2800" b="1" i="1" dirty="0" smtClean="0">
                <a:solidFill>
                  <a:srgbClr val="CC0000"/>
                </a:solidFill>
              </a:rPr>
              <a:t>Директивы </a:t>
            </a:r>
            <a:r>
              <a:rPr lang="ru-RU" sz="2800" b="1" i="1" dirty="0">
                <a:solidFill>
                  <a:srgbClr val="CC0000"/>
                </a:solidFill>
              </a:rPr>
              <a:t>в Ассемблере </a:t>
            </a:r>
            <a:endParaRPr lang="ru-RU" sz="2600" b="1" i="1" dirty="0">
              <a:solidFill>
                <a:srgbClr val="CC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847800"/>
            <a:ext cx="7772400" cy="288032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 smtClean="0"/>
              <a:t>	</a:t>
            </a:r>
            <a:r>
              <a:rPr lang="ru-RU" altLang="ru-RU" sz="1800" dirty="0">
                <a:latin typeface="Times New Roman" panose="02020603050405020304" pitchFamily="18" charset="0"/>
              </a:rPr>
              <a:t>Директива, как и команда, состоит из четырех полей: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	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[&lt;имя&gt;] &lt;код псевдооперации&gt; &lt;операнды&gt; [;комментарии]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Здесь 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&lt;имя&gt; </a:t>
            </a:r>
            <a:r>
              <a:rPr lang="ru-RU" altLang="ru-RU" sz="1800" dirty="0">
                <a:latin typeface="Times New Roman" panose="02020603050405020304" pitchFamily="18" charset="0"/>
              </a:rPr>
              <a:t>- символическое имя Ассемблера, </a:t>
            </a:r>
          </a:p>
          <a:p>
            <a:pPr indent="280988">
              <a:buFontTx/>
              <a:buNone/>
            </a:pP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&lt;код псевдооперации&gt; </a:t>
            </a:r>
            <a:r>
              <a:rPr lang="ru-RU" altLang="ru-RU" sz="1800" dirty="0">
                <a:latin typeface="Times New Roman" panose="02020603050405020304" pitchFamily="18" charset="0"/>
              </a:rPr>
              <a:t>- определяет назначение директивы.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Операндов может быть различное количество и для одной директивы.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Например: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	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M1 DB 1, 0, 1, 0, 1 </a:t>
            </a:r>
            <a:r>
              <a:rPr lang="ru-RU" altLang="ru-RU" sz="1800" dirty="0">
                <a:latin typeface="Times New Roman" panose="02020603050405020304" pitchFamily="18" charset="0"/>
              </a:rPr>
              <a:t>; директива DB определяет 5 байтов памяти и заполняет их 0 или 1 соответственно, адрес первого байта – М1.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	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M2  DB ?,?,? </a:t>
            </a:r>
            <a:r>
              <a:rPr lang="ru-RU" altLang="ru-RU" sz="1800" dirty="0">
                <a:latin typeface="Times New Roman" panose="02020603050405020304" pitchFamily="18" charset="0"/>
              </a:rPr>
              <a:t>; директива DB определяет три байта памяти ничем их не заполняя, адрес первого – M2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.</a:t>
            </a:r>
            <a:endParaRPr lang="ru-RU" altLang="ru-RU" sz="1800" dirty="0">
              <a:latin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259632" y="4221088"/>
            <a:ext cx="69847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FF"/>
                </a:solidFill>
              </a:rPr>
              <a:t>Директивы ассемблера </a:t>
            </a:r>
            <a:r>
              <a:rPr lang="ru-RU" sz="1800" dirty="0"/>
              <a:t>могут быть разделены на ряд </a:t>
            </a:r>
            <a:r>
              <a:rPr lang="ru-RU" sz="1800" dirty="0">
                <a:solidFill>
                  <a:srgbClr val="0000FF"/>
                </a:solidFill>
              </a:rPr>
              <a:t>категорий</a:t>
            </a:r>
            <a:r>
              <a:rPr lang="ru-RU" sz="1800" dirty="0"/>
              <a:t>:</a:t>
            </a:r>
          </a:p>
          <a:p>
            <a:r>
              <a:rPr lang="ru-RU" sz="1800" dirty="0"/>
              <a:t>• символические определения,</a:t>
            </a:r>
          </a:p>
          <a:p>
            <a:r>
              <a:rPr lang="ru-RU" sz="1800" dirty="0"/>
              <a:t>• резервирование пространства памяти,</a:t>
            </a:r>
          </a:p>
          <a:p>
            <a:r>
              <a:rPr lang="ru-RU" sz="1800" dirty="0"/>
              <a:t>• инициализация данных,</a:t>
            </a:r>
          </a:p>
          <a:p>
            <a:r>
              <a:rPr lang="ru-RU" sz="1800" dirty="0"/>
              <a:t>• управление состоянием ассемблера,</a:t>
            </a:r>
          </a:p>
          <a:p>
            <a:r>
              <a:rPr lang="ru-RU" sz="1800" dirty="0"/>
              <a:t>• выбор сегментов,</a:t>
            </a:r>
          </a:p>
          <a:p>
            <a:r>
              <a:rPr lang="ru-RU" sz="1800" dirty="0"/>
              <a:t>• определение макрокоманд.</a:t>
            </a:r>
          </a:p>
        </p:txBody>
      </p:sp>
    </p:spTree>
    <p:extLst>
      <p:ext uri="{BB962C8B-B14F-4D97-AF65-F5344CB8AC3E}">
        <p14:creationId xmlns:p14="http://schemas.microsoft.com/office/powerpoint/2010/main" val="93157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19218" y="18864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>
                <a:solidFill>
                  <a:srgbClr val="CC0000"/>
                </a:solidFill>
              </a:rPr>
              <a:t>Директивы сегментации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611560" y="914751"/>
            <a:ext cx="82089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rgbClr val="000000"/>
                </a:solidFill>
                <a:latin typeface="+mn-lt"/>
              </a:rPr>
              <a:t>Программа разбивается на несколько сегментов, каждый из которых имеет свое функциональное назначение. Для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этого используются </a:t>
            </a:r>
            <a:r>
              <a:rPr lang="ru-RU" sz="1800" b="1" dirty="0">
                <a:solidFill>
                  <a:srgbClr val="0000FF"/>
                </a:solidFill>
              </a:rPr>
              <a:t>директивы сегментации. </a:t>
            </a:r>
            <a:endParaRPr lang="ru-RU" sz="1800" b="1" dirty="0" smtClean="0">
              <a:solidFill>
                <a:srgbClr val="0000FF"/>
              </a:solidFill>
            </a:endParaRPr>
          </a:p>
          <a:p>
            <a:pPr algn="ctr"/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TASM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и МASM предоставляют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2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типа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директив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: </a:t>
            </a:r>
            <a:r>
              <a:rPr lang="ru-RU" sz="1800" b="1" dirty="0">
                <a:solidFill>
                  <a:srgbClr val="0000FF"/>
                </a:solidFill>
              </a:rPr>
              <a:t>стандартные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и </a:t>
            </a:r>
            <a:r>
              <a:rPr lang="ru-RU" sz="1800" b="1" dirty="0">
                <a:solidFill>
                  <a:srgbClr val="0000FF"/>
                </a:solidFill>
              </a:rPr>
              <a:t>упрощенные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algn="ctr"/>
            <a:r>
              <a:rPr lang="ru-RU" sz="1800" dirty="0">
                <a:solidFill>
                  <a:srgbClr val="000000"/>
                </a:solidFill>
                <a:latin typeface="+mn-lt"/>
              </a:rPr>
              <a:t>Как правильно оформить последовательность команд, чтобы транслятор мог их обработать, а процессор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– выполнить?</a:t>
            </a:r>
          </a:p>
          <a:p>
            <a:pPr algn="ctr"/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Процессор имеет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6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сегментных регистров, с помощью которых может одновременно работать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:</a:t>
            </a:r>
          </a:p>
          <a:p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•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с одним сегментом кода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;	          • с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одним сегментом стека;</a:t>
            </a:r>
          </a:p>
          <a:p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•с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одним сегментом данных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;         •с </a:t>
            </a:r>
            <a:r>
              <a:rPr lang="ru-RU" sz="1800" dirty="0">
                <a:solidFill>
                  <a:srgbClr val="000000"/>
                </a:solidFill>
                <a:latin typeface="+mn-lt"/>
              </a:rPr>
              <a:t>тремя дополнительными сегментами </a:t>
            </a:r>
            <a:r>
              <a:rPr lang="ru-RU" sz="1800" dirty="0" smtClean="0">
                <a:solidFill>
                  <a:srgbClr val="000000"/>
                </a:solidFill>
                <a:latin typeface="+mn-lt"/>
              </a:rPr>
              <a:t>данных</a:t>
            </a:r>
            <a:endParaRPr lang="ru-RU" sz="1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63588" y="3539623"/>
            <a:ext cx="77048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68513" indent="-2068513"/>
            <a:r>
              <a:rPr lang="ru-RU" sz="1800" dirty="0">
                <a:solidFill>
                  <a:srgbClr val="0000FF"/>
                </a:solidFill>
                <a:latin typeface="+mn-lt"/>
              </a:rPr>
              <a:t>Физически сегмент </a:t>
            </a:r>
            <a:r>
              <a:rPr lang="ru-RU" sz="1800" dirty="0" smtClean="0">
                <a:solidFill>
                  <a:srgbClr val="0000FF"/>
                </a:solidFill>
                <a:latin typeface="+mn-lt"/>
              </a:rPr>
              <a:t>- </a:t>
            </a:r>
            <a:r>
              <a:rPr lang="ru-RU" sz="1800" dirty="0" smtClean="0">
                <a:latin typeface="+mn-lt"/>
              </a:rPr>
              <a:t>область </a:t>
            </a:r>
            <a:r>
              <a:rPr lang="ru-RU" sz="1800" dirty="0">
                <a:latin typeface="+mn-lt"/>
              </a:rPr>
              <a:t>памяти, занятой командами и /или данными, адреса которых вычисляются относительно значения в соответствующем сегментном регистре</a:t>
            </a:r>
            <a:r>
              <a:rPr lang="ru-RU" sz="1800" dirty="0">
                <a:solidFill>
                  <a:srgbClr val="0000FF"/>
                </a:solidFill>
                <a:latin typeface="+mn-lt"/>
              </a:rPr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0344" y="4647129"/>
            <a:ext cx="39959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FF"/>
                </a:solidFill>
                <a:latin typeface="+mn-lt"/>
              </a:rPr>
              <a:t>Упрощенные директивы сегментации- </a:t>
            </a:r>
            <a:r>
              <a:rPr lang="ru-RU" sz="1800" dirty="0" smtClean="0">
                <a:latin typeface="+mn-lt"/>
              </a:rPr>
              <a:t>для указания начала: </a:t>
            </a:r>
          </a:p>
          <a:p>
            <a:r>
              <a:rPr lang="ru-RU" sz="1800" dirty="0">
                <a:latin typeface="+mn-lt"/>
              </a:rPr>
              <a:t>.CODE - </a:t>
            </a:r>
            <a:r>
              <a:rPr lang="ru-RU" sz="1800" dirty="0" smtClean="0">
                <a:latin typeface="+mn-lt"/>
              </a:rPr>
              <a:t>сегмента </a:t>
            </a:r>
            <a:r>
              <a:rPr lang="ru-RU" sz="1800" dirty="0">
                <a:latin typeface="+mn-lt"/>
              </a:rPr>
              <a:t>кода;</a:t>
            </a:r>
          </a:p>
          <a:p>
            <a:r>
              <a:rPr lang="ru-RU" sz="1800" dirty="0">
                <a:latin typeface="+mn-lt"/>
              </a:rPr>
              <a:t>.DATA - </a:t>
            </a:r>
            <a:r>
              <a:rPr lang="ru-RU" sz="1800" dirty="0" smtClean="0">
                <a:latin typeface="+mn-lt"/>
              </a:rPr>
              <a:t>сегмента </a:t>
            </a:r>
            <a:r>
              <a:rPr lang="ru-RU" sz="1800" dirty="0">
                <a:latin typeface="+mn-lt"/>
              </a:rPr>
              <a:t>данных;</a:t>
            </a:r>
          </a:p>
          <a:p>
            <a:r>
              <a:rPr lang="ru-RU" sz="1800" dirty="0">
                <a:latin typeface="+mn-lt"/>
              </a:rPr>
              <a:t>.STACK - </a:t>
            </a:r>
            <a:r>
              <a:rPr lang="ru-RU" sz="1800" dirty="0" smtClean="0">
                <a:latin typeface="+mn-lt"/>
              </a:rPr>
              <a:t>сегмента </a:t>
            </a:r>
            <a:r>
              <a:rPr lang="ru-RU" sz="1800" dirty="0">
                <a:latin typeface="+mn-lt"/>
              </a:rPr>
              <a:t>стека.</a:t>
            </a:r>
            <a:endParaRPr lang="ru-RU" sz="1800" i="0" dirty="0">
              <a:effectLst/>
              <a:latin typeface="+mn-lt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4086280" y="4647129"/>
            <a:ext cx="50405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FF"/>
                </a:solidFill>
                <a:latin typeface="+mn-lt"/>
              </a:rPr>
              <a:t>Стандартная директива сегментации:</a:t>
            </a:r>
          </a:p>
          <a:p>
            <a:r>
              <a:rPr lang="ru-RU" sz="1800" dirty="0" smtClean="0">
                <a:latin typeface="+mn-lt"/>
              </a:rPr>
              <a:t>SEGMENT </a:t>
            </a:r>
            <a:r>
              <a:rPr lang="ru-RU" sz="1800" dirty="0">
                <a:latin typeface="+mn-lt"/>
              </a:rPr>
              <a:t>— определяет начало любого сегмента;</a:t>
            </a:r>
          </a:p>
          <a:p>
            <a:r>
              <a:rPr lang="ru-RU" sz="1800" dirty="0" smtClean="0">
                <a:latin typeface="+mn-lt"/>
              </a:rPr>
              <a:t>ENDS </a:t>
            </a:r>
            <a:r>
              <a:rPr lang="ru-RU" sz="1800" dirty="0">
                <a:latin typeface="+mn-lt"/>
              </a:rPr>
              <a:t>— определяет конец сегмента.</a:t>
            </a:r>
          </a:p>
          <a:p>
            <a:r>
              <a:rPr lang="ru-RU" sz="1800" dirty="0" smtClean="0">
                <a:latin typeface="+mn-lt"/>
              </a:rPr>
              <a:t>Также </a:t>
            </a:r>
            <a:r>
              <a:rPr lang="ru-RU" sz="1800" dirty="0">
                <a:latin typeface="+mn-lt"/>
              </a:rPr>
              <a:t>существует специальная директива ASSUME, которая сообщает транслятору о том, какой сегмент к какому сегментному регистру привязан..</a:t>
            </a:r>
            <a:endParaRPr lang="ru-RU" sz="1800" i="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501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772400" cy="659160"/>
          </a:xfrm>
        </p:spPr>
        <p:txBody>
          <a:bodyPr/>
          <a:lstStyle/>
          <a:p>
            <a:r>
              <a:rPr lang="ru-RU" sz="2600" b="1" i="1" dirty="0">
                <a:solidFill>
                  <a:srgbClr val="CC0000"/>
                </a:solidFill>
              </a:rPr>
              <a:t>Директивы резервирования </a:t>
            </a:r>
            <a:r>
              <a:rPr lang="ru-RU" sz="2600" b="1" i="1" dirty="0" smtClean="0">
                <a:solidFill>
                  <a:srgbClr val="CC0000"/>
                </a:solidFill>
              </a:rPr>
              <a:t>и</a:t>
            </a:r>
            <a:br>
              <a:rPr lang="ru-RU" sz="2600" b="1" i="1" dirty="0" smtClean="0">
                <a:solidFill>
                  <a:srgbClr val="CC0000"/>
                </a:solidFill>
              </a:rPr>
            </a:br>
            <a:r>
              <a:rPr lang="ru-RU" sz="2600" b="1" i="1" dirty="0" smtClean="0">
                <a:solidFill>
                  <a:srgbClr val="CC0000"/>
                </a:solidFill>
              </a:rPr>
              <a:t> </a:t>
            </a:r>
            <a:r>
              <a:rPr lang="ru-RU" sz="2600" b="1" i="1" dirty="0">
                <a:solidFill>
                  <a:srgbClr val="CC0000"/>
                </a:solidFill>
              </a:rPr>
              <a:t>инициализации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0231" y="1340768"/>
            <a:ext cx="7772400" cy="4114800"/>
          </a:xfrm>
        </p:spPr>
        <p:txBody>
          <a:bodyPr/>
          <a:lstStyle/>
          <a:p>
            <a:r>
              <a:rPr lang="ru-RU" sz="2000" dirty="0"/>
              <a:t>Эти </a:t>
            </a:r>
            <a:r>
              <a:rPr lang="ru-RU" sz="2000" dirty="0">
                <a:solidFill>
                  <a:srgbClr val="0000FF"/>
                </a:solidFill>
              </a:rPr>
              <a:t>директивы используются для резервирования и инициализации слов, байтов или битов</a:t>
            </a:r>
            <a:r>
              <a:rPr lang="ru-RU" sz="2000" dirty="0"/>
              <a:t>. В абсолютном сегменте зарезервированное пространство начинается с текущего адреса. В перемещаемом сегменте зарезервированное пространство начинается с текущего смещения. Указатель расположения поддерживается отдельно для каждого сегмента, к нему можно обращаться, используя символ ($).</a:t>
            </a:r>
          </a:p>
          <a:p>
            <a:r>
              <a:rPr lang="ru-RU" sz="2000" dirty="0"/>
              <a:t>Машинного эквивалента этим директивам нет; просто транслятор, обрабатывая каждую такую директиву, выделяет необходимое количество байт памяти и при необходимости инициализирует эту область некоторым значением.</a:t>
            </a:r>
          </a:p>
          <a:p>
            <a:pPr marL="0" indent="179388">
              <a:buNone/>
            </a:pPr>
            <a:r>
              <a:rPr lang="ru-RU" sz="2000" dirty="0">
                <a:solidFill>
                  <a:srgbClr val="0000FF"/>
                </a:solidFill>
              </a:rPr>
              <a:t>Директива	 Описание</a:t>
            </a:r>
          </a:p>
          <a:p>
            <a:pPr marL="0" indent="179388">
              <a:buNone/>
            </a:pPr>
            <a:r>
              <a:rPr lang="ru-RU" sz="2000" dirty="0"/>
              <a:t>DB	</a:t>
            </a:r>
            <a:r>
              <a:rPr lang="ru-RU" sz="2000" dirty="0" smtClean="0"/>
              <a:t>            резервирование </a:t>
            </a:r>
            <a:r>
              <a:rPr lang="ru-RU" sz="2000" dirty="0"/>
              <a:t>памяти для данных размером 1 байт</a:t>
            </a:r>
          </a:p>
          <a:p>
            <a:pPr marL="0" indent="179388">
              <a:buNone/>
            </a:pPr>
            <a:r>
              <a:rPr lang="ru-RU" sz="2000" dirty="0" smtClean="0"/>
              <a:t>DW             резервирование </a:t>
            </a:r>
            <a:r>
              <a:rPr lang="ru-RU" sz="2000" dirty="0"/>
              <a:t>памяти для данных размером 2 байта</a:t>
            </a:r>
          </a:p>
          <a:p>
            <a:pPr marL="0" indent="179388">
              <a:buNone/>
            </a:pPr>
            <a:r>
              <a:rPr lang="ru-RU" sz="2000" dirty="0"/>
              <a:t>DD </a:t>
            </a:r>
            <a:r>
              <a:rPr lang="ru-RU" sz="2000" dirty="0" smtClean="0"/>
              <a:t>              </a:t>
            </a:r>
            <a:r>
              <a:rPr lang="ru-RU" sz="2000" dirty="0"/>
              <a:t>резервирование памяти для данных размером 4 байта</a:t>
            </a:r>
          </a:p>
        </p:txBody>
      </p:sp>
    </p:spTree>
    <p:extLst>
      <p:ext uri="{BB962C8B-B14F-4D97-AF65-F5344CB8AC3E}">
        <p14:creationId xmlns:p14="http://schemas.microsoft.com/office/powerpoint/2010/main" val="37875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528" y="11663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 smtClean="0">
                <a:solidFill>
                  <a:srgbClr val="CC0000"/>
                </a:solidFill>
              </a:rPr>
              <a:t>Пример 1</a:t>
            </a:r>
            <a:endParaRPr lang="ru-RU" altLang="ru-RU" sz="2600" b="1" i="1" dirty="0">
              <a:solidFill>
                <a:srgbClr val="CC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36712"/>
            <a:ext cx="6567403" cy="567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0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9149" y="-2215"/>
            <a:ext cx="8604448" cy="194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>
                <a:solidFill>
                  <a:srgbClr val="CC0000"/>
                </a:solidFill>
              </a:rPr>
              <a:t>Задание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Описать каждую строку программы   примера </a:t>
            </a:r>
            <a:r>
              <a:rPr lang="ru-RU" sz="2000" dirty="0" smtClean="0"/>
              <a:t>2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 smtClean="0"/>
              <a:t>Получить </a:t>
            </a:r>
            <a:r>
              <a:rPr lang="ru-RU" sz="2000" dirty="0"/>
              <a:t>исполняемый файл программы примера </a:t>
            </a:r>
            <a:r>
              <a:rPr lang="ru-RU" sz="2000" dirty="0" smtClean="0"/>
              <a:t>2.</a:t>
            </a:r>
            <a:endParaRPr lang="ru-RU" sz="2000" dirty="0"/>
          </a:p>
          <a:p>
            <a:endParaRPr lang="ru-RU" sz="2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8752" y="1757312"/>
            <a:ext cx="26642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 smtClean="0"/>
              <a:t>Пример</a:t>
            </a:r>
          </a:p>
          <a:p>
            <a:endParaRPr lang="en-US" sz="1800" dirty="0" smtClean="0"/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smtClean="0"/>
              <a:t>model </a:t>
            </a:r>
            <a:r>
              <a:rPr lang="en-US" sz="1800" dirty="0"/>
              <a:t>small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smtClean="0"/>
              <a:t>.</a:t>
            </a:r>
            <a:r>
              <a:rPr lang="en-US" sz="1800" dirty="0"/>
              <a:t>data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pr1 </a:t>
            </a:r>
            <a:r>
              <a:rPr lang="en-US" sz="1800" dirty="0" err="1">
                <a:solidFill>
                  <a:srgbClr val="008000"/>
                </a:solidFill>
              </a:rPr>
              <a:t>db</a:t>
            </a:r>
            <a:r>
              <a:rPr lang="en-US" sz="1800" dirty="0">
                <a:solidFill>
                  <a:srgbClr val="008000"/>
                </a:solidFill>
              </a:rPr>
              <a:t> 23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pr2 </a:t>
            </a:r>
            <a:r>
              <a:rPr lang="en-US" sz="1800" dirty="0" err="1">
                <a:solidFill>
                  <a:srgbClr val="008000"/>
                </a:solidFill>
              </a:rPr>
              <a:t>dw</a:t>
            </a:r>
            <a:r>
              <a:rPr lang="en-US" sz="1800" dirty="0">
                <a:solidFill>
                  <a:srgbClr val="008000"/>
                </a:solidFill>
              </a:rPr>
              <a:t> 9856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pr3 </a:t>
            </a:r>
            <a:r>
              <a:rPr lang="en-US" sz="1800" dirty="0" err="1">
                <a:solidFill>
                  <a:srgbClr val="008000"/>
                </a:solidFill>
              </a:rPr>
              <a:t>dd</a:t>
            </a:r>
            <a:r>
              <a:rPr lang="en-US" sz="1800" dirty="0">
                <a:solidFill>
                  <a:srgbClr val="008000"/>
                </a:solidFill>
              </a:rPr>
              <a:t> 9875645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>
                <a:solidFill>
                  <a:srgbClr val="008000"/>
                </a:solidFill>
              </a:rPr>
              <a:t>pr4 </a:t>
            </a:r>
            <a:r>
              <a:rPr lang="en-US" sz="1800" dirty="0" err="1">
                <a:solidFill>
                  <a:srgbClr val="008000"/>
                </a:solidFill>
              </a:rPr>
              <a:t>dw</a:t>
            </a:r>
            <a:r>
              <a:rPr lang="en-US" sz="1800" dirty="0">
                <a:solidFill>
                  <a:srgbClr val="008000"/>
                </a:solidFill>
              </a:rPr>
              <a:t> 29857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/>
              <a:t>.stack </a:t>
            </a:r>
            <a:r>
              <a:rPr lang="en-US" sz="1800" dirty="0" smtClean="0"/>
              <a:t>100h</a:t>
            </a:r>
            <a:endParaRPr lang="ru-RU" sz="1800" dirty="0" smtClean="0"/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smtClean="0"/>
              <a:t>.code</a:t>
            </a:r>
            <a:endParaRPr lang="en-US" sz="1800" dirty="0"/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/>
              <a:t>main: </a:t>
            </a:r>
            <a:r>
              <a:rPr lang="en-US" sz="1800" dirty="0" err="1" smtClean="0"/>
              <a:t>mov</a:t>
            </a:r>
            <a:r>
              <a:rPr lang="en-US" sz="1800" dirty="0" smtClean="0"/>
              <a:t> </a:t>
            </a:r>
            <a:r>
              <a:rPr lang="en-US" sz="1800" dirty="0" err="1"/>
              <a:t>ax,@data</a:t>
            </a:r>
            <a:endParaRPr lang="en-US" sz="1800" dirty="0"/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err="1"/>
              <a:t>mov</a:t>
            </a:r>
            <a:r>
              <a:rPr lang="en-US" sz="1800" dirty="0"/>
              <a:t> </a:t>
            </a:r>
            <a:r>
              <a:rPr lang="en-US" sz="1800" dirty="0" err="1" smtClean="0"/>
              <a:t>ds,ax</a:t>
            </a:r>
            <a:endParaRPr lang="en-US" sz="1800" dirty="0"/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err="1" smtClean="0"/>
              <a:t>mov</a:t>
            </a:r>
            <a:r>
              <a:rPr lang="en-US" sz="1800" dirty="0" smtClean="0"/>
              <a:t> </a:t>
            </a:r>
            <a:r>
              <a:rPr lang="en-US" sz="1800" dirty="0"/>
              <a:t>ax,4c00h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 err="1"/>
              <a:t>int</a:t>
            </a:r>
            <a:r>
              <a:rPr lang="en-US" sz="1800" dirty="0"/>
              <a:t> 21h</a:t>
            </a:r>
          </a:p>
          <a:p>
            <a:pPr marL="342900" indent="-34290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</a:pPr>
            <a:r>
              <a:rPr lang="en-US" sz="1800" dirty="0"/>
              <a:t>end main</a:t>
            </a:r>
            <a:endParaRPr lang="ru-RU" sz="1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103445" y="1574462"/>
            <a:ext cx="1826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b="1" i="1" dirty="0"/>
              <a:t>Ход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3372" y="2298863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00FF"/>
                </a:solidFill>
              </a:rPr>
              <a:t>Модель </a:t>
            </a:r>
            <a:r>
              <a:rPr lang="ru-RU" sz="1800" dirty="0" smtClean="0">
                <a:solidFill>
                  <a:srgbClr val="0000FF"/>
                </a:solidFill>
              </a:rPr>
              <a:t>поддерживает </a:t>
            </a:r>
            <a:r>
              <a:rPr lang="ru-RU" sz="1800" dirty="0">
                <a:solidFill>
                  <a:srgbClr val="0000FF"/>
                </a:solidFill>
              </a:rPr>
              <a:t>один сегмент кода и один сегмент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4148" y="2793919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под </a:t>
            </a:r>
            <a:r>
              <a:rPr lang="en-US" sz="1800" dirty="0" smtClean="0">
                <a:solidFill>
                  <a:srgbClr val="0000FF"/>
                </a:solidFill>
              </a:rPr>
              <a:t>pr1</a:t>
            </a:r>
            <a:r>
              <a:rPr lang="ru-RU" sz="1800" dirty="0" smtClean="0">
                <a:solidFill>
                  <a:srgbClr val="0000FF"/>
                </a:solidFill>
              </a:rPr>
              <a:t> выделяется 1 байт и присваивается значение 23 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8587" y="2568193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начало сегмента </a:t>
            </a:r>
            <a:r>
              <a:rPr lang="ru-RU" sz="1800" dirty="0">
                <a:solidFill>
                  <a:srgbClr val="0000FF"/>
                </a:solidFill>
              </a:rPr>
              <a:t>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4098" y="3051800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под </a:t>
            </a:r>
            <a:r>
              <a:rPr lang="en-US" sz="1800" dirty="0" err="1" smtClean="0">
                <a:solidFill>
                  <a:srgbClr val="0000FF"/>
                </a:solidFill>
              </a:rPr>
              <a:t>pr</a:t>
            </a:r>
            <a:r>
              <a:rPr lang="ru-RU" sz="1800" dirty="0" smtClean="0">
                <a:solidFill>
                  <a:srgbClr val="0000FF"/>
                </a:solidFill>
              </a:rPr>
              <a:t>2 выделяется 2 байта и присваивается значение 9856 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4048" y="3329785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под </a:t>
            </a:r>
            <a:r>
              <a:rPr lang="en-US" sz="1800" dirty="0" err="1" smtClean="0">
                <a:solidFill>
                  <a:srgbClr val="0000FF"/>
                </a:solidFill>
              </a:rPr>
              <a:t>pr</a:t>
            </a:r>
            <a:r>
              <a:rPr lang="ru-RU" sz="1800" dirty="0" smtClean="0">
                <a:solidFill>
                  <a:srgbClr val="0000FF"/>
                </a:solidFill>
              </a:rPr>
              <a:t>3 выделяется 4 байта и присваивается значение 9875645 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4048" y="3621020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под </a:t>
            </a:r>
            <a:r>
              <a:rPr lang="en-US" sz="1800" dirty="0" smtClean="0">
                <a:solidFill>
                  <a:srgbClr val="0000FF"/>
                </a:solidFill>
              </a:rPr>
              <a:t>pr4</a:t>
            </a:r>
            <a:r>
              <a:rPr lang="ru-RU" sz="1800" dirty="0" smtClean="0">
                <a:solidFill>
                  <a:srgbClr val="0000FF"/>
                </a:solidFill>
              </a:rPr>
              <a:t> выделяется 2 байта и присваивается значение 29857 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94148" y="389797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под стек резервируется 256 байт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7510" y="4472808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адрес сегмента данных загрузить в АХ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3768" y="4745665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переслать АХ →</a:t>
            </a:r>
            <a:r>
              <a:rPr lang="en-US" sz="1800" dirty="0" smtClean="0">
                <a:solidFill>
                  <a:srgbClr val="0000FF"/>
                </a:solidFill>
              </a:rPr>
              <a:t>DS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94148" y="4159274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начало сегмента кода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44931" y="4974675"/>
            <a:ext cx="6013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завершение </a:t>
            </a:r>
          </a:p>
          <a:p>
            <a:r>
              <a:rPr lang="ru-RU" sz="1800" dirty="0" smtClean="0">
                <a:solidFill>
                  <a:srgbClr val="0000FF"/>
                </a:solidFill>
              </a:rPr>
              <a:t>программы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36952" y="5525007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конец сегмента сода</a:t>
            </a:r>
            <a:endParaRPr lang="ru-RU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89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9149" y="-2215"/>
            <a:ext cx="8604448" cy="194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>
                <a:solidFill>
                  <a:srgbClr val="CC0000"/>
                </a:solidFill>
              </a:rPr>
              <a:t>Задание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1800" dirty="0"/>
              <a:t>Описать каждую строку программы   примера </a:t>
            </a:r>
            <a:r>
              <a:rPr lang="ru-RU" sz="1800" dirty="0" smtClean="0"/>
              <a:t>2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1800" dirty="0" smtClean="0"/>
              <a:t>Получить </a:t>
            </a:r>
            <a:r>
              <a:rPr lang="ru-RU" sz="1800" dirty="0"/>
              <a:t>исполняемый файл программы примера </a:t>
            </a:r>
            <a:r>
              <a:rPr lang="ru-RU" sz="1800" dirty="0" smtClean="0"/>
              <a:t>2.</a:t>
            </a:r>
            <a:endParaRPr lang="ru-RU" sz="1800" dirty="0"/>
          </a:p>
          <a:p>
            <a:pPr marL="457200" indent="-457200" algn="l">
              <a:buFont typeface="+mj-lt"/>
              <a:buAutoNum type="arabicPeriod"/>
            </a:pPr>
            <a:r>
              <a:rPr lang="ru-RU" sz="1800" dirty="0" smtClean="0"/>
              <a:t>Измените </a:t>
            </a:r>
            <a:r>
              <a:rPr lang="ru-RU" sz="1800" dirty="0"/>
              <a:t>программу так, чтобы значение переменной per_1 находилось в регистре ах, а значение переменной per_2 находилось в регистре </a:t>
            </a:r>
            <a:r>
              <a:rPr lang="ru-RU" sz="1800" dirty="0" err="1"/>
              <a:t>dx</a:t>
            </a:r>
            <a:r>
              <a:rPr lang="ru-RU" sz="1800" dirty="0"/>
              <a:t>.</a:t>
            </a:r>
          </a:p>
          <a:p>
            <a:endParaRPr lang="ru-RU" sz="1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669107" y="1534575"/>
            <a:ext cx="1826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b="1" i="1" dirty="0"/>
              <a:t>Ход работы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12023" y="1731344"/>
            <a:ext cx="3384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2.</a:t>
            </a:r>
          </a:p>
          <a:p>
            <a:r>
              <a:rPr lang="ru-RU" sz="2000" dirty="0" smtClean="0"/>
              <a:t>А)</a:t>
            </a:r>
            <a:endParaRPr lang="ru-RU" sz="2000" dirty="0"/>
          </a:p>
        </p:txBody>
      </p:sp>
      <p:pic>
        <p:nvPicPr>
          <p:cNvPr id="21" name="Рисунок 20"/>
          <p:cNvPicPr/>
          <p:nvPr/>
        </p:nvPicPr>
        <p:blipFill rotWithShape="1">
          <a:blip r:embed="rId2"/>
          <a:srcRect l="9652" t="4311" r="26475" b="40037"/>
          <a:stretch/>
        </p:blipFill>
        <p:spPr bwMode="auto">
          <a:xfrm>
            <a:off x="3711876" y="2452377"/>
            <a:ext cx="4824536" cy="27387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475622" y="2040755"/>
            <a:ext cx="3417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indent="182880" algn="just">
              <a:spcAft>
                <a:spcPts val="0"/>
              </a:spcAft>
            </a:pPr>
            <a:r>
              <a:rPr lang="ru-RU" sz="2000" dirty="0" smtClean="0">
                <a:ea typeface="Times New Roman" panose="02020603050405020304" pitchFamily="18" charset="0"/>
              </a:rPr>
              <a:t>Б)   </a:t>
            </a:r>
            <a:r>
              <a:rPr lang="en-US" sz="2000" dirty="0" smtClean="0">
                <a:ea typeface="Times New Roman" panose="02020603050405020304" pitchFamily="18" charset="0"/>
              </a:rPr>
              <a:t>tasm.exe  </a:t>
            </a:r>
            <a:r>
              <a:rPr lang="en-US" sz="2000" dirty="0">
                <a:ea typeface="Times New Roman" panose="02020603050405020304" pitchFamily="18" charset="0"/>
              </a:rPr>
              <a:t>/</a:t>
            </a:r>
            <a:r>
              <a:rPr lang="en-US" sz="2000" dirty="0" err="1">
                <a:ea typeface="Times New Roman" panose="02020603050405020304" pitchFamily="18" charset="0"/>
              </a:rPr>
              <a:t>zi</a:t>
            </a:r>
            <a:r>
              <a:rPr lang="en-US" sz="2000" dirty="0">
                <a:ea typeface="Times New Roman" panose="02020603050405020304" pitchFamily="18" charset="0"/>
              </a:rPr>
              <a:t>   </a:t>
            </a:r>
            <a:r>
              <a:rPr lang="en-US" sz="2000" dirty="0" err="1" smtClean="0">
                <a:ea typeface="Times New Roman" panose="02020603050405020304" pitchFamily="18" charset="0"/>
              </a:rPr>
              <a:t>prg</a:t>
            </a:r>
            <a:r>
              <a:rPr lang="ru-RU" sz="2000" dirty="0" smtClean="0">
                <a:ea typeface="Times New Roman" panose="02020603050405020304" pitchFamily="18" charset="0"/>
              </a:rPr>
              <a:t>2</a:t>
            </a:r>
            <a:r>
              <a:rPr lang="en-US" sz="2000" dirty="0" smtClean="0">
                <a:ea typeface="Times New Roman" panose="02020603050405020304" pitchFamily="18" charset="0"/>
              </a:rPr>
              <a:t>.</a:t>
            </a:r>
            <a:r>
              <a:rPr lang="en-US" sz="2000" dirty="0" err="1" smtClean="0">
                <a:ea typeface="Times New Roman" panose="02020603050405020304" pitchFamily="18" charset="0"/>
              </a:rPr>
              <a:t>asm</a:t>
            </a:r>
            <a:r>
              <a:rPr lang="en-US" sz="2000" dirty="0">
                <a:ea typeface="Times New Roman" panose="02020603050405020304" pitchFamily="18" charset="0"/>
              </a:rPr>
              <a:t>,,,</a:t>
            </a:r>
            <a:endParaRPr lang="ru-RU" sz="2000" dirty="0">
              <a:ea typeface="Times New Roman" panose="02020603050405020304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61399" y="4829756"/>
            <a:ext cx="24816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indent="182880" algn="just">
              <a:spcAft>
                <a:spcPts val="0"/>
              </a:spcAft>
            </a:pPr>
            <a:r>
              <a:rPr lang="ru-RU" sz="2000" dirty="0" smtClean="0">
                <a:ea typeface="Times New Roman" panose="02020603050405020304" pitchFamily="18" charset="0"/>
              </a:rPr>
              <a:t>В) </a:t>
            </a:r>
            <a:r>
              <a:rPr lang="en-US" sz="2000" dirty="0" err="1">
                <a:ea typeface="Times New Roman" panose="02020603050405020304" pitchFamily="18" charset="0"/>
              </a:rPr>
              <a:t>tlink</a:t>
            </a:r>
            <a:r>
              <a:rPr lang="en-US" sz="2000" dirty="0">
                <a:ea typeface="Times New Roman" panose="02020603050405020304" pitchFamily="18" charset="0"/>
              </a:rPr>
              <a:t> /v  </a:t>
            </a:r>
            <a:r>
              <a:rPr lang="en-US" sz="2000" dirty="0" err="1" smtClean="0">
                <a:ea typeface="Times New Roman" panose="02020603050405020304" pitchFamily="18" charset="0"/>
              </a:rPr>
              <a:t>prg</a:t>
            </a:r>
            <a:r>
              <a:rPr lang="ru-RU" sz="2000" dirty="0" smtClean="0">
                <a:ea typeface="Times New Roman" panose="02020603050405020304" pitchFamily="18" charset="0"/>
              </a:rPr>
              <a:t>2</a:t>
            </a:r>
            <a:r>
              <a:rPr lang="en-US" sz="2000" dirty="0" smtClean="0">
                <a:ea typeface="Times New Roman" panose="02020603050405020304" pitchFamily="18" charset="0"/>
              </a:rPr>
              <a:t>. </a:t>
            </a:r>
            <a:r>
              <a:rPr lang="en-US" sz="2000" dirty="0" err="1">
                <a:ea typeface="Times New Roman" panose="02020603050405020304" pitchFamily="18" charset="0"/>
              </a:rPr>
              <a:t>obj</a:t>
            </a:r>
            <a:endParaRPr lang="ru-RU" sz="2000" dirty="0">
              <a:ea typeface="Times New Roman" panose="02020603050405020304" pitchFamily="18" charset="0"/>
            </a:endParaRPr>
          </a:p>
        </p:txBody>
      </p:sp>
      <p:pic>
        <p:nvPicPr>
          <p:cNvPr id="25" name="Рисунок 24"/>
          <p:cNvPicPr/>
          <p:nvPr/>
        </p:nvPicPr>
        <p:blipFill rotWithShape="1">
          <a:blip r:embed="rId3"/>
          <a:srcRect l="19680" t="51381" r="18745" b="37665"/>
          <a:stretch/>
        </p:blipFill>
        <p:spPr bwMode="auto">
          <a:xfrm>
            <a:off x="602493" y="5480539"/>
            <a:ext cx="5987811" cy="8676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04" y="2040755"/>
            <a:ext cx="2429214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42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9149" y="-2215"/>
            <a:ext cx="8604448" cy="194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>
                <a:solidFill>
                  <a:srgbClr val="CC0000"/>
                </a:solidFill>
              </a:rPr>
              <a:t>Задание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1800" dirty="0"/>
              <a:t>Описать каждую строку программы   примера </a:t>
            </a:r>
            <a:r>
              <a:rPr lang="ru-RU" sz="1800" dirty="0" smtClean="0"/>
              <a:t>2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1800" dirty="0" smtClean="0"/>
              <a:t>Получить </a:t>
            </a:r>
            <a:r>
              <a:rPr lang="ru-RU" sz="1800" dirty="0"/>
              <a:t>исполняемый файл программы примера </a:t>
            </a:r>
            <a:r>
              <a:rPr lang="ru-RU" sz="1800" dirty="0" smtClean="0"/>
              <a:t>2.</a:t>
            </a:r>
            <a:endParaRPr lang="ru-RU" sz="1800" dirty="0"/>
          </a:p>
          <a:p>
            <a:endParaRPr lang="ru-RU" sz="1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669107" y="1534575"/>
            <a:ext cx="1826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b="1" i="1" dirty="0"/>
              <a:t>Ход работы</a:t>
            </a:r>
          </a:p>
        </p:txBody>
      </p:sp>
      <p:sp>
        <p:nvSpPr>
          <p:cNvPr id="24" name="Прямоугольник 23"/>
          <p:cNvSpPr/>
          <p:nvPr/>
        </p:nvSpPr>
        <p:spPr>
          <a:xfrm>
            <a:off x="439149" y="1798618"/>
            <a:ext cx="18260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065" indent="182880" algn="just">
              <a:spcAft>
                <a:spcPts val="0"/>
              </a:spcAft>
            </a:pPr>
            <a:r>
              <a:rPr lang="ru-RU" sz="2000" dirty="0" smtClean="0">
                <a:ea typeface="Times New Roman" panose="02020603050405020304" pitchFamily="18" charset="0"/>
              </a:rPr>
              <a:t>Г) </a:t>
            </a:r>
            <a:r>
              <a:rPr lang="en-US" sz="2000" dirty="0">
                <a:ea typeface="Times New Roman" panose="02020603050405020304" pitchFamily="18" charset="0"/>
              </a:rPr>
              <a:t>td </a:t>
            </a:r>
            <a:r>
              <a:rPr lang="en-US" sz="2000" dirty="0" err="1" smtClean="0">
                <a:ea typeface="Times New Roman" panose="02020603050405020304" pitchFamily="18" charset="0"/>
              </a:rPr>
              <a:t>prg</a:t>
            </a:r>
            <a:r>
              <a:rPr lang="ru-RU" sz="2000" dirty="0" smtClean="0">
                <a:ea typeface="Times New Roman" panose="02020603050405020304" pitchFamily="18" charset="0"/>
              </a:rPr>
              <a:t>2</a:t>
            </a:r>
            <a:r>
              <a:rPr lang="en-US" sz="2000" dirty="0" smtClean="0">
                <a:ea typeface="Times New Roman" panose="02020603050405020304" pitchFamily="18" charset="0"/>
              </a:rPr>
              <a:t>.exe</a:t>
            </a:r>
            <a:endParaRPr lang="ru-RU" sz="2000" dirty="0">
              <a:ea typeface="Times New Roman" panose="02020603050405020304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 rotWithShape="1">
          <a:blip r:embed="rId2"/>
          <a:srcRect t="79048" r="1381"/>
          <a:stretch/>
        </p:blipFill>
        <p:spPr bwMode="auto">
          <a:xfrm>
            <a:off x="755576" y="2266002"/>
            <a:ext cx="7920880" cy="19442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Рисунок 14"/>
          <p:cNvPicPr/>
          <p:nvPr/>
        </p:nvPicPr>
        <p:blipFill rotWithShape="1">
          <a:blip r:embed="rId3"/>
          <a:srcRect r="37947" b="53758"/>
          <a:stretch/>
        </p:blipFill>
        <p:spPr bwMode="auto">
          <a:xfrm>
            <a:off x="0" y="4216254"/>
            <a:ext cx="4335760" cy="25538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Рисунок 15"/>
          <p:cNvPicPr/>
          <p:nvPr/>
        </p:nvPicPr>
        <p:blipFill rotWithShape="1">
          <a:blip r:embed="rId4"/>
          <a:srcRect l="22129" t="7385" r="15653" b="35722"/>
          <a:stretch/>
        </p:blipFill>
        <p:spPr bwMode="auto">
          <a:xfrm>
            <a:off x="4891491" y="4068873"/>
            <a:ext cx="4152106" cy="27012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292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Ответьте на вопросы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981200"/>
            <a:ext cx="7342584" cy="4114800"/>
          </a:xfrm>
        </p:spPr>
        <p:txBody>
          <a:bodyPr/>
          <a:lstStyle/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1.	</a:t>
            </a:r>
            <a:r>
              <a:rPr lang="ru-RU" sz="2000" dirty="0" smtClean="0"/>
              <a:t>Что </a:t>
            </a:r>
            <a:r>
              <a:rPr lang="ru-RU" sz="2000" dirty="0"/>
              <a:t>обозначает </a:t>
            </a:r>
            <a:r>
              <a:rPr lang="ru-RU" sz="2000" dirty="0" smtClean="0"/>
              <a:t>директива</a:t>
            </a:r>
            <a:br>
              <a:rPr lang="ru-RU" sz="2000" dirty="0" smtClean="0"/>
            </a:br>
            <a:r>
              <a:rPr lang="ru-RU" sz="2000" dirty="0" smtClean="0">
                <a:solidFill>
                  <a:srgbClr val="0000FF"/>
                </a:solidFill>
              </a:rPr>
              <a:t> Р1 </a:t>
            </a:r>
            <a:r>
              <a:rPr lang="en-US" sz="2000" dirty="0" err="1" smtClean="0">
                <a:solidFill>
                  <a:srgbClr val="0000FF"/>
                </a:solidFill>
              </a:rPr>
              <a:t>db</a:t>
            </a:r>
            <a:r>
              <a:rPr lang="ru-RU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smtClean="0">
                <a:solidFill>
                  <a:srgbClr val="0000FF"/>
                </a:solidFill>
              </a:rPr>
              <a:t>0ffh</a:t>
            </a:r>
            <a:r>
              <a:rPr lang="ru-RU" sz="2000" dirty="0" smtClean="0"/>
              <a:t>?</a:t>
            </a:r>
            <a:endParaRPr lang="ru-RU" sz="2000" dirty="0"/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2.	</a:t>
            </a:r>
            <a:r>
              <a:rPr lang="ru-RU" sz="2000" dirty="0" smtClean="0"/>
              <a:t>Запишите директиву начала сегмента данных.</a:t>
            </a:r>
            <a:endParaRPr lang="ru-RU" sz="2000" dirty="0"/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3.	Что обозначает </a:t>
            </a:r>
            <a:r>
              <a:rPr lang="ru-RU" sz="2000" dirty="0" smtClean="0"/>
              <a:t>директива</a:t>
            </a:r>
            <a:br>
              <a:rPr lang="ru-RU" sz="2000" dirty="0" smtClean="0"/>
            </a:br>
            <a:r>
              <a:rPr lang="en-US" sz="2000" dirty="0" smtClean="0">
                <a:solidFill>
                  <a:srgbClr val="0000FF"/>
                </a:solidFill>
              </a:rPr>
              <a:t>.code</a:t>
            </a:r>
            <a:r>
              <a:rPr lang="ru-RU" sz="2000" dirty="0" smtClean="0">
                <a:solidFill>
                  <a:srgbClr val="0000FF"/>
                </a:solidFill>
              </a:rPr>
              <a:t> </a:t>
            </a:r>
            <a:r>
              <a:rPr lang="ru-RU" sz="2000" dirty="0" smtClean="0"/>
              <a:t>и с какой директивой она используется?</a:t>
            </a:r>
            <a:endParaRPr lang="ru-RU" sz="2000" dirty="0"/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4.	Назовите основные категории директив ассемблера</a:t>
            </a:r>
            <a:r>
              <a:rPr lang="ru-RU" sz="2000" dirty="0" smtClean="0"/>
              <a:t>. </a:t>
            </a:r>
            <a:endParaRPr lang="ru-RU" sz="2000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868597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Designs\Смесь.pot</Template>
  <TotalTime>1836</TotalTime>
  <Words>734</Words>
  <Application>Microsoft Office PowerPoint</Application>
  <PresentationFormat>Экран (4:3)</PresentationFormat>
  <Paragraphs>93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Оформление по умолчанию</vt:lpstr>
      <vt:lpstr>Дисциплина: МДК.01.04 Системное программирование    Практическая работа № 6  Тема: Резервирование и инициализация памяти   Цель: Научиться резервировать и инициализировать память под программы на ассемблере  </vt:lpstr>
      <vt:lpstr>Директивы в Ассемблере </vt:lpstr>
      <vt:lpstr>Презентация PowerPoint</vt:lpstr>
      <vt:lpstr>Директивы резервирования и  инициализации памяти</vt:lpstr>
      <vt:lpstr>Презентация PowerPoint</vt:lpstr>
      <vt:lpstr>Презентация PowerPoint</vt:lpstr>
      <vt:lpstr>Презентация PowerPoint</vt:lpstr>
      <vt:lpstr>Презентация PowerPoint</vt:lpstr>
      <vt:lpstr>Ответьте на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SuperUser</dc:creator>
  <cp:lastModifiedBy>Александр Галузин</cp:lastModifiedBy>
  <cp:revision>238</cp:revision>
  <dcterms:created xsi:type="dcterms:W3CDTF">1601-01-01T00:00:00Z</dcterms:created>
  <dcterms:modified xsi:type="dcterms:W3CDTF">2025-10-21T08:13:24Z</dcterms:modified>
</cp:coreProperties>
</file>